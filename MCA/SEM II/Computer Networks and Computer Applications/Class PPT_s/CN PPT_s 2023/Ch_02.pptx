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62"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y="6858000" cx="9144000"/>
  <p:notesSz cx="6858000" cy="9144000"/>
  <p:embeddedFontLst>
    <p:embeddedFont>
      <p:font typeface="Tahoma"/>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3" roundtripDataSignature="AMtx7mj5KgjIZc4OcPtS3tlUptBW5N7g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20" Type="http://schemas.openxmlformats.org/officeDocument/2006/relationships/slide" Target="slides/slide12.xml"/><Relationship Id="rId42" Type="http://schemas.openxmlformats.org/officeDocument/2006/relationships/font" Target="fonts/Tahoma-bold.fntdata"/><Relationship Id="rId41" Type="http://schemas.openxmlformats.org/officeDocument/2006/relationships/font" Target="fonts/Tahoma-regular.fntdata"/><Relationship Id="rId22" Type="http://schemas.openxmlformats.org/officeDocument/2006/relationships/slide" Target="slides/slide14.xml"/><Relationship Id="rId21" Type="http://schemas.openxmlformats.org/officeDocument/2006/relationships/slide" Target="slides/slide13.xml"/><Relationship Id="rId43" Type="http://customschemas.google.com/relationships/presentationmetadata" Target="metadata"/><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1" sz="32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7" name="Google Shape;11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7" name="Google Shape;12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41" name="Google Shape;14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56" name="Google Shape;15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72" name="Google Shape;17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82" name="Google Shape;18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7" name="Google Shape;19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06" name="Google Shape;20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b0791d65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b0791d65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26b0791d656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230" name="Google Shape;23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245" name="Google Shape;24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60" name="Google Shape;26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70" name="Google Shape;27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80" name="Google Shape;28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293" name="Google Shape;29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08" name="Google Shape;30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19" name="Google Shape;31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34" name="Google Shape;3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51" name="Google Shape;35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77" name="Google Shape;37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92" name="Google Shape;39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07" name="Google Shape;40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23" name="Google Shape;42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38" name="Google Shape;43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51" name="Google Shape;45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66" name="Google Shape;46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75" name="Google Shape;47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85" name="Google Shape;4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93" name="Google Shape;49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508" name="Google Shape;50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516" name="Google Shape;51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531" name="Google Shape;53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 name="Shape 11"/>
        <p:cNvGrpSpPr/>
        <p:nvPr/>
      </p:nvGrpSpPr>
      <p:grpSpPr>
        <a:xfrm>
          <a:off x="0" y="0"/>
          <a:ext cx="0" cy="0"/>
          <a:chOff x="0" y="0"/>
          <a:chExt cx="0" cy="0"/>
        </a:xfrm>
      </p:grpSpPr>
      <p:sp>
        <p:nvSpPr>
          <p:cNvPr id="12" name="Google Shape;12;p38"/>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3" name="Google Shape;13;p38"/>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 name="Shape 14"/>
        <p:cNvGrpSpPr/>
        <p:nvPr/>
      </p:nvGrpSpPr>
      <p:grpSpPr>
        <a:xfrm>
          <a:off x="0" y="0"/>
          <a:ext cx="0" cy="0"/>
          <a:chOff x="0" y="0"/>
          <a:chExt cx="0" cy="0"/>
        </a:xfrm>
      </p:grpSpPr>
      <p:sp>
        <p:nvSpPr>
          <p:cNvPr id="15" name="Google Shape;15;p39"/>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6" name="Google Shape;16;p39"/>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 name="Shape 17"/>
        <p:cNvGrpSpPr/>
        <p:nvPr/>
      </p:nvGrpSpPr>
      <p:grpSpPr>
        <a:xfrm>
          <a:off x="0" y="0"/>
          <a:ext cx="0" cy="0"/>
          <a:chOff x="0" y="0"/>
          <a:chExt cx="0" cy="0"/>
        </a:xfrm>
      </p:grpSpPr>
      <p:sp>
        <p:nvSpPr>
          <p:cNvPr id="18" name="Google Shape;18;p40"/>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9" name="Google Shape;19;p40"/>
          <p:cNvSpPr/>
          <p:nvPr>
            <p:ph idx="2" type="pic"/>
          </p:nvPr>
        </p:nvSpPr>
        <p:spPr>
          <a:xfrm>
            <a:off x="3887788" y="987425"/>
            <a:ext cx="4629150" cy="4873625"/>
          </a:xfrm>
          <a:prstGeom prst="rect">
            <a:avLst/>
          </a:prstGeom>
          <a:noFill/>
          <a:ln>
            <a:noFill/>
          </a:ln>
        </p:spPr>
      </p:sp>
      <p:sp>
        <p:nvSpPr>
          <p:cNvPr id="20" name="Google Shape;20;p40"/>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 name="Shape 21"/>
        <p:cNvGrpSpPr/>
        <p:nvPr/>
      </p:nvGrpSpPr>
      <p:grpSpPr>
        <a:xfrm>
          <a:off x="0" y="0"/>
          <a:ext cx="0" cy="0"/>
          <a:chOff x="0" y="0"/>
          <a:chExt cx="0" cy="0"/>
        </a:xfrm>
      </p:grpSpPr>
      <p:sp>
        <p:nvSpPr>
          <p:cNvPr id="22" name="Google Shape;22;p41"/>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3" name="Google Shape;23;p41"/>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24" name="Google Shape;24;p41"/>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2"/>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43"/>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9" name="Google Shape;29;p43"/>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30" name="Google Shape;30;p43"/>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1" name="Google Shape;31;p43"/>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32" name="Google Shape;32;p43"/>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4"/>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5" name="Google Shape;35;p44"/>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6" name="Google Shape;36;p44"/>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45"/>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9" name="Google Shape;39;p45"/>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46"/>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2" name="Google Shape;42;p4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47"/>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6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5" name="Google Shape;45;p4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lvl="1" marR="0" rtl="0" algn="ctr">
              <a:lnSpc>
                <a:spcPct val="100000"/>
              </a:lnSpc>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lvl="2" marR="0" rtl="0" algn="ctr">
              <a:lnSpc>
                <a:spcPct val="100000"/>
              </a:lnSpc>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lvl="3" marR="0" rtl="0" algn="ctr">
              <a:lnSpc>
                <a:spcPct val="100000"/>
              </a:lnSpc>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lvl="4" marR="0" rtl="0" algn="ctr">
              <a:lnSpc>
                <a:spcPct val="100000"/>
              </a:lnSpc>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2" name="Shape 52"/>
        <p:cNvGrpSpPr/>
        <p:nvPr/>
      </p:nvGrpSpPr>
      <p:grpSpPr>
        <a:xfrm>
          <a:off x="0" y="0"/>
          <a:ext cx="0" cy="0"/>
          <a:chOff x="0" y="0"/>
          <a:chExt cx="0" cy="0"/>
        </a:xfrm>
      </p:grpSpPr>
      <p:sp>
        <p:nvSpPr>
          <p:cNvPr id="53" name="Google Shape;53;p48"/>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4" name="Google Shape;54;p4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5" name="Google Shape;55;p4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 name="Shape 56"/>
        <p:cNvGrpSpPr/>
        <p:nvPr/>
      </p:nvGrpSpPr>
      <p:grpSpPr>
        <a:xfrm>
          <a:off x="0" y="0"/>
          <a:ext cx="0" cy="0"/>
          <a:chOff x="0" y="0"/>
          <a:chExt cx="0" cy="0"/>
        </a:xfrm>
      </p:grpSpPr>
      <p:sp>
        <p:nvSpPr>
          <p:cNvPr id="57" name="Google Shape;57;p4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8" name="Google Shape;58;p4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9" name="Google Shape;59;p4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5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62" name="Google Shape;62;p50"/>
          <p:cNvSpPr/>
          <p:nvPr>
            <p:ph idx="2" type="pic"/>
          </p:nvPr>
        </p:nvSpPr>
        <p:spPr>
          <a:xfrm>
            <a:off x="1792288" y="612775"/>
            <a:ext cx="5486400" cy="4114800"/>
          </a:xfrm>
          <a:prstGeom prst="rect">
            <a:avLst/>
          </a:prstGeom>
          <a:noFill/>
          <a:ln>
            <a:noFill/>
          </a:ln>
        </p:spPr>
      </p:sp>
      <p:sp>
        <p:nvSpPr>
          <p:cNvPr id="63" name="Google Shape;63;p5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lnSpc>
                <a:spcPct val="100000"/>
              </a:lnSpc>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lnSpc>
                <a:spcPct val="100000"/>
              </a:lnSpc>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lnSpc>
                <a:spcPct val="100000"/>
              </a:lnSpc>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64" name="Google Shape;64;p5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5" name="Shape 65"/>
        <p:cNvGrpSpPr/>
        <p:nvPr/>
      </p:nvGrpSpPr>
      <p:grpSpPr>
        <a:xfrm>
          <a:off x="0" y="0"/>
          <a:ext cx="0" cy="0"/>
          <a:chOff x="0" y="0"/>
          <a:chExt cx="0" cy="0"/>
        </a:xfrm>
      </p:grpSpPr>
      <p:sp>
        <p:nvSpPr>
          <p:cNvPr id="66" name="Google Shape;66;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67" name="Google Shape;67;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lnSpc>
                <a:spcPct val="100000"/>
              </a:lnSpc>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lnSpc>
                <a:spcPct val="100000"/>
              </a:lnSpc>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lnSpc>
                <a:spcPct val="100000"/>
              </a:lnSpc>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lnSpc>
                <a:spcPct val="100000"/>
              </a:lnSpc>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68" name="Google Shape;68;p5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69" name="Google Shape;69;p5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5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72" name="Google Shape;72;p5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3" name="Shape 73"/>
        <p:cNvGrpSpPr/>
        <p:nvPr/>
      </p:nvGrpSpPr>
      <p:grpSpPr>
        <a:xfrm>
          <a:off x="0" y="0"/>
          <a:ext cx="0" cy="0"/>
          <a:chOff x="0" y="0"/>
          <a:chExt cx="0" cy="0"/>
        </a:xfrm>
      </p:grpSpPr>
      <p:sp>
        <p:nvSpPr>
          <p:cNvPr id="74" name="Google Shape;74;p5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75" name="Google Shape;75;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76" name="Google Shape;76;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marR="0" rtl="0" algn="l">
              <a:lnSpc>
                <a:spcPct val="100000"/>
              </a:lnSpc>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lnSpc>
                <a:spcPct val="100000"/>
              </a:lnSpc>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lnSpc>
                <a:spcPct val="100000"/>
              </a:lnSpc>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lnSpc>
                <a:spcPct val="100000"/>
              </a:lnSpc>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77" name="Google Shape;77;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78" name="Google Shape;78;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marR="0" rtl="0" algn="l">
              <a:lnSpc>
                <a:spcPct val="100000"/>
              </a:lnSpc>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lnSpc>
                <a:spcPct val="100000"/>
              </a:lnSpc>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lnSpc>
                <a:spcPct val="100000"/>
              </a:lnSpc>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lnSpc>
                <a:spcPct val="100000"/>
              </a:lnSpc>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lnSpc>
                <a:spcPct val="100000"/>
              </a:lnSpc>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79" name="Google Shape;79;p5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5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82" name="Google Shape;82;p5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lnSpc>
                <a:spcPct val="100000"/>
              </a:lnSpc>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lnSpc>
                <a:spcPct val="100000"/>
              </a:lnSpc>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lnSpc>
                <a:spcPct val="100000"/>
              </a:lnSpc>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lnSpc>
                <a:spcPct val="100000"/>
              </a:lnSpc>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83" name="Google Shape;83;p5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lnSpc>
                <a:spcPct val="100000"/>
              </a:lnSpc>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lnSpc>
                <a:spcPct val="100000"/>
              </a:lnSpc>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lnSpc>
                <a:spcPct val="100000"/>
              </a:lnSpc>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lnSpc>
                <a:spcPct val="100000"/>
              </a:lnSpc>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lnSpc>
                <a:spcPct val="100000"/>
              </a:lnSpc>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84" name="Google Shape;84;p5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5" name="Shape 85"/>
        <p:cNvGrpSpPr/>
        <p:nvPr/>
      </p:nvGrpSpPr>
      <p:grpSpPr>
        <a:xfrm>
          <a:off x="0" y="0"/>
          <a:ext cx="0" cy="0"/>
          <a:chOff x="0" y="0"/>
          <a:chExt cx="0" cy="0"/>
        </a:xfrm>
      </p:grpSpPr>
      <p:sp>
        <p:nvSpPr>
          <p:cNvPr id="86" name="Google Shape;86;p5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87" name="Google Shape;87;p5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00"/>
              </a:spcBef>
              <a:spcAft>
                <a:spcPts val="0"/>
              </a:spcAft>
              <a:buClr>
                <a:schemeClr val="folHlink"/>
              </a:buClr>
              <a:buSzPts val="1200"/>
              <a:buFont typeface="Noto Sans Symbols"/>
              <a:buNone/>
              <a:defRPr b="0" i="0" sz="2000" u="none" cap="none" strike="noStrike">
                <a:solidFill>
                  <a:schemeClr val="dk1"/>
                </a:solidFill>
                <a:latin typeface="Tahoma"/>
                <a:ea typeface="Tahoma"/>
                <a:cs typeface="Tahoma"/>
                <a:sym typeface="Tahoma"/>
              </a:defRPr>
            </a:lvl1pPr>
            <a:lvl2pPr indent="-228600" lvl="1" marL="914400" marR="0" rtl="0" algn="l">
              <a:lnSpc>
                <a:spcPct val="100000"/>
              </a:lnSpc>
              <a:spcBef>
                <a:spcPts val="360"/>
              </a:spcBef>
              <a:spcAft>
                <a:spcPts val="0"/>
              </a:spcAft>
              <a:buClr>
                <a:schemeClr val="hlink"/>
              </a:buClr>
              <a:buSzPts val="990"/>
              <a:buFont typeface="Noto Sans Symbols"/>
              <a:buNone/>
              <a:defRPr b="0" i="0" sz="1800" u="none" cap="none" strike="noStrike">
                <a:solidFill>
                  <a:schemeClr val="dk1"/>
                </a:solidFill>
                <a:latin typeface="Tahoma"/>
                <a:ea typeface="Tahoma"/>
                <a:cs typeface="Tahoma"/>
                <a:sym typeface="Tahoma"/>
              </a:defRPr>
            </a:lvl2pPr>
            <a:lvl3pPr indent="-228600" lvl="2" marL="1371600" marR="0" rtl="0" algn="l">
              <a:lnSpc>
                <a:spcPct val="100000"/>
              </a:lnSpc>
              <a:spcBef>
                <a:spcPts val="320"/>
              </a:spcBef>
              <a:spcAft>
                <a:spcPts val="0"/>
              </a:spcAft>
              <a:buClr>
                <a:schemeClr val="folHlink"/>
              </a:buClr>
              <a:buSzPts val="800"/>
              <a:buFont typeface="Noto Sans Symbols"/>
              <a:buNone/>
              <a:defRPr b="0" i="0" sz="1600" u="none" cap="none" strike="noStrike">
                <a:solidFill>
                  <a:schemeClr val="dk1"/>
                </a:solidFill>
                <a:latin typeface="Tahoma"/>
                <a:ea typeface="Tahoma"/>
                <a:cs typeface="Tahoma"/>
                <a:sym typeface="Tahoma"/>
              </a:defRPr>
            </a:lvl3pPr>
            <a:lvl4pPr indent="-228600" lvl="3" marL="1828800" marR="0" rtl="0" algn="l">
              <a:lnSpc>
                <a:spcPct val="100000"/>
              </a:lnSpc>
              <a:spcBef>
                <a:spcPts val="280"/>
              </a:spcBef>
              <a:spcAft>
                <a:spcPts val="0"/>
              </a:spcAft>
              <a:buClr>
                <a:schemeClr val="accent2"/>
              </a:buClr>
              <a:buSzPts val="770"/>
              <a:buFont typeface="Noto Sans Symbols"/>
              <a:buNone/>
              <a:defRPr b="0" i="0" sz="1400" u="none" cap="none" strike="noStrike">
                <a:solidFill>
                  <a:schemeClr val="dk1"/>
                </a:solidFill>
                <a:latin typeface="Tahoma"/>
                <a:ea typeface="Tahoma"/>
                <a:cs typeface="Tahoma"/>
                <a:sym typeface="Tahoma"/>
              </a:defRPr>
            </a:lvl4pPr>
            <a:lvl5pPr indent="-228600" lvl="4" marL="2286000" marR="0" rtl="0" algn="l">
              <a:lnSpc>
                <a:spcPct val="100000"/>
              </a:lnSpc>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5pPr>
            <a:lvl6pPr indent="-228600" lvl="5" marL="2743200" marR="0" rtl="0" algn="l">
              <a:lnSpc>
                <a:spcPct val="100000"/>
              </a:lnSpc>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6pPr>
            <a:lvl7pPr indent="-228600" lvl="6" marL="3200400" marR="0" rtl="0" algn="l">
              <a:lnSpc>
                <a:spcPct val="100000"/>
              </a:lnSpc>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7pPr>
            <a:lvl8pPr indent="-228600" lvl="7" marL="3657600" marR="0" rtl="0" algn="l">
              <a:lnSpc>
                <a:spcPct val="100000"/>
              </a:lnSpc>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8pPr>
            <a:lvl9pPr indent="-228600" lvl="8" marL="4114800" marR="0" rtl="0" algn="l">
              <a:lnSpc>
                <a:spcPct val="100000"/>
              </a:lnSpc>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9pPr>
          </a:lstStyle>
          <a:p/>
        </p:txBody>
      </p:sp>
      <p:sp>
        <p:nvSpPr>
          <p:cNvPr id="88" name="Google Shape;88;p5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9" name="Shape 89"/>
        <p:cNvGrpSpPr/>
        <p:nvPr/>
      </p:nvGrpSpPr>
      <p:grpSpPr>
        <a:xfrm>
          <a:off x="0" y="0"/>
          <a:ext cx="0" cy="0"/>
          <a:chOff x="0" y="0"/>
          <a:chExt cx="0" cy="0"/>
        </a:xfrm>
      </p:grpSpPr>
      <p:sp>
        <p:nvSpPr>
          <p:cNvPr id="90" name="Google Shape;90;p5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91" name="Google Shape;91;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92" name="Google Shape;92;p5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9" name="Shape 109"/>
        <p:cNvGrpSpPr/>
        <p:nvPr/>
      </p:nvGrpSpPr>
      <p:grpSpPr>
        <a:xfrm>
          <a:off x="0" y="0"/>
          <a:ext cx="0" cy="0"/>
          <a:chOff x="0" y="0"/>
          <a:chExt cx="0" cy="0"/>
        </a:xfrm>
      </p:grpSpPr>
      <p:sp>
        <p:nvSpPr>
          <p:cNvPr id="110" name="Google Shape;110;p58"/>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11" name="Google Shape;111;p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lvl="6"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lvl="7"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lvl="8"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12" name="Google Shape;112;p58"/>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0" i="0" sz="1400">
                <a:solidFill>
                  <a:schemeClr val="lt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8"/>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8"/>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11" Type="http://schemas.openxmlformats.org/officeDocument/2006/relationships/theme" Target="../theme/theme3.xml"/><Relationship Id="rId10" Type="http://schemas.openxmlformats.org/officeDocument/2006/relationships/slideLayout" Target="../slideLayouts/slideLayout22.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 name="Shape 48"/>
        <p:cNvGrpSpPr/>
        <p:nvPr/>
      </p:nvGrpSpPr>
      <p:grpSpPr>
        <a:xfrm>
          <a:off x="0" y="0"/>
          <a:ext cx="0" cy="0"/>
          <a:chOff x="0" y="0"/>
          <a:chExt cx="0" cy="0"/>
        </a:xfrm>
      </p:grpSpPr>
      <p:sp>
        <p:nvSpPr>
          <p:cNvPr id="49" name="Google Shape;49;p3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2.</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grpSp>
        <p:nvGrpSpPr>
          <p:cNvPr id="94" name="Google Shape;94;p57"/>
          <p:cNvGrpSpPr/>
          <p:nvPr/>
        </p:nvGrpSpPr>
        <p:grpSpPr>
          <a:xfrm>
            <a:off x="0" y="2438400"/>
            <a:ext cx="9009062" cy="1052512"/>
            <a:chOff x="0" y="1536"/>
            <a:chExt cx="5675" cy="663"/>
          </a:xfrm>
        </p:grpSpPr>
        <p:grpSp>
          <p:nvGrpSpPr>
            <p:cNvPr id="95" name="Google Shape;95;p57"/>
            <p:cNvGrpSpPr/>
            <p:nvPr/>
          </p:nvGrpSpPr>
          <p:grpSpPr>
            <a:xfrm>
              <a:off x="185" y="1604"/>
              <a:ext cx="449" cy="299"/>
              <a:chOff x="720" y="336"/>
              <a:chExt cx="624" cy="432"/>
            </a:xfrm>
          </p:grpSpPr>
          <p:sp>
            <p:nvSpPr>
              <p:cNvPr id="96" name="Google Shape;96;p57"/>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97" name="Google Shape;97;p57"/>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grpSp>
        <p:grpSp>
          <p:nvGrpSpPr>
            <p:cNvPr id="98" name="Google Shape;98;p57"/>
            <p:cNvGrpSpPr/>
            <p:nvPr/>
          </p:nvGrpSpPr>
          <p:grpSpPr>
            <a:xfrm>
              <a:off x="263" y="1870"/>
              <a:ext cx="466" cy="299"/>
              <a:chOff x="912" y="2640"/>
              <a:chExt cx="672" cy="432"/>
            </a:xfrm>
          </p:grpSpPr>
          <p:sp>
            <p:nvSpPr>
              <p:cNvPr id="99" name="Google Shape;99;p57"/>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00" name="Google Shape;100;p57"/>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grpSp>
        <p:sp>
          <p:nvSpPr>
            <p:cNvPr id="101" name="Google Shape;101;p57"/>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02" name="Google Shape;102;p57"/>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03" name="Google Shape;103;p57"/>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grpSp>
      <p:sp>
        <p:nvSpPr>
          <p:cNvPr id="104" name="Google Shape;104;p57"/>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McGraw-Hill</a:t>
            </a:r>
            <a:endParaRPr b="0" i="0" sz="1400" u="none" cap="none" strike="noStrike">
              <a:solidFill>
                <a:srgbClr val="000000"/>
              </a:solidFill>
              <a:latin typeface="Arial"/>
              <a:ea typeface="Arial"/>
              <a:cs typeface="Arial"/>
              <a:sym typeface="Arial"/>
            </a:endParaRPr>
          </a:p>
        </p:txBody>
      </p:sp>
      <p:sp>
        <p:nvSpPr>
          <p:cNvPr id="105" name="Google Shape;105;p57"/>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McGraw-Hill Companies, Inc., 2000</a:t>
            </a:r>
            <a:endParaRPr b="0" i="0" sz="1400" u="none" cap="none" strike="noStrike">
              <a:solidFill>
                <a:srgbClr val="000000"/>
              </a:solidFill>
              <a:latin typeface="Arial"/>
              <a:ea typeface="Arial"/>
              <a:cs typeface="Arial"/>
              <a:sym typeface="Arial"/>
            </a:endParaRPr>
          </a:p>
        </p:txBody>
      </p:sp>
      <p:sp>
        <p:nvSpPr>
          <p:cNvPr id="106" name="Google Shape;106;p57"/>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lt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9pPr>
          </a:lstStyle>
          <a:p/>
        </p:txBody>
      </p:sp>
      <p:sp>
        <p:nvSpPr>
          <p:cNvPr id="107" name="Google Shape;107;p57"/>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1" sz="3200" u="none" cap="none" strike="noStrike">
                <a:solidFill>
                  <a:schemeClr val="dk1"/>
                </a:solidFill>
                <a:latin typeface="Arial"/>
                <a:ea typeface="Arial"/>
                <a:cs typeface="Arial"/>
                <a:sym typeface="Arial"/>
              </a:defRPr>
            </a:lvl9pPr>
          </a:lstStyle>
          <a:p/>
        </p:txBody>
      </p:sp>
      <p:sp>
        <p:nvSpPr>
          <p:cNvPr id="108" name="Google Shape;108;p57"/>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5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10.png"/><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1.png"/><Relationship Id="rId7" Type="http://schemas.openxmlformats.org/officeDocument/2006/relationships/image" Target="../media/image4.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39.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14.png"/><Relationship Id="rId8"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image" Target="../media/image17.png"/><Relationship Id="rId6"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24.png"/><Relationship Id="rId5" Type="http://schemas.openxmlformats.org/officeDocument/2006/relationships/image" Target="../media/image33.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5.png"/><Relationship Id="rId4" Type="http://schemas.openxmlformats.org/officeDocument/2006/relationships/image" Target="../media/image30.png"/><Relationship Id="rId5" Type="http://schemas.openxmlformats.org/officeDocument/2006/relationships/image" Target="../media/image37.png"/><Relationship Id="rId6" Type="http://schemas.openxmlformats.org/officeDocument/2006/relationships/image" Target="../media/image64.png"/><Relationship Id="rId7"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46.png"/><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52.png"/><Relationship Id="rId9" Type="http://schemas.openxmlformats.org/officeDocument/2006/relationships/image" Target="../media/image62.png"/><Relationship Id="rId5" Type="http://schemas.openxmlformats.org/officeDocument/2006/relationships/image" Target="../media/image42.png"/><Relationship Id="rId6" Type="http://schemas.openxmlformats.org/officeDocument/2006/relationships/image" Target="../media/image47.png"/><Relationship Id="rId7" Type="http://schemas.openxmlformats.org/officeDocument/2006/relationships/image" Target="../media/image55.png"/><Relationship Id="rId8"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1.png"/><Relationship Id="rId4" Type="http://schemas.openxmlformats.org/officeDocument/2006/relationships/image" Target="../media/image61.png"/><Relationship Id="rId5" Type="http://schemas.openxmlformats.org/officeDocument/2006/relationships/image" Target="../media/image58.png"/><Relationship Id="rId6" Type="http://schemas.openxmlformats.org/officeDocument/2006/relationships/image" Target="../media/image56.png"/><Relationship Id="rId7" Type="http://schemas.openxmlformats.org/officeDocument/2006/relationships/image" Target="../media/image65.png"/><Relationship Id="rId8"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60.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6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brandinglogo" id="120" name="Google Shape;120;p1"/>
          <p:cNvPicPr preferRelativeResize="0"/>
          <p:nvPr/>
        </p:nvPicPr>
        <p:blipFill rotWithShape="1">
          <a:blip r:embed="rId3">
            <a:alphaModFix/>
          </a:blip>
          <a:srcRect b="0" l="0" r="0" t="0"/>
          <a:stretch/>
        </p:blipFill>
        <p:spPr>
          <a:xfrm>
            <a:off x="0" y="0"/>
            <a:ext cx="9144000" cy="533400"/>
          </a:xfrm>
          <a:prstGeom prst="rect">
            <a:avLst/>
          </a:prstGeom>
          <a:noFill/>
          <a:ln>
            <a:noFill/>
          </a:ln>
        </p:spPr>
      </p:pic>
      <p:sp>
        <p:nvSpPr>
          <p:cNvPr id="121" name="Google Shape;121;p1"/>
          <p:cNvSpPr txBox="1"/>
          <p:nvPr/>
        </p:nvSpPr>
        <p:spPr>
          <a:xfrm>
            <a:off x="187325" y="1524000"/>
            <a:ext cx="4156075"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4800"/>
              <a:buFont typeface="Times"/>
              <a:buNone/>
            </a:pPr>
            <a:r>
              <a:rPr b="1" i="1" lang="en-US" sz="4800" u="none" cap="none" strike="noStrike">
                <a:solidFill>
                  <a:srgbClr val="FF0000"/>
                </a:solidFill>
                <a:latin typeface="Times"/>
                <a:ea typeface="Times"/>
                <a:cs typeface="Times"/>
                <a:sym typeface="Times"/>
              </a:rPr>
              <a:t>Chapter 2</a:t>
            </a:r>
            <a:endParaRPr b="0" i="0" sz="1400" u="none" cap="none" strike="noStrike">
              <a:solidFill>
                <a:srgbClr val="000000"/>
              </a:solidFill>
              <a:latin typeface="Arial"/>
              <a:ea typeface="Arial"/>
              <a:cs typeface="Arial"/>
              <a:sym typeface="Arial"/>
            </a:endParaRPr>
          </a:p>
        </p:txBody>
      </p:sp>
      <p:sp>
        <p:nvSpPr>
          <p:cNvPr id="122" name="Google Shape;122;p1"/>
          <p:cNvSpPr txBox="1"/>
          <p:nvPr/>
        </p:nvSpPr>
        <p:spPr>
          <a:xfrm>
            <a:off x="152400" y="3048000"/>
            <a:ext cx="4156075" cy="15700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Times"/>
              <a:buNone/>
            </a:pPr>
            <a:r>
              <a:rPr b="1" i="1" lang="en-US" sz="4800" u="none" cap="none" strike="noStrike">
                <a:solidFill>
                  <a:schemeClr val="dk1"/>
                </a:solidFill>
                <a:latin typeface="Times"/>
                <a:ea typeface="Times"/>
                <a:cs typeface="Times"/>
                <a:sym typeface="Times"/>
              </a:rPr>
              <a:t>Network</a:t>
            </a:r>
            <a:br>
              <a:rPr b="1" i="1" lang="en-US" sz="4800" u="none" cap="none" strike="noStrike">
                <a:solidFill>
                  <a:schemeClr val="dk1"/>
                </a:solidFill>
                <a:latin typeface="Times"/>
                <a:ea typeface="Times"/>
                <a:cs typeface="Times"/>
                <a:sym typeface="Times"/>
              </a:rPr>
            </a:br>
            <a:r>
              <a:rPr b="1" i="1" lang="en-US" sz="4800" u="none" cap="none" strike="noStrike">
                <a:solidFill>
                  <a:schemeClr val="dk1"/>
                </a:solidFill>
                <a:latin typeface="Times"/>
                <a:ea typeface="Times"/>
                <a:cs typeface="Times"/>
                <a:sym typeface="Times"/>
              </a:rPr>
              <a:t>Models</a:t>
            </a:r>
            <a:endParaRPr b="0" i="0" sz="1400" u="none" cap="none" strike="noStrike">
              <a:solidFill>
                <a:srgbClr val="000000"/>
              </a:solidFill>
              <a:latin typeface="Arial"/>
              <a:ea typeface="Arial"/>
              <a:cs typeface="Arial"/>
              <a:sym typeface="Arial"/>
            </a:endParaRPr>
          </a:p>
        </p:txBody>
      </p:sp>
      <p:pic>
        <p:nvPicPr>
          <p:cNvPr id="123" name="Google Shape;123;p1"/>
          <p:cNvPicPr preferRelativeResize="0"/>
          <p:nvPr/>
        </p:nvPicPr>
        <p:blipFill rotWithShape="1">
          <a:blip r:embed="rId4">
            <a:alphaModFix/>
          </a:blip>
          <a:srcRect b="0" l="0" r="0" t="0"/>
          <a:stretch/>
        </p:blipFill>
        <p:spPr>
          <a:xfrm>
            <a:off x="4419600" y="762000"/>
            <a:ext cx="4470400" cy="5765800"/>
          </a:xfrm>
          <a:prstGeom prst="rect">
            <a:avLst/>
          </a:prstGeom>
          <a:noFill/>
          <a:ln>
            <a:noFill/>
          </a:ln>
        </p:spPr>
      </p:pic>
      <p:sp>
        <p:nvSpPr>
          <p:cNvPr id="124" name="Google Shape;124;p1"/>
          <p:cNvSpPr txBox="1"/>
          <p:nvPr/>
        </p:nvSpPr>
        <p:spPr>
          <a:xfrm>
            <a:off x="0" y="6604000"/>
            <a:ext cx="9144000" cy="254000"/>
          </a:xfrm>
          <a:prstGeom prst="rect">
            <a:avLst/>
          </a:prstGeom>
          <a:noFill/>
          <a:ln>
            <a:noFill/>
          </a:ln>
        </p:spPr>
        <p:txBody>
          <a:bodyPr anchorCtr="0" anchor="t" bIns="51400" lIns="102825" spcFirstLastPara="1" rIns="102825" wrap="square" tIns="514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The McGraw-Hill Companies, Inc. Permission required for reproduction or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1" name="Google Shape;131;p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2" name="Google Shape;132;p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3" name="Google Shape;133;p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4" name="Google Shape;134;p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5" name="Google Shape;135;p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6" name="Google Shape;136;p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37" name="Google Shape;137;p2"/>
          <p:cNvSpPr txBox="1"/>
          <p:nvPr/>
        </p:nvSpPr>
        <p:spPr>
          <a:xfrm>
            <a:off x="1066800" y="-76200"/>
            <a:ext cx="418623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cap="none" strike="noStrike">
                <a:solidFill>
                  <a:srgbClr val="FF0000"/>
                </a:solidFill>
                <a:latin typeface="Arial"/>
                <a:ea typeface="Arial"/>
                <a:cs typeface="Arial"/>
                <a:sym typeface="Arial"/>
              </a:rPr>
              <a:t>Chapter 2: Outline</a:t>
            </a:r>
            <a:endParaRPr b="0" i="0" sz="1400" u="none" cap="none" strike="noStrike">
              <a:solidFill>
                <a:srgbClr val="000000"/>
              </a:solidFill>
              <a:latin typeface="Arial"/>
              <a:ea typeface="Arial"/>
              <a:cs typeface="Arial"/>
              <a:sym typeface="Arial"/>
            </a:endParaRPr>
          </a:p>
        </p:txBody>
      </p:sp>
      <p:sp>
        <p:nvSpPr>
          <p:cNvPr id="138" name="Google Shape;138;p2"/>
          <p:cNvSpPr txBox="1"/>
          <p:nvPr/>
        </p:nvSpPr>
        <p:spPr>
          <a:xfrm>
            <a:off x="152400" y="1447800"/>
            <a:ext cx="8458200" cy="4038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FF0000"/>
              </a:buClr>
              <a:buSzPts val="4000"/>
              <a:buFont typeface="Times"/>
              <a:buNone/>
            </a:pPr>
            <a:r>
              <a:rPr b="1" i="1" lang="en-US" sz="4000" u="none" cap="none" strike="noStrike">
                <a:solidFill>
                  <a:srgbClr val="FF0000"/>
                </a:solidFill>
                <a:latin typeface="Times"/>
                <a:ea typeface="Times"/>
                <a:cs typeface="Times"/>
                <a:sym typeface="Times"/>
              </a:rPr>
              <a:t>  2.1   </a:t>
            </a:r>
            <a:r>
              <a:rPr b="1" i="1" lang="en-US" sz="4000" u="none" cap="none" strike="noStrike">
                <a:solidFill>
                  <a:schemeClr val="dk2"/>
                </a:solidFill>
                <a:latin typeface="Times"/>
                <a:ea typeface="Times"/>
                <a:cs typeface="Times"/>
                <a:sym typeface="Times"/>
              </a:rPr>
              <a:t>Protocol Layering</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FF0000"/>
              </a:buClr>
              <a:buSzPts val="4000"/>
              <a:buFont typeface="Times"/>
              <a:buNone/>
            </a:pPr>
            <a:r>
              <a:rPr b="1" i="1" lang="en-US" sz="4000" u="none" cap="none" strike="noStrike">
                <a:solidFill>
                  <a:srgbClr val="FF0000"/>
                </a:solidFill>
                <a:latin typeface="Times"/>
                <a:ea typeface="Times"/>
                <a:cs typeface="Times"/>
                <a:sym typeface="Times"/>
              </a:rPr>
              <a:t>  2.2   </a:t>
            </a:r>
            <a:r>
              <a:rPr b="1" i="1" lang="en-US" sz="4000" u="none" cap="none" strike="noStrike">
                <a:solidFill>
                  <a:schemeClr val="dk2"/>
                </a:solidFill>
                <a:latin typeface="Times"/>
                <a:ea typeface="Times"/>
                <a:cs typeface="Times"/>
                <a:sym typeface="Times"/>
              </a:rPr>
              <a:t>TCP/IP Protocol Suite</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FF0000"/>
              </a:buClr>
              <a:buSzPts val="4000"/>
              <a:buFont typeface="Times"/>
              <a:buNone/>
            </a:pPr>
            <a:r>
              <a:rPr b="1" i="1" lang="en-US" sz="4000" u="none" cap="none" strike="noStrike">
                <a:solidFill>
                  <a:srgbClr val="FF0000"/>
                </a:solidFill>
                <a:latin typeface="Times"/>
                <a:ea typeface="Times"/>
                <a:cs typeface="Times"/>
                <a:sym typeface="Times"/>
              </a:rPr>
              <a:t>  2.3   </a:t>
            </a:r>
            <a:r>
              <a:rPr b="1" i="1" lang="en-US" sz="4000" u="none" cap="none" strike="noStrike">
                <a:solidFill>
                  <a:schemeClr val="dk2"/>
                </a:solidFill>
                <a:latin typeface="Times"/>
                <a:ea typeface="Times"/>
                <a:cs typeface="Times"/>
                <a:sym typeface="Times"/>
              </a:rPr>
              <a:t>OSI Model</a:t>
            </a:r>
            <a:endParaRPr b="1" i="1" sz="2400" u="none" cap="none" strike="noStrike">
              <a:solidFill>
                <a:srgbClr val="FF0000"/>
              </a:solidFill>
              <a:latin typeface="Times"/>
              <a:ea typeface="Times"/>
              <a:cs typeface="Times"/>
              <a:sym typeface="Times"/>
            </a:endParaRPr>
          </a:p>
          <a:p>
            <a:pPr indent="0" lvl="0" marL="0" marR="0" rtl="0" algn="just">
              <a:lnSpc>
                <a:spcPct val="150000"/>
              </a:lnSpc>
              <a:spcBef>
                <a:spcPts val="1200"/>
              </a:spcBef>
              <a:spcAft>
                <a:spcPts val="0"/>
              </a:spcAft>
              <a:buClr>
                <a:srgbClr val="FF0000"/>
              </a:buClr>
              <a:buSzPts val="2400"/>
              <a:buFont typeface="Palatino"/>
              <a:buNone/>
            </a:pPr>
            <a:br>
              <a:rPr b="1" i="0" lang="en-US" sz="2400" u="none" cap="none" strike="noStrike">
                <a:solidFill>
                  <a:srgbClr val="FF0000"/>
                </a:solidFill>
                <a:latin typeface="Palatino"/>
                <a:ea typeface="Palatino"/>
                <a:cs typeface="Palatino"/>
                <a:sym typeface="Palatino"/>
              </a:rPr>
            </a:b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Effect filter="fade" transition="in">
                                      <p:cBhvr>
                                        <p:cTn dur="500"/>
                                        <p:tgtEl>
                                          <p:spTgt spid="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animEffect filter="fade" transition="in">
                                      <p:cBhvr>
                                        <p:cTn dur="500"/>
                                        <p:tgtEl>
                                          <p:spTgt spid="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animEffect filter="fade" transition="in">
                                      <p:cBhvr>
                                        <p:cTn dur="500"/>
                                        <p:tgtEl>
                                          <p:spTgt spid="1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animEffect filter="fade" transition="in">
                                      <p:cBhvr>
                                        <p:cTn dur="500"/>
                                        <p:tgtEl>
                                          <p:spTgt spid="13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 name="Shape 143"/>
        <p:cNvGrpSpPr/>
        <p:nvPr/>
      </p:nvGrpSpPr>
      <p:grpSpPr>
        <a:xfrm>
          <a:off x="0" y="0"/>
          <a:ext cx="0" cy="0"/>
          <a:chOff x="0" y="0"/>
          <a:chExt cx="0" cy="0"/>
        </a:xfrm>
      </p:grpSpPr>
      <p:sp>
        <p:nvSpPr>
          <p:cNvPr id="144" name="Google Shape;144;p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45" name="Google Shape;145;p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46" name="Google Shape;146;p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47" name="Google Shape;147;p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48" name="Google Shape;148;p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49" name="Google Shape;149;p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50" name="Google Shape;150;p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51" name="Google Shape;151;p3"/>
          <p:cNvSpPr txBox="1"/>
          <p:nvPr/>
        </p:nvSpPr>
        <p:spPr>
          <a:xfrm>
            <a:off x="1066800" y="-76200"/>
            <a:ext cx="46736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cap="none" strike="noStrike">
                <a:solidFill>
                  <a:srgbClr val="FF0000"/>
                </a:solidFill>
                <a:latin typeface="Arial"/>
                <a:ea typeface="Arial"/>
                <a:cs typeface="Arial"/>
                <a:sym typeface="Arial"/>
              </a:rPr>
              <a:t>Chapter 2: Objective</a:t>
            </a:r>
            <a:endParaRPr b="0" i="0" sz="1400" u="none" cap="none" strike="noStrike">
              <a:solidFill>
                <a:srgbClr val="000000"/>
              </a:solidFill>
              <a:latin typeface="Arial"/>
              <a:ea typeface="Arial"/>
              <a:cs typeface="Arial"/>
              <a:sym typeface="Arial"/>
            </a:endParaRPr>
          </a:p>
        </p:txBody>
      </p:sp>
      <p:sp>
        <p:nvSpPr>
          <p:cNvPr id="152" name="Google Shape;152;p3"/>
          <p:cNvSpPr txBox="1"/>
          <p:nvPr/>
        </p:nvSpPr>
        <p:spPr>
          <a:xfrm>
            <a:off x="152400" y="1447800"/>
            <a:ext cx="8991600" cy="601662"/>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3200"/>
              <a:buFont typeface="Times"/>
              <a:buNone/>
            </a:pPr>
            <a:r>
              <a:rPr b="1" i="1" lang="en-US" sz="3200" u="none" cap="none" strike="noStrike">
                <a:solidFill>
                  <a:srgbClr val="FF0000"/>
                </a:solidFill>
                <a:latin typeface="Times"/>
                <a:ea typeface="Times"/>
                <a:cs typeface="Times"/>
                <a:sym typeface="Times"/>
              </a:rPr>
              <a: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400"/>
              <a:buFont typeface="Arial"/>
              <a:buNone/>
            </a:pPr>
            <a:r>
              <a:t/>
            </a:r>
            <a:endParaRPr b="1" i="1" sz="2400" u="none" cap="none" strike="noStrike">
              <a:solidFill>
                <a:srgbClr val="FF0000"/>
              </a:solidFill>
              <a:latin typeface="Aharoni"/>
              <a:ea typeface="Aharoni"/>
              <a:cs typeface="Aharoni"/>
              <a:sym typeface="Aharoni"/>
            </a:endParaRPr>
          </a:p>
          <a:p>
            <a:pPr indent="0" lvl="0" marL="0" marR="0" rtl="0" algn="just">
              <a:lnSpc>
                <a:spcPct val="150000"/>
              </a:lnSpc>
              <a:spcBef>
                <a:spcPts val="0"/>
              </a:spcBef>
              <a:spcAft>
                <a:spcPts val="0"/>
              </a:spcAft>
              <a:buClr>
                <a:schemeClr val="dk1"/>
              </a:buClr>
              <a:buSzPts val="2400"/>
              <a:buFont typeface="Arial"/>
              <a:buNone/>
            </a:pPr>
            <a:r>
              <a:t/>
            </a:r>
            <a:endParaRPr b="1" i="1" sz="2400" u="none" cap="none" strike="noStrike">
              <a:solidFill>
                <a:srgbClr val="FF0000"/>
              </a:solidFill>
              <a:latin typeface="Times"/>
              <a:ea typeface="Times"/>
              <a:cs typeface="Times"/>
              <a:sym typeface="Times"/>
            </a:endParaRPr>
          </a:p>
          <a:p>
            <a:pPr indent="0" lvl="0" marL="0" marR="0" rtl="0" algn="just">
              <a:lnSpc>
                <a:spcPct val="150000"/>
              </a:lnSpc>
              <a:spcBef>
                <a:spcPts val="1200"/>
              </a:spcBef>
              <a:spcAft>
                <a:spcPts val="0"/>
              </a:spcAft>
              <a:buClr>
                <a:srgbClr val="FF0000"/>
              </a:buClr>
              <a:buSzPts val="2400"/>
              <a:buFont typeface="Palatino"/>
              <a:buNone/>
            </a:pPr>
            <a:br>
              <a:rPr b="1" i="0" lang="en-US" sz="2400" u="none" cap="none" strike="noStrike">
                <a:solidFill>
                  <a:srgbClr val="FF0000"/>
                </a:solidFill>
                <a:latin typeface="Palatino"/>
                <a:ea typeface="Palatino"/>
                <a:cs typeface="Palatino"/>
                <a:sym typeface="Palatino"/>
              </a:rPr>
            </a:br>
            <a:endParaRPr b="0" i="0" sz="1400" u="none" cap="none" strike="noStrike">
              <a:solidFill>
                <a:srgbClr val="000000"/>
              </a:solidFill>
              <a:latin typeface="Arial"/>
              <a:ea typeface="Arial"/>
              <a:cs typeface="Arial"/>
              <a:sym typeface="Arial"/>
            </a:endParaRPr>
          </a:p>
        </p:txBody>
      </p:sp>
      <p:sp>
        <p:nvSpPr>
          <p:cNvPr id="153" name="Google Shape;153;p3"/>
          <p:cNvSpPr txBox="1"/>
          <p:nvPr/>
        </p:nvSpPr>
        <p:spPr>
          <a:xfrm>
            <a:off x="152400" y="1219200"/>
            <a:ext cx="8229600" cy="50466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cap="none" strike="noStrike">
                <a:solidFill>
                  <a:schemeClr val="dk1"/>
                </a:solidFill>
                <a:latin typeface="Times New Roman"/>
                <a:ea typeface="Times New Roman"/>
                <a:cs typeface="Times New Roman"/>
                <a:sym typeface="Times New Roman"/>
              </a:rPr>
              <a:t>The first section introduces the concept of protocol layering using two scenarios. The section also discusses the two principles upon which the protocol layering is based. The first principle dictates that each layer needs to have two opposite tasks. The second principle dictates that the corresponding layers should be identical. The section ends with a brief discussion of logical connection between two identical layers in protocol layering. Throughout the book, we need to distinguish between logical and physical connections.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 calcmode="lin" valueType="num">
                                      <p:cBhvr additive="base">
                                        <p:cTn dur="500"/>
                                        <p:tgtEl>
                                          <p:spTgt spid="153">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53">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0" name="Google Shape;160;p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1" name="Google Shape;161;p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2" name="Google Shape;162;p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3" name="Google Shape;163;p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4" name="Google Shape;164;p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5" name="Google Shape;165;p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66" name="Google Shape;166;p4"/>
          <p:cNvSpPr txBox="1"/>
          <p:nvPr/>
        </p:nvSpPr>
        <p:spPr>
          <a:xfrm>
            <a:off x="1066800" y="-76200"/>
            <a:ext cx="73152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cap="none" strike="noStrike">
                <a:solidFill>
                  <a:srgbClr val="FF0000"/>
                </a:solidFill>
                <a:latin typeface="Arial"/>
                <a:ea typeface="Arial"/>
                <a:cs typeface="Arial"/>
                <a:sym typeface="Arial"/>
              </a:rPr>
              <a:t>Chapter 2: Objective (</a:t>
            </a:r>
            <a:r>
              <a:rPr b="1" i="1" lang="en-US" sz="3600" u="none" cap="none" strike="noStrike">
                <a:solidFill>
                  <a:srgbClr val="FF0000"/>
                </a:solidFill>
                <a:latin typeface="Arial"/>
                <a:ea typeface="Arial"/>
                <a:cs typeface="Arial"/>
                <a:sym typeface="Arial"/>
              </a:rPr>
              <a:t>continued</a:t>
            </a:r>
            <a:r>
              <a:rPr b="1" i="0" lang="en-US" sz="3600" u="none" cap="none" strike="noStrike">
                <a:solidFill>
                  <a:srgbClr val="FF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7" name="Google Shape;167;p4"/>
          <p:cNvSpPr txBox="1"/>
          <p:nvPr/>
        </p:nvSpPr>
        <p:spPr>
          <a:xfrm>
            <a:off x="152400" y="1447800"/>
            <a:ext cx="8991600" cy="601662"/>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3200"/>
              <a:buFont typeface="Times"/>
              <a:buNone/>
            </a:pPr>
            <a:r>
              <a:rPr b="1" i="1" lang="en-US" sz="3200" u="none" cap="none" strike="noStrike">
                <a:solidFill>
                  <a:srgbClr val="FF0000"/>
                </a:solidFill>
                <a:latin typeface="Times"/>
                <a:ea typeface="Times"/>
                <a:cs typeface="Times"/>
                <a:sym typeface="Times"/>
              </a:rPr>
              <a: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400"/>
              <a:buFont typeface="Arial"/>
              <a:buNone/>
            </a:pPr>
            <a:r>
              <a:t/>
            </a:r>
            <a:endParaRPr b="1" i="1" sz="2400" u="none" cap="none" strike="noStrike">
              <a:solidFill>
                <a:srgbClr val="FF0000"/>
              </a:solidFill>
              <a:latin typeface="Aharoni"/>
              <a:ea typeface="Aharoni"/>
              <a:cs typeface="Aharoni"/>
              <a:sym typeface="Aharoni"/>
            </a:endParaRPr>
          </a:p>
          <a:p>
            <a:pPr indent="0" lvl="0" marL="0" marR="0" rtl="0" algn="just">
              <a:lnSpc>
                <a:spcPct val="150000"/>
              </a:lnSpc>
              <a:spcBef>
                <a:spcPts val="0"/>
              </a:spcBef>
              <a:spcAft>
                <a:spcPts val="0"/>
              </a:spcAft>
              <a:buClr>
                <a:schemeClr val="dk1"/>
              </a:buClr>
              <a:buSzPts val="2400"/>
              <a:buFont typeface="Arial"/>
              <a:buNone/>
            </a:pPr>
            <a:r>
              <a:t/>
            </a:r>
            <a:endParaRPr b="1" i="1" sz="2400" u="none" cap="none" strike="noStrike">
              <a:solidFill>
                <a:srgbClr val="FF0000"/>
              </a:solidFill>
              <a:latin typeface="Times"/>
              <a:ea typeface="Times"/>
              <a:cs typeface="Times"/>
              <a:sym typeface="Times"/>
            </a:endParaRPr>
          </a:p>
          <a:p>
            <a:pPr indent="0" lvl="0" marL="0" marR="0" rtl="0" algn="just">
              <a:lnSpc>
                <a:spcPct val="150000"/>
              </a:lnSpc>
              <a:spcBef>
                <a:spcPts val="1200"/>
              </a:spcBef>
              <a:spcAft>
                <a:spcPts val="0"/>
              </a:spcAft>
              <a:buClr>
                <a:srgbClr val="FF0000"/>
              </a:buClr>
              <a:buSzPts val="2400"/>
              <a:buFont typeface="Palatino"/>
              <a:buNone/>
            </a:pPr>
            <a:br>
              <a:rPr b="1" i="0" lang="en-US" sz="2400" u="none" cap="none" strike="noStrike">
                <a:solidFill>
                  <a:srgbClr val="FF0000"/>
                </a:solidFill>
                <a:latin typeface="Palatino"/>
                <a:ea typeface="Palatino"/>
                <a:cs typeface="Palatino"/>
                <a:sym typeface="Palatino"/>
              </a:rPr>
            </a:br>
            <a:endParaRPr b="0" i="0" sz="1400" u="none" cap="none" strike="noStrike">
              <a:solidFill>
                <a:srgbClr val="000000"/>
              </a:solidFill>
              <a:latin typeface="Arial"/>
              <a:ea typeface="Arial"/>
              <a:cs typeface="Arial"/>
              <a:sym typeface="Arial"/>
            </a:endParaRPr>
          </a:p>
        </p:txBody>
      </p:sp>
      <p:sp>
        <p:nvSpPr>
          <p:cNvPr id="168" name="Google Shape;168;p4"/>
          <p:cNvSpPr txBox="1"/>
          <p:nvPr/>
        </p:nvSpPr>
        <p:spPr>
          <a:xfrm>
            <a:off x="152400" y="1066800"/>
            <a:ext cx="8229600" cy="3124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cap="none" strike="noStrike">
                <a:solidFill>
                  <a:schemeClr val="dk1"/>
                </a:solidFill>
                <a:latin typeface="Times New Roman"/>
                <a:ea typeface="Times New Roman"/>
                <a:cs typeface="Times New Roman"/>
                <a:sym typeface="Times New Roman"/>
              </a:rPr>
              <a:t>The second section discusses the five layers of the TCP/IP protocol suite. We show how packets in each of the five layers (physical, data-link, network, transport, and application) are named. We also mention the addressing mechanism used in each layer. Each layer of the TCP/IP protocol suite is a subject of a part of the book. In other words, each layer is discussed in several chapters; this section is just an introduction and preparation.</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228600" y="4114800"/>
            <a:ext cx="8229600" cy="2286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cap="none" strike="noStrike">
                <a:solidFill>
                  <a:schemeClr val="dk1"/>
                </a:solidFill>
                <a:latin typeface="Times New Roman"/>
                <a:ea typeface="Times New Roman"/>
                <a:cs typeface="Times New Roman"/>
                <a:sym typeface="Times New Roman"/>
              </a:rPr>
              <a:t>The third section gives a brief discussion of the OSI model. This model was never implemented in practice, but a brief discussion of the model and its comparison with the TCP/IP protocol suite may be useful to better understand the TCP/IP protocol suite. In this section we also give a brief reason for the OSI model’s lack of success.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 calcmode="lin" valueType="num">
                                      <p:cBhvr additive="base">
                                        <p:cTn dur="500"/>
                                        <p:tgtEl>
                                          <p:spTgt spid="168">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68">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 calcmode="lin" valueType="num">
                                      <p:cBhvr additive="base">
                                        <p:cTn dur="500"/>
                                        <p:tgtEl>
                                          <p:spTgt spid="169">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69">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6" name="Google Shape;176;p5"/>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77" name="Google Shape;177;p5"/>
          <p:cNvSpPr txBox="1"/>
          <p:nvPr/>
        </p:nvSpPr>
        <p:spPr>
          <a:xfrm>
            <a:off x="228600" y="406400"/>
            <a:ext cx="5635625"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2-1   PROTOCOL LAYERING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Times"/>
              <a:ea typeface="Times"/>
              <a:cs typeface="Times"/>
              <a:sym typeface="Times"/>
            </a:endParaRPr>
          </a:p>
        </p:txBody>
      </p:sp>
      <p:sp>
        <p:nvSpPr>
          <p:cNvPr id="178" name="Google Shape;178;p5"/>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79" name="Google Shape;179;p5"/>
          <p:cNvSpPr txBox="1"/>
          <p:nvPr/>
        </p:nvSpPr>
        <p:spPr>
          <a:xfrm>
            <a:off x="152400" y="1689100"/>
            <a:ext cx="88392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Times"/>
              <a:buNone/>
            </a:pPr>
            <a:r>
              <a:rPr b="1" i="1" lang="en-US" sz="3200" u="none" cap="none" strike="noStrike">
                <a:solidFill>
                  <a:srgbClr val="000000"/>
                </a:solidFill>
                <a:latin typeface="Times"/>
                <a:ea typeface="Times"/>
                <a:cs typeface="Times"/>
                <a:sym typeface="Times"/>
              </a:rPr>
              <a:t>A word we hear all the time when we talk about the Internet is protocol. A protocol defines the rules that both the sender and receiver and all intermediate devices need to follow to be able to communicate effectively. When communication is simple, we may need only one simple protocol; when the communication is complex, we need a protocol at each layer, or protocol layering.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6" name="Google Shape;186;p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87" name="Google Shape;187;p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88" name="Google Shape;188;p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89" name="Google Shape;189;p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90" name="Google Shape;190;p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91" name="Google Shape;191;p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92" name="Google Shape;192;p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193" name="Google Shape;193;p6"/>
          <p:cNvSpPr txBox="1"/>
          <p:nvPr/>
        </p:nvSpPr>
        <p:spPr>
          <a:xfrm>
            <a:off x="1143000" y="0"/>
            <a:ext cx="309562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2.1.1 Scenarios</a:t>
            </a:r>
            <a:endParaRPr b="0" i="0" sz="1400" u="none" cap="none" strike="noStrike">
              <a:solidFill>
                <a:srgbClr val="000000"/>
              </a:solidFill>
              <a:latin typeface="Arial"/>
              <a:ea typeface="Arial"/>
              <a:cs typeface="Arial"/>
              <a:sym typeface="Arial"/>
            </a:endParaRPr>
          </a:p>
        </p:txBody>
      </p:sp>
      <p:sp>
        <p:nvSpPr>
          <p:cNvPr id="194" name="Google Shape;194;p6"/>
          <p:cNvSpPr txBox="1"/>
          <p:nvPr/>
        </p:nvSpPr>
        <p:spPr>
          <a:xfrm>
            <a:off x="381000" y="1293812"/>
            <a:ext cx="7924800" cy="35401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develop two simple scenarios to better understand the need for protocol layering.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In the first scenario, communication is so simple that it can occur in only one layer.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In the second, the communication between Maria and Ann takes place in three layers.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1" name="Google Shape;201;p7"/>
          <p:cNvSpPr txBox="1"/>
          <p:nvPr/>
        </p:nvSpPr>
        <p:spPr>
          <a:xfrm>
            <a:off x="152400" y="76200"/>
            <a:ext cx="81534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2.1</a:t>
            </a:r>
            <a:r>
              <a:rPr b="1" i="1" lang="en-US" sz="2800" u="none" cap="none" strike="noStrike">
                <a:solidFill>
                  <a:srgbClr val="0000CC"/>
                </a:solidFill>
                <a:latin typeface="Times"/>
                <a:ea typeface="Times"/>
                <a:cs typeface="Times"/>
                <a:sym typeface="Times"/>
              </a:rPr>
              <a:t>: </a:t>
            </a:r>
            <a:r>
              <a:rPr b="1" i="1" lang="en-US" sz="2800" u="none" cap="none" strike="noStrike">
                <a:solidFill>
                  <a:schemeClr val="dk1"/>
                </a:solidFill>
                <a:latin typeface="Times"/>
                <a:ea typeface="Times"/>
                <a:cs typeface="Times"/>
                <a:sym typeface="Times"/>
              </a:rPr>
              <a:t>A single-layer protocol</a:t>
            </a:r>
            <a:endParaRPr b="0" i="0" sz="1400" u="none" cap="none" strike="noStrike">
              <a:solidFill>
                <a:srgbClr val="000000"/>
              </a:solidFill>
              <a:latin typeface="Arial"/>
              <a:ea typeface="Arial"/>
              <a:cs typeface="Arial"/>
              <a:sym typeface="Arial"/>
            </a:endParaRPr>
          </a:p>
        </p:txBody>
      </p:sp>
      <p:pic>
        <p:nvPicPr>
          <p:cNvPr id="202" name="Google Shape;202;p7"/>
          <p:cNvPicPr preferRelativeResize="0"/>
          <p:nvPr/>
        </p:nvPicPr>
        <p:blipFill rotWithShape="1">
          <a:blip r:embed="rId3">
            <a:alphaModFix/>
          </a:blip>
          <a:srcRect b="0" l="0" r="0" t="0"/>
          <a:stretch/>
        </p:blipFill>
        <p:spPr>
          <a:xfrm>
            <a:off x="533400" y="2571750"/>
            <a:ext cx="8116887" cy="1147762"/>
          </a:xfrm>
          <a:prstGeom prst="rect">
            <a:avLst/>
          </a:prstGeom>
          <a:noFill/>
          <a:ln>
            <a:noFill/>
          </a:ln>
        </p:spPr>
      </p:pic>
      <p:pic>
        <p:nvPicPr>
          <p:cNvPr id="203" name="Google Shape;203;p7"/>
          <p:cNvPicPr preferRelativeResize="0"/>
          <p:nvPr/>
        </p:nvPicPr>
        <p:blipFill rotWithShape="1">
          <a:blip r:embed="rId4">
            <a:alphaModFix/>
          </a:blip>
          <a:srcRect b="0" l="0" r="0" t="0"/>
          <a:stretch/>
        </p:blipFill>
        <p:spPr>
          <a:xfrm>
            <a:off x="2025650" y="3719512"/>
            <a:ext cx="5133975" cy="436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3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0" name="Google Shape;210;p8"/>
          <p:cNvSpPr txBox="1"/>
          <p:nvPr/>
        </p:nvSpPr>
        <p:spPr>
          <a:xfrm>
            <a:off x="152400" y="76200"/>
            <a:ext cx="81534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2.2</a:t>
            </a:r>
            <a:r>
              <a:rPr b="1" i="1" lang="en-US" sz="2800" u="none" cap="none" strike="noStrike">
                <a:solidFill>
                  <a:srgbClr val="0000CC"/>
                </a:solidFill>
                <a:latin typeface="Times"/>
                <a:ea typeface="Times"/>
                <a:cs typeface="Times"/>
                <a:sym typeface="Times"/>
              </a:rPr>
              <a:t>: </a:t>
            </a:r>
            <a:r>
              <a:rPr b="1" i="1" lang="en-US" sz="2800" u="none" cap="none" strike="noStrike">
                <a:solidFill>
                  <a:schemeClr val="dk1"/>
                </a:solidFill>
                <a:latin typeface="Times"/>
                <a:ea typeface="Times"/>
                <a:cs typeface="Times"/>
                <a:sym typeface="Times"/>
              </a:rPr>
              <a:t>A three-layer protocol</a:t>
            </a:r>
            <a:endParaRPr b="0" i="0" sz="1400" u="none" cap="none" strike="noStrike">
              <a:solidFill>
                <a:srgbClr val="000000"/>
              </a:solidFill>
              <a:latin typeface="Arial"/>
              <a:ea typeface="Arial"/>
              <a:cs typeface="Arial"/>
              <a:sym typeface="Arial"/>
            </a:endParaRPr>
          </a:p>
        </p:txBody>
      </p:sp>
      <p:pic>
        <p:nvPicPr>
          <p:cNvPr id="211" name="Google Shape;211;p8"/>
          <p:cNvPicPr preferRelativeResize="0"/>
          <p:nvPr/>
        </p:nvPicPr>
        <p:blipFill rotWithShape="1">
          <a:blip r:embed="rId3">
            <a:alphaModFix/>
          </a:blip>
          <a:srcRect b="0" l="0" r="0" t="0"/>
          <a:stretch/>
        </p:blipFill>
        <p:spPr>
          <a:xfrm>
            <a:off x="152400" y="1620837"/>
            <a:ext cx="2209800" cy="915987"/>
          </a:xfrm>
          <a:prstGeom prst="rect">
            <a:avLst/>
          </a:prstGeom>
          <a:noFill/>
          <a:ln>
            <a:noFill/>
          </a:ln>
        </p:spPr>
      </p:pic>
      <p:pic>
        <p:nvPicPr>
          <p:cNvPr id="212" name="Google Shape;212;p8"/>
          <p:cNvPicPr preferRelativeResize="0"/>
          <p:nvPr/>
        </p:nvPicPr>
        <p:blipFill rotWithShape="1">
          <a:blip r:embed="rId4">
            <a:alphaModFix/>
          </a:blip>
          <a:srcRect b="0" l="0" r="0" t="0"/>
          <a:stretch/>
        </p:blipFill>
        <p:spPr>
          <a:xfrm>
            <a:off x="152400" y="3259137"/>
            <a:ext cx="2209800" cy="471487"/>
          </a:xfrm>
          <a:prstGeom prst="rect">
            <a:avLst/>
          </a:prstGeom>
          <a:noFill/>
          <a:ln>
            <a:noFill/>
          </a:ln>
        </p:spPr>
      </p:pic>
      <p:pic>
        <p:nvPicPr>
          <p:cNvPr id="213" name="Google Shape;213;p8"/>
          <p:cNvPicPr preferRelativeResize="0"/>
          <p:nvPr/>
        </p:nvPicPr>
        <p:blipFill rotWithShape="1">
          <a:blip r:embed="rId5">
            <a:alphaModFix/>
          </a:blip>
          <a:srcRect b="0" l="0" r="0" t="0"/>
          <a:stretch/>
        </p:blipFill>
        <p:spPr>
          <a:xfrm>
            <a:off x="152400" y="4575175"/>
            <a:ext cx="2209800" cy="541337"/>
          </a:xfrm>
          <a:prstGeom prst="rect">
            <a:avLst/>
          </a:prstGeom>
          <a:noFill/>
          <a:ln>
            <a:noFill/>
          </a:ln>
        </p:spPr>
      </p:pic>
      <p:pic>
        <p:nvPicPr>
          <p:cNvPr id="214" name="Google Shape;214;p8"/>
          <p:cNvPicPr preferRelativeResize="0"/>
          <p:nvPr/>
        </p:nvPicPr>
        <p:blipFill rotWithShape="1">
          <a:blip r:embed="rId6">
            <a:alphaModFix/>
          </a:blip>
          <a:srcRect b="0" l="0" r="0" t="0"/>
          <a:stretch/>
        </p:blipFill>
        <p:spPr>
          <a:xfrm>
            <a:off x="6664325" y="1620837"/>
            <a:ext cx="2251075" cy="915987"/>
          </a:xfrm>
          <a:prstGeom prst="rect">
            <a:avLst/>
          </a:prstGeom>
          <a:noFill/>
          <a:ln>
            <a:noFill/>
          </a:ln>
        </p:spPr>
      </p:pic>
      <p:pic>
        <p:nvPicPr>
          <p:cNvPr id="215" name="Google Shape;215;p8"/>
          <p:cNvPicPr preferRelativeResize="0"/>
          <p:nvPr/>
        </p:nvPicPr>
        <p:blipFill rotWithShape="1">
          <a:blip r:embed="rId7">
            <a:alphaModFix/>
          </a:blip>
          <a:srcRect b="0" l="0" r="0" t="0"/>
          <a:stretch/>
        </p:blipFill>
        <p:spPr>
          <a:xfrm>
            <a:off x="6664325" y="4575175"/>
            <a:ext cx="2251075" cy="541337"/>
          </a:xfrm>
          <a:prstGeom prst="rect">
            <a:avLst/>
          </a:prstGeom>
          <a:noFill/>
          <a:ln>
            <a:noFill/>
          </a:ln>
        </p:spPr>
      </p:pic>
      <p:pic>
        <p:nvPicPr>
          <p:cNvPr id="216" name="Google Shape;216;p8"/>
          <p:cNvPicPr preferRelativeResize="0"/>
          <p:nvPr/>
        </p:nvPicPr>
        <p:blipFill rotWithShape="1">
          <a:blip r:embed="rId8">
            <a:alphaModFix/>
          </a:blip>
          <a:srcRect b="0" l="0" r="0" t="0"/>
          <a:stretch/>
        </p:blipFill>
        <p:spPr>
          <a:xfrm>
            <a:off x="6664325" y="3259137"/>
            <a:ext cx="2251075" cy="471487"/>
          </a:xfrm>
          <a:prstGeom prst="rect">
            <a:avLst/>
          </a:prstGeom>
          <a:noFill/>
          <a:ln>
            <a:noFill/>
          </a:ln>
        </p:spPr>
      </p:pic>
      <p:pic>
        <p:nvPicPr>
          <p:cNvPr id="217" name="Google Shape;217;p8"/>
          <p:cNvPicPr preferRelativeResize="0"/>
          <p:nvPr/>
        </p:nvPicPr>
        <p:blipFill rotWithShape="1">
          <a:blip r:embed="rId9">
            <a:alphaModFix/>
          </a:blip>
          <a:srcRect b="0" l="0" r="0" t="0"/>
          <a:stretch/>
        </p:blipFill>
        <p:spPr>
          <a:xfrm>
            <a:off x="2397125" y="2078037"/>
            <a:ext cx="4179887" cy="377825"/>
          </a:xfrm>
          <a:prstGeom prst="rect">
            <a:avLst/>
          </a:prstGeom>
          <a:noFill/>
          <a:ln>
            <a:noFill/>
          </a:ln>
        </p:spPr>
      </p:pic>
      <p:pic>
        <p:nvPicPr>
          <p:cNvPr id="218" name="Google Shape;218;p8"/>
          <p:cNvPicPr preferRelativeResize="0"/>
          <p:nvPr/>
        </p:nvPicPr>
        <p:blipFill rotWithShape="1">
          <a:blip r:embed="rId10">
            <a:alphaModFix/>
          </a:blip>
          <a:srcRect b="0" l="0" r="0" t="0"/>
          <a:stretch/>
        </p:blipFill>
        <p:spPr>
          <a:xfrm>
            <a:off x="2419350" y="3346450"/>
            <a:ext cx="4179887" cy="373062"/>
          </a:xfrm>
          <a:prstGeom prst="rect">
            <a:avLst/>
          </a:prstGeom>
          <a:noFill/>
          <a:ln>
            <a:noFill/>
          </a:ln>
        </p:spPr>
      </p:pic>
      <p:pic>
        <p:nvPicPr>
          <p:cNvPr id="219" name="Google Shape;219;p8"/>
          <p:cNvPicPr preferRelativeResize="0"/>
          <p:nvPr/>
        </p:nvPicPr>
        <p:blipFill rotWithShape="1">
          <a:blip r:embed="rId11">
            <a:alphaModFix/>
          </a:blip>
          <a:srcRect b="0" l="0" r="0" t="0"/>
          <a:stretch/>
        </p:blipFill>
        <p:spPr>
          <a:xfrm>
            <a:off x="2362200" y="4597400"/>
            <a:ext cx="4248150" cy="355600"/>
          </a:xfrm>
          <a:prstGeom prst="rect">
            <a:avLst/>
          </a:prstGeom>
          <a:noFill/>
          <a:ln>
            <a:noFill/>
          </a:ln>
        </p:spPr>
      </p:pic>
      <p:pic>
        <p:nvPicPr>
          <p:cNvPr id="220" name="Google Shape;220;p8"/>
          <p:cNvPicPr preferRelativeResize="0"/>
          <p:nvPr/>
        </p:nvPicPr>
        <p:blipFill rotWithShape="1">
          <a:blip r:embed="rId12">
            <a:alphaModFix/>
          </a:blip>
          <a:srcRect b="0" l="0" r="0" t="0"/>
          <a:stretch/>
        </p:blipFill>
        <p:spPr>
          <a:xfrm>
            <a:off x="1447800" y="2536825"/>
            <a:ext cx="6172200" cy="3559175"/>
          </a:xfrm>
          <a:prstGeom prst="rect">
            <a:avLst/>
          </a:prstGeom>
          <a:noFill/>
          <a:ln>
            <a:noFill/>
          </a:ln>
        </p:spPr>
      </p:pic>
      <p:pic>
        <p:nvPicPr>
          <p:cNvPr id="221" name="Google Shape;221;p8"/>
          <p:cNvPicPr preferRelativeResize="0"/>
          <p:nvPr/>
        </p:nvPicPr>
        <p:blipFill rotWithShape="1">
          <a:blip r:embed="rId13">
            <a:alphaModFix/>
          </a:blip>
          <a:srcRect b="0" l="0" r="0" t="0"/>
          <a:stretch/>
        </p:blipFill>
        <p:spPr>
          <a:xfrm>
            <a:off x="2560637" y="5486400"/>
            <a:ext cx="3895725" cy="231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5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6b0791d656_0_0"/>
          <p:cNvSpPr txBox="1"/>
          <p:nvPr>
            <p:ph idx="12" type="sldNum"/>
          </p:nvPr>
        </p:nvSpPr>
        <p:spPr>
          <a:xfrm>
            <a:off x="0" y="6400800"/>
            <a:ext cx="1905000" cy="457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t>2.</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4" name="Google Shape;234;p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35" name="Google Shape;235;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36" name="Google Shape;236;p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37" name="Google Shape;237;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38" name="Google Shape;238;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39" name="Google Shape;239;p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40" name="Google Shape;240;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41" name="Google Shape;241;p9"/>
          <p:cNvSpPr txBox="1"/>
          <p:nvPr/>
        </p:nvSpPr>
        <p:spPr>
          <a:xfrm>
            <a:off x="1143000" y="0"/>
            <a:ext cx="721201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2.1.2 Principles of Protocol Layering</a:t>
            </a:r>
            <a:endParaRPr b="0" i="0" sz="1400" u="none" cap="none" strike="noStrike">
              <a:solidFill>
                <a:srgbClr val="000000"/>
              </a:solidFill>
              <a:latin typeface="Arial"/>
              <a:ea typeface="Arial"/>
              <a:cs typeface="Arial"/>
              <a:sym typeface="Arial"/>
            </a:endParaRPr>
          </a:p>
        </p:txBody>
      </p:sp>
      <p:sp>
        <p:nvSpPr>
          <p:cNvPr id="242" name="Google Shape;242;p9"/>
          <p:cNvSpPr txBox="1"/>
          <p:nvPr/>
        </p:nvSpPr>
        <p:spPr>
          <a:xfrm>
            <a:off x="381000" y="1293812"/>
            <a:ext cx="7924800" cy="44005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us discuss two principles of protocol layering.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first principle dictates that if we want bidirectional communication, we need to make each layer so that it is able to perform two opposite tasks, one in each direction.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second principle that we need to follow in protocol layering is that the two objects under each layer at both sites should be identical.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9" name="Google Shape;249;p1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0" name="Google Shape;250;p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1" name="Google Shape;251;p1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2" name="Google Shape;252;p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3" name="Google Shape;253;p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4" name="Google Shape;254;p1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5" name="Google Shape;255;p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56" name="Google Shape;256;p10"/>
          <p:cNvSpPr txBox="1"/>
          <p:nvPr/>
        </p:nvSpPr>
        <p:spPr>
          <a:xfrm>
            <a:off x="1143000" y="0"/>
            <a:ext cx="52752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2.1.3  Logical Connections</a:t>
            </a:r>
            <a:endParaRPr b="0" i="0" sz="1400" u="none" cap="none" strike="noStrike">
              <a:solidFill>
                <a:srgbClr val="000000"/>
              </a:solidFill>
              <a:latin typeface="Arial"/>
              <a:ea typeface="Arial"/>
              <a:cs typeface="Arial"/>
              <a:sym typeface="Arial"/>
            </a:endParaRPr>
          </a:p>
        </p:txBody>
      </p:sp>
      <p:sp>
        <p:nvSpPr>
          <p:cNvPr id="257" name="Google Shape;257;p10"/>
          <p:cNvSpPr txBox="1"/>
          <p:nvPr/>
        </p:nvSpPr>
        <p:spPr>
          <a:xfrm>
            <a:off x="381000" y="1293812"/>
            <a:ext cx="7924800" cy="44005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After following the above two principles, we can think about logical connection between each layer as shown in Figure 2.3. This means that we have layer-to-layer communication. Maria and Ann can think that there is a logical (imaginary) connection at each layer through which they can send the object created from that layer. We will see that the concept of logical connection will help us better understand the task of layering we encounter in data communication and networking.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64" name="Google Shape;264;p11"/>
          <p:cNvSpPr txBox="1"/>
          <p:nvPr/>
        </p:nvSpPr>
        <p:spPr>
          <a:xfrm>
            <a:off x="152400" y="76200"/>
            <a:ext cx="81534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2.3</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Logical connection between peer layers</a:t>
            </a:r>
            <a:endParaRPr b="0" i="0" sz="1400" u="none" cap="none" strike="noStrike">
              <a:solidFill>
                <a:srgbClr val="000000"/>
              </a:solidFill>
              <a:latin typeface="Arial"/>
              <a:ea typeface="Arial"/>
              <a:cs typeface="Arial"/>
              <a:sym typeface="Arial"/>
            </a:endParaRPr>
          </a:p>
        </p:txBody>
      </p:sp>
      <p:pic>
        <p:nvPicPr>
          <p:cNvPr id="265" name="Google Shape;265;p11"/>
          <p:cNvPicPr preferRelativeResize="0"/>
          <p:nvPr/>
        </p:nvPicPr>
        <p:blipFill rotWithShape="1">
          <a:blip r:embed="rId3">
            <a:alphaModFix/>
          </a:blip>
          <a:srcRect b="0" l="0" r="0" t="0"/>
          <a:stretch/>
        </p:blipFill>
        <p:spPr>
          <a:xfrm>
            <a:off x="342900" y="1524000"/>
            <a:ext cx="8496300" cy="1193800"/>
          </a:xfrm>
          <a:prstGeom prst="rect">
            <a:avLst/>
          </a:prstGeom>
          <a:noFill/>
          <a:ln>
            <a:noFill/>
          </a:ln>
        </p:spPr>
      </p:pic>
      <p:pic>
        <p:nvPicPr>
          <p:cNvPr id="266" name="Google Shape;266;p11"/>
          <p:cNvPicPr preferRelativeResize="0"/>
          <p:nvPr/>
        </p:nvPicPr>
        <p:blipFill rotWithShape="1">
          <a:blip r:embed="rId4">
            <a:alphaModFix/>
          </a:blip>
          <a:srcRect b="0" l="0" r="0" t="0"/>
          <a:stretch/>
        </p:blipFill>
        <p:spPr>
          <a:xfrm>
            <a:off x="342900" y="3419475"/>
            <a:ext cx="8496300" cy="755650"/>
          </a:xfrm>
          <a:prstGeom prst="rect">
            <a:avLst/>
          </a:prstGeom>
          <a:noFill/>
          <a:ln>
            <a:noFill/>
          </a:ln>
        </p:spPr>
      </p:pic>
      <p:pic>
        <p:nvPicPr>
          <p:cNvPr id="267" name="Google Shape;267;p11"/>
          <p:cNvPicPr preferRelativeResize="0"/>
          <p:nvPr/>
        </p:nvPicPr>
        <p:blipFill rotWithShape="1">
          <a:blip r:embed="rId5">
            <a:alphaModFix/>
          </a:blip>
          <a:srcRect b="0" l="0" r="0" t="0"/>
          <a:stretch/>
        </p:blipFill>
        <p:spPr>
          <a:xfrm>
            <a:off x="342900" y="4876800"/>
            <a:ext cx="8496300" cy="67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4" name="Google Shape;274;p12"/>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75" name="Google Shape;275;p12"/>
          <p:cNvSpPr txBox="1"/>
          <p:nvPr/>
        </p:nvSpPr>
        <p:spPr>
          <a:xfrm>
            <a:off x="228600" y="406400"/>
            <a:ext cx="6315075"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2-2   TCP/IP  PROTOCOL  SUITE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Times"/>
              <a:ea typeface="Times"/>
              <a:cs typeface="Times"/>
              <a:sym typeface="Times"/>
            </a:endParaRPr>
          </a:p>
        </p:txBody>
      </p:sp>
      <p:sp>
        <p:nvSpPr>
          <p:cNvPr id="276" name="Google Shape;276;p12"/>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77" name="Google Shape;277;p12"/>
          <p:cNvSpPr txBox="1"/>
          <p:nvPr/>
        </p:nvSpPr>
        <p:spPr>
          <a:xfrm>
            <a:off x="152400" y="1689100"/>
            <a:ext cx="88392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Times"/>
              <a:buNone/>
            </a:pPr>
            <a:r>
              <a:rPr b="1" i="1" lang="en-US" sz="3200" u="none" cap="none" strike="noStrike">
                <a:solidFill>
                  <a:srgbClr val="000000"/>
                </a:solidFill>
                <a:latin typeface="Times"/>
                <a:ea typeface="Times"/>
                <a:cs typeface="Times"/>
                <a:sym typeface="Times"/>
              </a:rPr>
              <a:t>A word we hear all the time when we talk about the Internet is protocol. A protocol defines the rules that both the sender and receiver and all intermediate devices need to follow to be able to communicate effectively. When communication is simple, we may need only one simple protocol; when the communication is complex, we need a protocol at each layer, or protocol layering.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4" name="Google Shape;284;p13"/>
          <p:cNvSpPr txBox="1"/>
          <p:nvPr/>
        </p:nvSpPr>
        <p:spPr>
          <a:xfrm>
            <a:off x="152400" y="76200"/>
            <a:ext cx="81534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2.4</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Layers in the TCP/IP protocol suite</a:t>
            </a:r>
            <a:endParaRPr b="0" i="0" sz="1400" u="none" cap="none" strike="noStrike">
              <a:solidFill>
                <a:srgbClr val="000000"/>
              </a:solidFill>
              <a:latin typeface="Arial"/>
              <a:ea typeface="Arial"/>
              <a:cs typeface="Arial"/>
              <a:sym typeface="Arial"/>
            </a:endParaRPr>
          </a:p>
        </p:txBody>
      </p:sp>
      <p:pic>
        <p:nvPicPr>
          <p:cNvPr id="285" name="Google Shape;285;p13"/>
          <p:cNvPicPr preferRelativeResize="0"/>
          <p:nvPr/>
        </p:nvPicPr>
        <p:blipFill rotWithShape="1">
          <a:blip r:embed="rId3">
            <a:alphaModFix/>
          </a:blip>
          <a:srcRect b="0" l="0" r="0" t="0"/>
          <a:stretch/>
        </p:blipFill>
        <p:spPr>
          <a:xfrm>
            <a:off x="609600" y="990600"/>
            <a:ext cx="8266112" cy="536575"/>
          </a:xfrm>
          <a:prstGeom prst="rect">
            <a:avLst/>
          </a:prstGeom>
          <a:noFill/>
          <a:ln>
            <a:noFill/>
          </a:ln>
        </p:spPr>
      </p:pic>
      <p:pic>
        <p:nvPicPr>
          <p:cNvPr id="286" name="Google Shape;286;p13"/>
          <p:cNvPicPr preferRelativeResize="0"/>
          <p:nvPr/>
        </p:nvPicPr>
        <p:blipFill rotWithShape="1">
          <a:blip r:embed="rId4">
            <a:alphaModFix/>
          </a:blip>
          <a:srcRect b="0" l="0" r="0" t="0"/>
          <a:stretch/>
        </p:blipFill>
        <p:spPr>
          <a:xfrm>
            <a:off x="609600" y="1962150"/>
            <a:ext cx="8266112" cy="536575"/>
          </a:xfrm>
          <a:prstGeom prst="rect">
            <a:avLst/>
          </a:prstGeom>
          <a:noFill/>
          <a:ln>
            <a:noFill/>
          </a:ln>
        </p:spPr>
      </p:pic>
      <p:pic>
        <p:nvPicPr>
          <p:cNvPr id="287" name="Google Shape;287;p13"/>
          <p:cNvPicPr preferRelativeResize="0"/>
          <p:nvPr/>
        </p:nvPicPr>
        <p:blipFill rotWithShape="1">
          <a:blip r:embed="rId5">
            <a:alphaModFix/>
          </a:blip>
          <a:srcRect b="0" l="0" r="0" t="0"/>
          <a:stretch/>
        </p:blipFill>
        <p:spPr>
          <a:xfrm>
            <a:off x="609600" y="2933700"/>
            <a:ext cx="8266112" cy="536575"/>
          </a:xfrm>
          <a:prstGeom prst="rect">
            <a:avLst/>
          </a:prstGeom>
          <a:noFill/>
          <a:ln>
            <a:noFill/>
          </a:ln>
        </p:spPr>
      </p:pic>
      <p:pic>
        <p:nvPicPr>
          <p:cNvPr id="288" name="Google Shape;288;p13"/>
          <p:cNvPicPr preferRelativeResize="0"/>
          <p:nvPr/>
        </p:nvPicPr>
        <p:blipFill rotWithShape="1">
          <a:blip r:embed="rId6">
            <a:alphaModFix/>
          </a:blip>
          <a:srcRect b="0" l="0" r="0" t="0"/>
          <a:stretch/>
        </p:blipFill>
        <p:spPr>
          <a:xfrm>
            <a:off x="609600" y="3905250"/>
            <a:ext cx="8266112" cy="536575"/>
          </a:xfrm>
          <a:prstGeom prst="rect">
            <a:avLst/>
          </a:prstGeom>
          <a:noFill/>
          <a:ln>
            <a:noFill/>
          </a:ln>
        </p:spPr>
      </p:pic>
      <p:pic>
        <p:nvPicPr>
          <p:cNvPr id="289" name="Google Shape;289;p13"/>
          <p:cNvPicPr preferRelativeResize="0"/>
          <p:nvPr/>
        </p:nvPicPr>
        <p:blipFill rotWithShape="1">
          <a:blip r:embed="rId7">
            <a:alphaModFix/>
          </a:blip>
          <a:srcRect b="0" l="0" r="0" t="0"/>
          <a:stretch/>
        </p:blipFill>
        <p:spPr>
          <a:xfrm>
            <a:off x="609600" y="4876800"/>
            <a:ext cx="8266112" cy="536575"/>
          </a:xfrm>
          <a:prstGeom prst="rect">
            <a:avLst/>
          </a:prstGeom>
          <a:noFill/>
          <a:ln>
            <a:noFill/>
          </a:ln>
        </p:spPr>
      </p:pic>
      <p:pic>
        <p:nvPicPr>
          <p:cNvPr id="290" name="Google Shape;290;p13"/>
          <p:cNvPicPr preferRelativeResize="0"/>
          <p:nvPr/>
        </p:nvPicPr>
        <p:blipFill rotWithShape="1">
          <a:blip r:embed="rId8">
            <a:alphaModFix/>
          </a:blip>
          <a:srcRect b="0" l="0" r="0" t="0"/>
          <a:stretch/>
        </p:blipFill>
        <p:spPr>
          <a:xfrm>
            <a:off x="903287" y="5867400"/>
            <a:ext cx="6964362" cy="29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7" name="Google Shape;297;p1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98" name="Google Shape;298;p1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299" name="Google Shape;299;p1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00" name="Google Shape;300;p1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01" name="Google Shape;301;p1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02" name="Google Shape;302;p1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03" name="Google Shape;303;p1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04" name="Google Shape;304;p14"/>
          <p:cNvSpPr txBox="1"/>
          <p:nvPr/>
        </p:nvSpPr>
        <p:spPr>
          <a:xfrm>
            <a:off x="1143000" y="0"/>
            <a:ext cx="52451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2.2.1 Layered Architecture</a:t>
            </a:r>
            <a:endParaRPr b="0" i="0" sz="1400" u="none" cap="none" strike="noStrike">
              <a:solidFill>
                <a:srgbClr val="000000"/>
              </a:solidFill>
              <a:latin typeface="Arial"/>
              <a:ea typeface="Arial"/>
              <a:cs typeface="Arial"/>
              <a:sym typeface="Arial"/>
            </a:endParaRPr>
          </a:p>
        </p:txBody>
      </p:sp>
      <p:sp>
        <p:nvSpPr>
          <p:cNvPr id="305" name="Google Shape;305;p14"/>
          <p:cNvSpPr txBox="1"/>
          <p:nvPr/>
        </p:nvSpPr>
        <p:spPr>
          <a:xfrm>
            <a:off x="381000" y="1293812"/>
            <a:ext cx="7924800" cy="2678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To show how the layers in the TCP/IP protocol suite are involved in communication between two hosts, we assume that we want to use the suite in a small internet made up of three LANs (links), each with a link-layer switch. We also assume that the links are connected by one router, as shown in Figure 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2" name="Google Shape;312;p15"/>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cap="none" strike="noStrike">
                <a:solidFill>
                  <a:srgbClr val="FF0000"/>
                </a:solidFill>
                <a:latin typeface="Times"/>
                <a:ea typeface="Times"/>
                <a:cs typeface="Times"/>
                <a:sym typeface="Times"/>
              </a:rPr>
              <a:t>Figure 2.5</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Communication through an internet</a:t>
            </a:r>
            <a:endParaRPr b="0" i="0" sz="1400" u="none" cap="none" strike="noStrike">
              <a:solidFill>
                <a:srgbClr val="000000"/>
              </a:solidFill>
              <a:latin typeface="Arial"/>
              <a:ea typeface="Arial"/>
              <a:cs typeface="Arial"/>
              <a:sym typeface="Arial"/>
            </a:endParaRPr>
          </a:p>
        </p:txBody>
      </p:sp>
      <p:pic>
        <p:nvPicPr>
          <p:cNvPr id="313" name="Google Shape;313;p15"/>
          <p:cNvPicPr preferRelativeResize="0"/>
          <p:nvPr/>
        </p:nvPicPr>
        <p:blipFill rotWithShape="1">
          <a:blip r:embed="rId3">
            <a:alphaModFix/>
          </a:blip>
          <a:srcRect b="0" l="0" r="0" t="0"/>
          <a:stretch/>
        </p:blipFill>
        <p:spPr>
          <a:xfrm>
            <a:off x="222250" y="1066800"/>
            <a:ext cx="8693150" cy="1889125"/>
          </a:xfrm>
          <a:prstGeom prst="rect">
            <a:avLst/>
          </a:prstGeom>
          <a:noFill/>
          <a:ln>
            <a:noFill/>
          </a:ln>
        </p:spPr>
      </p:pic>
      <p:pic>
        <p:nvPicPr>
          <p:cNvPr id="314" name="Google Shape;314;p15"/>
          <p:cNvPicPr preferRelativeResize="0"/>
          <p:nvPr/>
        </p:nvPicPr>
        <p:blipFill rotWithShape="1">
          <a:blip r:embed="rId4">
            <a:alphaModFix/>
          </a:blip>
          <a:srcRect b="0" l="0" r="0" t="0"/>
          <a:stretch/>
        </p:blipFill>
        <p:spPr>
          <a:xfrm>
            <a:off x="1363662" y="1447800"/>
            <a:ext cx="6484937" cy="1828800"/>
          </a:xfrm>
          <a:prstGeom prst="rect">
            <a:avLst/>
          </a:prstGeom>
          <a:noFill/>
          <a:ln>
            <a:noFill/>
          </a:ln>
        </p:spPr>
      </p:pic>
      <p:pic>
        <p:nvPicPr>
          <p:cNvPr id="315" name="Google Shape;315;p15"/>
          <p:cNvPicPr preferRelativeResize="0"/>
          <p:nvPr/>
        </p:nvPicPr>
        <p:blipFill rotWithShape="1">
          <a:blip r:embed="rId5">
            <a:alphaModFix/>
          </a:blip>
          <a:srcRect b="0" l="0" r="0" t="0"/>
          <a:stretch/>
        </p:blipFill>
        <p:spPr>
          <a:xfrm>
            <a:off x="1219200" y="4037012"/>
            <a:ext cx="6991350" cy="2363787"/>
          </a:xfrm>
          <a:prstGeom prst="rect">
            <a:avLst/>
          </a:prstGeom>
          <a:noFill/>
          <a:ln>
            <a:noFill/>
          </a:ln>
        </p:spPr>
      </p:pic>
      <p:pic>
        <p:nvPicPr>
          <p:cNvPr id="316" name="Google Shape;316;p15"/>
          <p:cNvPicPr preferRelativeResize="0"/>
          <p:nvPr/>
        </p:nvPicPr>
        <p:blipFill rotWithShape="1">
          <a:blip r:embed="rId6">
            <a:alphaModFix/>
          </a:blip>
          <a:srcRect b="0" l="0" r="0" t="0"/>
          <a:stretch/>
        </p:blipFill>
        <p:spPr>
          <a:xfrm>
            <a:off x="1222375" y="3689350"/>
            <a:ext cx="6958012" cy="3413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325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3" name="Google Shape;323;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24" name="Google Shape;324;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25" name="Google Shape;325;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26" name="Google Shape;326;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27" name="Google Shape;327;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28" name="Google Shape;328;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29" name="Google Shape;329;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30" name="Google Shape;330;p16"/>
          <p:cNvSpPr txBox="1"/>
          <p:nvPr/>
        </p:nvSpPr>
        <p:spPr>
          <a:xfrm>
            <a:off x="1143000" y="0"/>
            <a:ext cx="809307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2.2.2 Layers in the TCP/IP Protocol Suite</a:t>
            </a:r>
            <a:endParaRPr b="0" i="0" sz="1400" u="none" cap="none" strike="noStrike">
              <a:solidFill>
                <a:srgbClr val="000000"/>
              </a:solidFill>
              <a:latin typeface="Arial"/>
              <a:ea typeface="Arial"/>
              <a:cs typeface="Arial"/>
              <a:sym typeface="Arial"/>
            </a:endParaRPr>
          </a:p>
        </p:txBody>
      </p:sp>
      <p:sp>
        <p:nvSpPr>
          <p:cNvPr id="331" name="Google Shape;331;p16"/>
          <p:cNvSpPr txBox="1"/>
          <p:nvPr/>
        </p:nvSpPr>
        <p:spPr>
          <a:xfrm>
            <a:off x="381000" y="1293812"/>
            <a:ext cx="7924800" cy="31083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After the above introduction, we briefly discuss the functions and duties of layers in the TCP/IP protocol suite. Each layer is discussed in detail in the next five parts of the book. To better understand the duties of each layer, we need to think about the logical connections between layers. Figure 2.6 shows logical connections in our simple internet.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8" name="Google Shape;338;p17"/>
          <p:cNvSpPr txBox="1"/>
          <p:nvPr/>
        </p:nvSpPr>
        <p:spPr>
          <a:xfrm>
            <a:off x="152400" y="76200"/>
            <a:ext cx="81534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2.6</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Logical connections between layers in TCP/IP</a:t>
            </a:r>
            <a:endParaRPr b="0" i="0" sz="1400" u="none" cap="none" strike="noStrike">
              <a:solidFill>
                <a:srgbClr val="000000"/>
              </a:solidFill>
              <a:latin typeface="Arial"/>
              <a:ea typeface="Arial"/>
              <a:cs typeface="Arial"/>
              <a:sym typeface="Arial"/>
            </a:endParaRPr>
          </a:p>
        </p:txBody>
      </p:sp>
      <p:pic>
        <p:nvPicPr>
          <p:cNvPr id="339" name="Google Shape;339;p17"/>
          <p:cNvPicPr preferRelativeResize="0"/>
          <p:nvPr/>
        </p:nvPicPr>
        <p:blipFill rotWithShape="1">
          <a:blip r:embed="rId3">
            <a:alphaModFix/>
          </a:blip>
          <a:srcRect b="0" l="0" r="0" t="0"/>
          <a:stretch/>
        </p:blipFill>
        <p:spPr>
          <a:xfrm>
            <a:off x="1066800" y="4497387"/>
            <a:ext cx="7142162" cy="1217612"/>
          </a:xfrm>
          <a:prstGeom prst="rect">
            <a:avLst/>
          </a:prstGeom>
          <a:noFill/>
          <a:ln>
            <a:noFill/>
          </a:ln>
        </p:spPr>
      </p:pic>
      <p:pic>
        <p:nvPicPr>
          <p:cNvPr id="340" name="Google Shape;340;p17"/>
          <p:cNvPicPr preferRelativeResize="0"/>
          <p:nvPr/>
        </p:nvPicPr>
        <p:blipFill rotWithShape="1">
          <a:blip r:embed="rId4">
            <a:alphaModFix/>
          </a:blip>
          <a:srcRect b="0" l="0" r="0" t="0"/>
          <a:stretch/>
        </p:blipFill>
        <p:spPr>
          <a:xfrm>
            <a:off x="184150" y="1774825"/>
            <a:ext cx="8731250" cy="2339975"/>
          </a:xfrm>
          <a:prstGeom prst="rect">
            <a:avLst/>
          </a:prstGeom>
          <a:noFill/>
          <a:ln>
            <a:noFill/>
          </a:ln>
        </p:spPr>
      </p:pic>
      <p:pic>
        <p:nvPicPr>
          <p:cNvPr id="341" name="Google Shape;341;p17"/>
          <p:cNvPicPr preferRelativeResize="0"/>
          <p:nvPr/>
        </p:nvPicPr>
        <p:blipFill rotWithShape="1">
          <a:blip r:embed="rId5">
            <a:alphaModFix/>
          </a:blip>
          <a:srcRect b="0" l="0" r="0" t="0"/>
          <a:stretch/>
        </p:blipFill>
        <p:spPr>
          <a:xfrm>
            <a:off x="1662112" y="2668587"/>
            <a:ext cx="5818187" cy="176212"/>
          </a:xfrm>
          <a:prstGeom prst="rect">
            <a:avLst/>
          </a:prstGeom>
          <a:noFill/>
          <a:ln>
            <a:noFill/>
          </a:ln>
        </p:spPr>
      </p:pic>
      <p:pic>
        <p:nvPicPr>
          <p:cNvPr id="342" name="Google Shape;342;p17"/>
          <p:cNvPicPr preferRelativeResize="0"/>
          <p:nvPr/>
        </p:nvPicPr>
        <p:blipFill rotWithShape="1">
          <a:blip r:embed="rId5">
            <a:alphaModFix/>
          </a:blip>
          <a:srcRect b="0" l="0" r="0" t="0"/>
          <a:stretch/>
        </p:blipFill>
        <p:spPr>
          <a:xfrm>
            <a:off x="1662112" y="2362200"/>
            <a:ext cx="5818187" cy="176212"/>
          </a:xfrm>
          <a:prstGeom prst="rect">
            <a:avLst/>
          </a:prstGeom>
          <a:noFill/>
          <a:ln>
            <a:noFill/>
          </a:ln>
        </p:spPr>
      </p:pic>
      <p:pic>
        <p:nvPicPr>
          <p:cNvPr id="343" name="Google Shape;343;p17"/>
          <p:cNvPicPr preferRelativeResize="0"/>
          <p:nvPr/>
        </p:nvPicPr>
        <p:blipFill rotWithShape="1">
          <a:blip r:embed="rId5">
            <a:alphaModFix/>
          </a:blip>
          <a:srcRect b="0" l="0" r="0" t="0"/>
          <a:stretch/>
        </p:blipFill>
        <p:spPr>
          <a:xfrm>
            <a:off x="1676400" y="2971800"/>
            <a:ext cx="5818187" cy="176212"/>
          </a:xfrm>
          <a:prstGeom prst="rect">
            <a:avLst/>
          </a:prstGeom>
          <a:noFill/>
          <a:ln>
            <a:noFill/>
          </a:ln>
        </p:spPr>
      </p:pic>
      <p:pic>
        <p:nvPicPr>
          <p:cNvPr id="344" name="Google Shape;344;p17"/>
          <p:cNvPicPr preferRelativeResize="0"/>
          <p:nvPr/>
        </p:nvPicPr>
        <p:blipFill rotWithShape="1">
          <a:blip r:embed="rId6">
            <a:alphaModFix/>
          </a:blip>
          <a:srcRect b="0" l="0" r="0" t="0"/>
          <a:stretch/>
        </p:blipFill>
        <p:spPr>
          <a:xfrm>
            <a:off x="4813300" y="3300412"/>
            <a:ext cx="2692400" cy="174625"/>
          </a:xfrm>
          <a:prstGeom prst="rect">
            <a:avLst/>
          </a:prstGeom>
          <a:noFill/>
          <a:ln>
            <a:noFill/>
          </a:ln>
        </p:spPr>
      </p:pic>
      <p:pic>
        <p:nvPicPr>
          <p:cNvPr id="345" name="Google Shape;345;p17"/>
          <p:cNvPicPr preferRelativeResize="0"/>
          <p:nvPr/>
        </p:nvPicPr>
        <p:blipFill rotWithShape="1">
          <a:blip r:embed="rId7">
            <a:alphaModFix/>
          </a:blip>
          <a:srcRect b="0" l="0" r="0" t="0"/>
          <a:stretch/>
        </p:blipFill>
        <p:spPr>
          <a:xfrm>
            <a:off x="1676400" y="3300412"/>
            <a:ext cx="2690812" cy="174625"/>
          </a:xfrm>
          <a:prstGeom prst="rect">
            <a:avLst/>
          </a:prstGeom>
          <a:noFill/>
          <a:ln>
            <a:noFill/>
          </a:ln>
        </p:spPr>
      </p:pic>
      <p:pic>
        <p:nvPicPr>
          <p:cNvPr id="346" name="Google Shape;346;p17"/>
          <p:cNvPicPr preferRelativeResize="0"/>
          <p:nvPr/>
        </p:nvPicPr>
        <p:blipFill rotWithShape="1">
          <a:blip r:embed="rId8">
            <a:alphaModFix/>
          </a:blip>
          <a:srcRect b="0" l="0" r="0" t="0"/>
          <a:stretch/>
        </p:blipFill>
        <p:spPr>
          <a:xfrm>
            <a:off x="1689100" y="3657600"/>
            <a:ext cx="2690812" cy="176212"/>
          </a:xfrm>
          <a:prstGeom prst="rect">
            <a:avLst/>
          </a:prstGeom>
          <a:noFill/>
          <a:ln>
            <a:noFill/>
          </a:ln>
        </p:spPr>
      </p:pic>
      <p:pic>
        <p:nvPicPr>
          <p:cNvPr id="347" name="Google Shape;347;p17"/>
          <p:cNvPicPr preferRelativeResize="0"/>
          <p:nvPr/>
        </p:nvPicPr>
        <p:blipFill rotWithShape="1">
          <a:blip r:embed="rId8">
            <a:alphaModFix/>
          </a:blip>
          <a:srcRect b="0" l="0" r="0" t="0"/>
          <a:stretch/>
        </p:blipFill>
        <p:spPr>
          <a:xfrm>
            <a:off x="4814887" y="3657600"/>
            <a:ext cx="2690812" cy="176212"/>
          </a:xfrm>
          <a:prstGeom prst="rect">
            <a:avLst/>
          </a:prstGeom>
          <a:noFill/>
          <a:ln>
            <a:noFill/>
          </a:ln>
        </p:spPr>
      </p:pic>
      <p:sp>
        <p:nvSpPr>
          <p:cNvPr id="348" name="Google Shape;348;p17"/>
          <p:cNvSpPr txBox="1"/>
          <p:nvPr/>
        </p:nvSpPr>
        <p:spPr>
          <a:xfrm>
            <a:off x="2503487" y="1701800"/>
            <a:ext cx="4125912"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1" lang="en-US" sz="2800" u="none" cap="none" strike="noStrike">
                <a:solidFill>
                  <a:schemeClr val="dk1"/>
                </a:solidFill>
                <a:latin typeface="Arial"/>
                <a:ea typeface="Arial"/>
                <a:cs typeface="Arial"/>
                <a:sym typeface="Arial"/>
              </a:rPr>
              <a:t>Logical</a:t>
            </a:r>
            <a:r>
              <a:rPr b="1" i="1" lang="en-US" sz="3200" u="none" cap="none" strike="noStrike">
                <a:solidFill>
                  <a:schemeClr val="dk1"/>
                </a:solidFill>
                <a:latin typeface="Arial"/>
                <a:ea typeface="Arial"/>
                <a:cs typeface="Arial"/>
                <a:sym typeface="Arial"/>
              </a:rPr>
              <a:t> connections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20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5" name="Google Shape;355;p18"/>
          <p:cNvSpPr txBox="1"/>
          <p:nvPr/>
        </p:nvSpPr>
        <p:spPr>
          <a:xfrm>
            <a:off x="152400" y="76200"/>
            <a:ext cx="81534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2.7</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Identical objects in the TCP/IP protocol suite</a:t>
            </a:r>
            <a:endParaRPr b="0" i="0" sz="1400" u="none" cap="none" strike="noStrike">
              <a:solidFill>
                <a:srgbClr val="000000"/>
              </a:solidFill>
              <a:latin typeface="Arial"/>
              <a:ea typeface="Arial"/>
              <a:cs typeface="Arial"/>
              <a:sym typeface="Arial"/>
            </a:endParaRPr>
          </a:p>
        </p:txBody>
      </p:sp>
      <p:pic>
        <p:nvPicPr>
          <p:cNvPr id="356" name="Google Shape;356;p18"/>
          <p:cNvPicPr preferRelativeResize="0"/>
          <p:nvPr/>
        </p:nvPicPr>
        <p:blipFill rotWithShape="1">
          <a:blip r:embed="rId3">
            <a:alphaModFix/>
          </a:blip>
          <a:srcRect b="0" l="0" r="0" t="0"/>
          <a:stretch/>
        </p:blipFill>
        <p:spPr>
          <a:xfrm>
            <a:off x="381000" y="1916112"/>
            <a:ext cx="8161337" cy="3427412"/>
          </a:xfrm>
          <a:prstGeom prst="rect">
            <a:avLst/>
          </a:prstGeom>
          <a:noFill/>
          <a:ln>
            <a:noFill/>
          </a:ln>
        </p:spPr>
      </p:pic>
      <p:pic>
        <p:nvPicPr>
          <p:cNvPr id="357" name="Google Shape;357;p18"/>
          <p:cNvPicPr preferRelativeResize="0"/>
          <p:nvPr/>
        </p:nvPicPr>
        <p:blipFill rotWithShape="1">
          <a:blip r:embed="rId4">
            <a:alphaModFix/>
          </a:blip>
          <a:srcRect b="0" l="0" r="0" t="0"/>
          <a:stretch/>
        </p:blipFill>
        <p:spPr>
          <a:xfrm>
            <a:off x="1371600" y="2514600"/>
            <a:ext cx="6126162" cy="3179762"/>
          </a:xfrm>
          <a:prstGeom prst="rect">
            <a:avLst/>
          </a:prstGeom>
          <a:noFill/>
          <a:ln>
            <a:noFill/>
          </a:ln>
        </p:spPr>
      </p:pic>
      <p:pic>
        <p:nvPicPr>
          <p:cNvPr id="358" name="Google Shape;358;p18"/>
          <p:cNvPicPr preferRelativeResize="0"/>
          <p:nvPr/>
        </p:nvPicPr>
        <p:blipFill rotWithShape="1">
          <a:blip r:embed="rId5">
            <a:alphaModFix/>
          </a:blip>
          <a:srcRect b="0" l="0" r="0" t="0"/>
          <a:stretch/>
        </p:blipFill>
        <p:spPr>
          <a:xfrm>
            <a:off x="1549400" y="5154612"/>
            <a:ext cx="2663825" cy="103187"/>
          </a:xfrm>
          <a:prstGeom prst="rect">
            <a:avLst/>
          </a:prstGeom>
          <a:noFill/>
          <a:ln>
            <a:noFill/>
          </a:ln>
        </p:spPr>
      </p:pic>
      <p:pic>
        <p:nvPicPr>
          <p:cNvPr id="359" name="Google Shape;359;p18"/>
          <p:cNvPicPr preferRelativeResize="0"/>
          <p:nvPr/>
        </p:nvPicPr>
        <p:blipFill rotWithShape="1">
          <a:blip r:embed="rId5">
            <a:alphaModFix/>
          </a:blip>
          <a:srcRect b="0" l="0" r="0" t="0"/>
          <a:stretch/>
        </p:blipFill>
        <p:spPr>
          <a:xfrm>
            <a:off x="1549400" y="4343400"/>
            <a:ext cx="2663825" cy="103187"/>
          </a:xfrm>
          <a:prstGeom prst="rect">
            <a:avLst/>
          </a:prstGeom>
          <a:noFill/>
          <a:ln>
            <a:noFill/>
          </a:ln>
        </p:spPr>
      </p:pic>
      <p:pic>
        <p:nvPicPr>
          <p:cNvPr id="360" name="Google Shape;360;p18"/>
          <p:cNvPicPr preferRelativeResize="0"/>
          <p:nvPr/>
        </p:nvPicPr>
        <p:blipFill rotWithShape="1">
          <a:blip r:embed="rId5">
            <a:alphaModFix/>
          </a:blip>
          <a:srcRect b="0" l="0" r="0" t="0"/>
          <a:stretch/>
        </p:blipFill>
        <p:spPr>
          <a:xfrm>
            <a:off x="1549400" y="3810000"/>
            <a:ext cx="2663825" cy="103187"/>
          </a:xfrm>
          <a:prstGeom prst="rect">
            <a:avLst/>
          </a:prstGeom>
          <a:noFill/>
          <a:ln>
            <a:noFill/>
          </a:ln>
        </p:spPr>
      </p:pic>
      <p:pic>
        <p:nvPicPr>
          <p:cNvPr id="361" name="Google Shape;361;p18"/>
          <p:cNvPicPr preferRelativeResize="0"/>
          <p:nvPr/>
        </p:nvPicPr>
        <p:blipFill rotWithShape="1">
          <a:blip r:embed="rId5">
            <a:alphaModFix/>
          </a:blip>
          <a:srcRect b="0" l="0" r="0" t="0"/>
          <a:stretch/>
        </p:blipFill>
        <p:spPr>
          <a:xfrm>
            <a:off x="4786312" y="3810000"/>
            <a:ext cx="2663825" cy="103187"/>
          </a:xfrm>
          <a:prstGeom prst="rect">
            <a:avLst/>
          </a:prstGeom>
          <a:noFill/>
          <a:ln>
            <a:noFill/>
          </a:ln>
        </p:spPr>
      </p:pic>
      <p:pic>
        <p:nvPicPr>
          <p:cNvPr id="362" name="Google Shape;362;p18"/>
          <p:cNvPicPr preferRelativeResize="0"/>
          <p:nvPr/>
        </p:nvPicPr>
        <p:blipFill rotWithShape="1">
          <a:blip r:embed="rId5">
            <a:alphaModFix/>
          </a:blip>
          <a:srcRect b="0" l="0" r="0" t="0"/>
          <a:stretch/>
        </p:blipFill>
        <p:spPr>
          <a:xfrm>
            <a:off x="4786312" y="4343400"/>
            <a:ext cx="2663825" cy="103187"/>
          </a:xfrm>
          <a:prstGeom prst="rect">
            <a:avLst/>
          </a:prstGeom>
          <a:noFill/>
          <a:ln>
            <a:noFill/>
          </a:ln>
        </p:spPr>
      </p:pic>
      <p:pic>
        <p:nvPicPr>
          <p:cNvPr id="363" name="Google Shape;363;p18"/>
          <p:cNvPicPr preferRelativeResize="0"/>
          <p:nvPr/>
        </p:nvPicPr>
        <p:blipFill rotWithShape="1">
          <a:blip r:embed="rId5">
            <a:alphaModFix/>
          </a:blip>
          <a:srcRect b="0" l="0" r="0" t="0"/>
          <a:stretch/>
        </p:blipFill>
        <p:spPr>
          <a:xfrm>
            <a:off x="4786312" y="5154612"/>
            <a:ext cx="2663825" cy="103187"/>
          </a:xfrm>
          <a:prstGeom prst="rect">
            <a:avLst/>
          </a:prstGeom>
          <a:noFill/>
          <a:ln>
            <a:noFill/>
          </a:ln>
        </p:spPr>
      </p:pic>
      <p:pic>
        <p:nvPicPr>
          <p:cNvPr id="364" name="Google Shape;364;p18"/>
          <p:cNvPicPr preferRelativeResize="0"/>
          <p:nvPr/>
        </p:nvPicPr>
        <p:blipFill rotWithShape="1">
          <a:blip r:embed="rId6">
            <a:alphaModFix/>
          </a:blip>
          <a:srcRect b="0" l="0" r="0" t="0"/>
          <a:stretch/>
        </p:blipFill>
        <p:spPr>
          <a:xfrm>
            <a:off x="1651000" y="2528887"/>
            <a:ext cx="5672137" cy="103187"/>
          </a:xfrm>
          <a:prstGeom prst="rect">
            <a:avLst/>
          </a:prstGeom>
          <a:noFill/>
          <a:ln>
            <a:noFill/>
          </a:ln>
        </p:spPr>
      </p:pic>
      <p:pic>
        <p:nvPicPr>
          <p:cNvPr id="365" name="Google Shape;365;p18"/>
          <p:cNvPicPr preferRelativeResize="0"/>
          <p:nvPr/>
        </p:nvPicPr>
        <p:blipFill rotWithShape="1">
          <a:blip r:embed="rId6">
            <a:alphaModFix/>
          </a:blip>
          <a:srcRect b="0" l="0" r="0" t="0"/>
          <a:stretch/>
        </p:blipFill>
        <p:spPr>
          <a:xfrm>
            <a:off x="1651000" y="3048000"/>
            <a:ext cx="5672137" cy="103187"/>
          </a:xfrm>
          <a:prstGeom prst="rect">
            <a:avLst/>
          </a:prstGeom>
          <a:noFill/>
          <a:ln>
            <a:noFill/>
          </a:ln>
        </p:spPr>
      </p:pic>
      <p:pic>
        <p:nvPicPr>
          <p:cNvPr id="366" name="Google Shape;366;p18"/>
          <p:cNvPicPr preferRelativeResize="0"/>
          <p:nvPr/>
        </p:nvPicPr>
        <p:blipFill rotWithShape="1">
          <a:blip r:embed="rId7">
            <a:alphaModFix/>
          </a:blip>
          <a:srcRect b="0" l="0" r="0" t="0"/>
          <a:stretch/>
        </p:blipFill>
        <p:spPr>
          <a:xfrm>
            <a:off x="1676400" y="1152525"/>
            <a:ext cx="5434012" cy="219075"/>
          </a:xfrm>
          <a:prstGeom prst="rect">
            <a:avLst/>
          </a:prstGeom>
          <a:noFill/>
          <a:ln>
            <a:noFill/>
          </a:ln>
        </p:spPr>
      </p:pic>
      <p:sp>
        <p:nvSpPr>
          <p:cNvPr id="367" name="Google Shape;367;p18"/>
          <p:cNvSpPr txBox="1"/>
          <p:nvPr/>
        </p:nvSpPr>
        <p:spPr>
          <a:xfrm>
            <a:off x="3317875" y="2144712"/>
            <a:ext cx="23114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(messages)</a:t>
            </a:r>
            <a:endParaRPr b="0" i="0" sz="1400" u="none" cap="none" strike="noStrike">
              <a:solidFill>
                <a:srgbClr val="000000"/>
              </a:solidFill>
              <a:latin typeface="Arial"/>
              <a:ea typeface="Arial"/>
              <a:cs typeface="Arial"/>
              <a:sym typeface="Arial"/>
            </a:endParaRPr>
          </a:p>
        </p:txBody>
      </p:sp>
      <p:sp>
        <p:nvSpPr>
          <p:cNvPr id="368" name="Google Shape;368;p18"/>
          <p:cNvSpPr txBox="1"/>
          <p:nvPr/>
        </p:nvSpPr>
        <p:spPr>
          <a:xfrm>
            <a:off x="2667000" y="2700337"/>
            <a:ext cx="36131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(segment or user datagram)</a:t>
            </a:r>
            <a:endParaRPr b="0" i="0" sz="1400" u="none" cap="none" strike="noStrike">
              <a:solidFill>
                <a:srgbClr val="000000"/>
              </a:solidFill>
              <a:latin typeface="Arial"/>
              <a:ea typeface="Arial"/>
              <a:cs typeface="Arial"/>
              <a:sym typeface="Arial"/>
            </a:endParaRPr>
          </a:p>
        </p:txBody>
      </p:sp>
      <p:sp>
        <p:nvSpPr>
          <p:cNvPr id="369" name="Google Shape;369;p18"/>
          <p:cNvSpPr txBox="1"/>
          <p:nvPr/>
        </p:nvSpPr>
        <p:spPr>
          <a:xfrm>
            <a:off x="1725612" y="3463925"/>
            <a:ext cx="235743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(datagram)</a:t>
            </a:r>
            <a:endParaRPr b="0" i="0" sz="1400" u="none" cap="none" strike="noStrike">
              <a:solidFill>
                <a:srgbClr val="000000"/>
              </a:solidFill>
              <a:latin typeface="Arial"/>
              <a:ea typeface="Arial"/>
              <a:cs typeface="Arial"/>
              <a:sym typeface="Arial"/>
            </a:endParaRPr>
          </a:p>
        </p:txBody>
      </p:sp>
      <p:sp>
        <p:nvSpPr>
          <p:cNvPr id="370" name="Google Shape;370;p18"/>
          <p:cNvSpPr txBox="1"/>
          <p:nvPr/>
        </p:nvSpPr>
        <p:spPr>
          <a:xfrm>
            <a:off x="1870075" y="4035425"/>
            <a:ext cx="206851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(frame)</a:t>
            </a:r>
            <a:endParaRPr b="0" i="0" sz="1400" u="none" cap="none" strike="noStrike">
              <a:solidFill>
                <a:srgbClr val="000000"/>
              </a:solidFill>
              <a:latin typeface="Arial"/>
              <a:ea typeface="Arial"/>
              <a:cs typeface="Arial"/>
              <a:sym typeface="Arial"/>
            </a:endParaRPr>
          </a:p>
        </p:txBody>
      </p:sp>
      <p:sp>
        <p:nvSpPr>
          <p:cNvPr id="371" name="Google Shape;371;p18"/>
          <p:cNvSpPr txBox="1"/>
          <p:nvPr/>
        </p:nvSpPr>
        <p:spPr>
          <a:xfrm>
            <a:off x="1960562" y="4822825"/>
            <a:ext cx="188912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(bits)</a:t>
            </a:r>
            <a:endParaRPr b="0" i="0" sz="1400" u="none" cap="none" strike="noStrike">
              <a:solidFill>
                <a:srgbClr val="000000"/>
              </a:solidFill>
              <a:latin typeface="Arial"/>
              <a:ea typeface="Arial"/>
              <a:cs typeface="Arial"/>
              <a:sym typeface="Arial"/>
            </a:endParaRPr>
          </a:p>
        </p:txBody>
      </p:sp>
      <p:sp>
        <p:nvSpPr>
          <p:cNvPr id="372" name="Google Shape;372;p18"/>
          <p:cNvSpPr txBox="1"/>
          <p:nvPr/>
        </p:nvSpPr>
        <p:spPr>
          <a:xfrm>
            <a:off x="4967287" y="3435350"/>
            <a:ext cx="23558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(datagram)</a:t>
            </a:r>
            <a:endParaRPr b="0" i="0" sz="1400" u="none" cap="none" strike="noStrike">
              <a:solidFill>
                <a:srgbClr val="000000"/>
              </a:solidFill>
              <a:latin typeface="Arial"/>
              <a:ea typeface="Arial"/>
              <a:cs typeface="Arial"/>
              <a:sym typeface="Arial"/>
            </a:endParaRPr>
          </a:p>
        </p:txBody>
      </p:sp>
      <p:sp>
        <p:nvSpPr>
          <p:cNvPr id="373" name="Google Shape;373;p18"/>
          <p:cNvSpPr txBox="1"/>
          <p:nvPr/>
        </p:nvSpPr>
        <p:spPr>
          <a:xfrm>
            <a:off x="5111750" y="4035425"/>
            <a:ext cx="206692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(frame)</a:t>
            </a:r>
            <a:endParaRPr b="0" i="0" sz="1400" u="none" cap="none" strike="noStrike">
              <a:solidFill>
                <a:srgbClr val="000000"/>
              </a:solidFill>
              <a:latin typeface="Arial"/>
              <a:ea typeface="Arial"/>
              <a:cs typeface="Arial"/>
              <a:sym typeface="Arial"/>
            </a:endParaRPr>
          </a:p>
        </p:txBody>
      </p:sp>
      <p:sp>
        <p:nvSpPr>
          <p:cNvPr id="374" name="Google Shape;374;p18"/>
          <p:cNvSpPr txBox="1"/>
          <p:nvPr/>
        </p:nvSpPr>
        <p:spPr>
          <a:xfrm>
            <a:off x="5200650" y="4800600"/>
            <a:ext cx="188912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Identical objects (bits)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2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1" name="Google Shape;381;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2" name="Google Shape;382;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3" name="Google Shape;383;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4" name="Google Shape;384;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5" name="Google Shape;385;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6" name="Google Shape;386;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7" name="Google Shape;387;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88" name="Google Shape;388;p19"/>
          <p:cNvSpPr txBox="1"/>
          <p:nvPr/>
        </p:nvSpPr>
        <p:spPr>
          <a:xfrm>
            <a:off x="1143000" y="0"/>
            <a:ext cx="637857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2.2.3  Description of Each Layer</a:t>
            </a:r>
            <a:endParaRPr b="0" i="0" sz="1400" u="none" cap="none" strike="noStrike">
              <a:solidFill>
                <a:srgbClr val="000000"/>
              </a:solidFill>
              <a:latin typeface="Arial"/>
              <a:ea typeface="Arial"/>
              <a:cs typeface="Arial"/>
              <a:sym typeface="Arial"/>
            </a:endParaRPr>
          </a:p>
        </p:txBody>
      </p:sp>
      <p:sp>
        <p:nvSpPr>
          <p:cNvPr id="389" name="Google Shape;389;p19"/>
          <p:cNvSpPr txBox="1"/>
          <p:nvPr/>
        </p:nvSpPr>
        <p:spPr>
          <a:xfrm>
            <a:off x="381000" y="1293812"/>
            <a:ext cx="7924800" cy="22463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After understanding the concept of logical communication, we are ready to briefly discuss the duty of each layer. Our discussion in this chapter will be very brief, but we come back to the duty of each layer in next five parts of the book.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96" name="Google Shape;396;p2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97" name="Google Shape;397;p2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98" name="Google Shape;398;p2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399" name="Google Shape;399;p2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00" name="Google Shape;400;p2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01" name="Google Shape;401;p2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02" name="Google Shape;402;p2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03" name="Google Shape;403;p20"/>
          <p:cNvSpPr txBox="1"/>
          <p:nvPr/>
        </p:nvSpPr>
        <p:spPr>
          <a:xfrm>
            <a:off x="1143000" y="0"/>
            <a:ext cx="78025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2.2.4  Encapsulation and Decapsulation</a:t>
            </a:r>
            <a:endParaRPr b="0" i="0" sz="1400" u="none" cap="none" strike="noStrike">
              <a:solidFill>
                <a:srgbClr val="000000"/>
              </a:solidFill>
              <a:latin typeface="Arial"/>
              <a:ea typeface="Arial"/>
              <a:cs typeface="Arial"/>
              <a:sym typeface="Arial"/>
            </a:endParaRPr>
          </a:p>
        </p:txBody>
      </p:sp>
      <p:sp>
        <p:nvSpPr>
          <p:cNvPr id="404" name="Google Shape;404;p20"/>
          <p:cNvSpPr txBox="1"/>
          <p:nvPr/>
        </p:nvSpPr>
        <p:spPr>
          <a:xfrm>
            <a:off x="381000" y="1293812"/>
            <a:ext cx="7924800" cy="1816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One of the important concepts in protocol layering in the Internet is encapsulation/ decapsulation. Figure 2.8 shows this concept for the small internet in Figure 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11" name="Google Shape;411;p21"/>
          <p:cNvSpPr txBox="1"/>
          <p:nvPr/>
        </p:nvSpPr>
        <p:spPr>
          <a:xfrm>
            <a:off x="152400" y="76200"/>
            <a:ext cx="81534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2.8</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Encapsulation / Decapsulation</a:t>
            </a:r>
            <a:endParaRPr b="0" i="0" sz="1400" u="none" cap="none" strike="noStrike">
              <a:solidFill>
                <a:srgbClr val="000000"/>
              </a:solidFill>
              <a:latin typeface="Arial"/>
              <a:ea typeface="Arial"/>
              <a:cs typeface="Arial"/>
              <a:sym typeface="Arial"/>
            </a:endParaRPr>
          </a:p>
        </p:txBody>
      </p:sp>
      <p:pic>
        <p:nvPicPr>
          <p:cNvPr id="412" name="Google Shape;412;p21"/>
          <p:cNvPicPr preferRelativeResize="0"/>
          <p:nvPr/>
        </p:nvPicPr>
        <p:blipFill rotWithShape="1">
          <a:blip r:embed="rId3">
            <a:alphaModFix/>
          </a:blip>
          <a:srcRect b="0" l="0" r="0" t="0"/>
          <a:stretch/>
        </p:blipFill>
        <p:spPr>
          <a:xfrm>
            <a:off x="1827212" y="3176587"/>
            <a:ext cx="860425" cy="2157412"/>
          </a:xfrm>
          <a:prstGeom prst="rect">
            <a:avLst/>
          </a:prstGeom>
          <a:noFill/>
          <a:ln>
            <a:noFill/>
          </a:ln>
        </p:spPr>
      </p:pic>
      <p:pic>
        <p:nvPicPr>
          <p:cNvPr id="413" name="Google Shape;413;p21"/>
          <p:cNvPicPr preferRelativeResize="0"/>
          <p:nvPr/>
        </p:nvPicPr>
        <p:blipFill rotWithShape="1">
          <a:blip r:embed="rId4">
            <a:alphaModFix/>
          </a:blip>
          <a:srcRect b="0" l="0" r="0" t="0"/>
          <a:stretch/>
        </p:blipFill>
        <p:spPr>
          <a:xfrm>
            <a:off x="6251575" y="3176587"/>
            <a:ext cx="1063625" cy="2157412"/>
          </a:xfrm>
          <a:prstGeom prst="rect">
            <a:avLst/>
          </a:prstGeom>
          <a:noFill/>
          <a:ln>
            <a:noFill/>
          </a:ln>
        </p:spPr>
      </p:pic>
      <p:pic>
        <p:nvPicPr>
          <p:cNvPr id="414" name="Google Shape;414;p21"/>
          <p:cNvPicPr preferRelativeResize="0"/>
          <p:nvPr/>
        </p:nvPicPr>
        <p:blipFill rotWithShape="1">
          <a:blip r:embed="rId5">
            <a:alphaModFix/>
          </a:blip>
          <a:srcRect b="0" l="0" r="0" t="0"/>
          <a:stretch/>
        </p:blipFill>
        <p:spPr>
          <a:xfrm>
            <a:off x="4143375" y="4084637"/>
            <a:ext cx="704850" cy="1249362"/>
          </a:xfrm>
          <a:prstGeom prst="rect">
            <a:avLst/>
          </a:prstGeom>
          <a:noFill/>
          <a:ln>
            <a:noFill/>
          </a:ln>
        </p:spPr>
      </p:pic>
      <p:pic>
        <p:nvPicPr>
          <p:cNvPr id="415" name="Google Shape;415;p21"/>
          <p:cNvPicPr preferRelativeResize="0"/>
          <p:nvPr/>
        </p:nvPicPr>
        <p:blipFill rotWithShape="1">
          <a:blip r:embed="rId6">
            <a:alphaModFix/>
          </a:blip>
          <a:srcRect b="0" l="0" r="0" t="0"/>
          <a:stretch/>
        </p:blipFill>
        <p:spPr>
          <a:xfrm>
            <a:off x="468312" y="4029075"/>
            <a:ext cx="1158875" cy="1055687"/>
          </a:xfrm>
          <a:prstGeom prst="rect">
            <a:avLst/>
          </a:prstGeom>
          <a:noFill/>
          <a:ln>
            <a:noFill/>
          </a:ln>
        </p:spPr>
      </p:pic>
      <p:pic>
        <p:nvPicPr>
          <p:cNvPr id="416" name="Google Shape;416;p21"/>
          <p:cNvPicPr preferRelativeResize="0"/>
          <p:nvPr/>
        </p:nvPicPr>
        <p:blipFill rotWithShape="1">
          <a:blip r:embed="rId7">
            <a:alphaModFix/>
          </a:blip>
          <a:srcRect b="0" l="0" r="0" t="0"/>
          <a:stretch/>
        </p:blipFill>
        <p:spPr>
          <a:xfrm>
            <a:off x="2971800" y="4470400"/>
            <a:ext cx="1104900" cy="538162"/>
          </a:xfrm>
          <a:prstGeom prst="rect">
            <a:avLst/>
          </a:prstGeom>
          <a:noFill/>
          <a:ln>
            <a:noFill/>
          </a:ln>
        </p:spPr>
      </p:pic>
      <p:pic>
        <p:nvPicPr>
          <p:cNvPr id="417" name="Google Shape;417;p21"/>
          <p:cNvPicPr preferRelativeResize="0"/>
          <p:nvPr/>
        </p:nvPicPr>
        <p:blipFill rotWithShape="1">
          <a:blip r:embed="rId8">
            <a:alphaModFix/>
          </a:blip>
          <a:srcRect b="0" l="0" r="0" t="0"/>
          <a:stretch/>
        </p:blipFill>
        <p:spPr>
          <a:xfrm>
            <a:off x="4953000" y="4475162"/>
            <a:ext cx="1090612" cy="487362"/>
          </a:xfrm>
          <a:prstGeom prst="rect">
            <a:avLst/>
          </a:prstGeom>
          <a:noFill/>
          <a:ln>
            <a:noFill/>
          </a:ln>
        </p:spPr>
      </p:pic>
      <p:pic>
        <p:nvPicPr>
          <p:cNvPr id="418" name="Google Shape;418;p21"/>
          <p:cNvPicPr preferRelativeResize="0"/>
          <p:nvPr/>
        </p:nvPicPr>
        <p:blipFill rotWithShape="1">
          <a:blip r:embed="rId9">
            <a:alphaModFix/>
          </a:blip>
          <a:srcRect b="0" l="0" r="0" t="0"/>
          <a:stretch/>
        </p:blipFill>
        <p:spPr>
          <a:xfrm>
            <a:off x="7315200" y="4017962"/>
            <a:ext cx="1135062" cy="1066800"/>
          </a:xfrm>
          <a:prstGeom prst="rect">
            <a:avLst/>
          </a:prstGeom>
          <a:noFill/>
          <a:ln>
            <a:noFill/>
          </a:ln>
        </p:spPr>
      </p:pic>
      <p:pic>
        <p:nvPicPr>
          <p:cNvPr id="419" name="Google Shape;419;p21"/>
          <p:cNvPicPr preferRelativeResize="0"/>
          <p:nvPr/>
        </p:nvPicPr>
        <p:blipFill rotWithShape="1">
          <a:blip r:embed="rId10">
            <a:alphaModFix/>
          </a:blip>
          <a:srcRect b="0" l="0" r="0" t="0"/>
          <a:stretch/>
        </p:blipFill>
        <p:spPr>
          <a:xfrm>
            <a:off x="2590800" y="1801812"/>
            <a:ext cx="3582987" cy="941387"/>
          </a:xfrm>
          <a:prstGeom prst="rect">
            <a:avLst/>
          </a:prstGeom>
          <a:noFill/>
          <a:ln>
            <a:noFill/>
          </a:ln>
        </p:spPr>
      </p:pic>
      <p:pic>
        <p:nvPicPr>
          <p:cNvPr id="420" name="Google Shape;420;p21"/>
          <p:cNvPicPr preferRelativeResize="0"/>
          <p:nvPr/>
        </p:nvPicPr>
        <p:blipFill rotWithShape="1">
          <a:blip r:embed="rId11">
            <a:alphaModFix/>
          </a:blip>
          <a:srcRect b="0" l="0" r="0" t="0"/>
          <a:stretch/>
        </p:blipFill>
        <p:spPr>
          <a:xfrm>
            <a:off x="2209800" y="3810000"/>
            <a:ext cx="4573587" cy="17319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5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822"/>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7" name="Google Shape;427;p2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28" name="Google Shape;428;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29" name="Google Shape;429;p2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30" name="Google Shape;430;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31" name="Google Shape;431;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32" name="Google Shape;432;p2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33" name="Google Shape;433;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34" name="Google Shape;434;p22"/>
          <p:cNvSpPr txBox="1"/>
          <p:nvPr/>
        </p:nvSpPr>
        <p:spPr>
          <a:xfrm>
            <a:off x="1143000" y="0"/>
            <a:ext cx="333533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2.2.5 Addressing</a:t>
            </a:r>
            <a:endParaRPr b="0" i="0" sz="1400" u="none" cap="none" strike="noStrike">
              <a:solidFill>
                <a:srgbClr val="000000"/>
              </a:solidFill>
              <a:latin typeface="Arial"/>
              <a:ea typeface="Arial"/>
              <a:cs typeface="Arial"/>
              <a:sym typeface="Arial"/>
            </a:endParaRPr>
          </a:p>
        </p:txBody>
      </p:sp>
      <p:sp>
        <p:nvSpPr>
          <p:cNvPr id="435" name="Google Shape;435;p22"/>
          <p:cNvSpPr txBox="1"/>
          <p:nvPr/>
        </p:nvSpPr>
        <p:spPr>
          <a:xfrm>
            <a:off x="381000" y="1293812"/>
            <a:ext cx="7924800" cy="52625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It is worth mentioning another concept related to protocol layering in the Internet, addressing. As we discussed before, we have logical communication between pairs of layers in this model. Any communication that involves two parties needs two addresses: source address and destination address. Although it looks as if we need five pairs of addresses, one pair per layer, we normally have only four because the physical layer does not need addresses; the unit of data exchange at the physical layer is a bit, which definitely cannot have an address.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2" name="Google Shape;442;p23"/>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cap="none" strike="noStrike">
                <a:solidFill>
                  <a:srgbClr val="FF0000"/>
                </a:solidFill>
                <a:latin typeface="Times"/>
                <a:ea typeface="Times"/>
                <a:cs typeface="Times"/>
                <a:sym typeface="Times"/>
              </a:rPr>
              <a:t>Figure 2.9</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Addressing in the TCP/IP protocol suite</a:t>
            </a:r>
            <a:endParaRPr b="0" i="0" sz="1400" u="none" cap="none" strike="noStrike">
              <a:solidFill>
                <a:srgbClr val="000000"/>
              </a:solidFill>
              <a:latin typeface="Arial"/>
              <a:ea typeface="Arial"/>
              <a:cs typeface="Arial"/>
              <a:sym typeface="Arial"/>
            </a:endParaRPr>
          </a:p>
        </p:txBody>
      </p:sp>
      <p:pic>
        <p:nvPicPr>
          <p:cNvPr id="443" name="Google Shape;443;p23"/>
          <p:cNvPicPr preferRelativeResize="0"/>
          <p:nvPr/>
        </p:nvPicPr>
        <p:blipFill rotWithShape="1">
          <a:blip r:embed="rId3">
            <a:alphaModFix/>
          </a:blip>
          <a:srcRect b="0" l="0" r="0" t="0"/>
          <a:stretch/>
        </p:blipFill>
        <p:spPr>
          <a:xfrm>
            <a:off x="1143000" y="990600"/>
            <a:ext cx="6235700" cy="292100"/>
          </a:xfrm>
          <a:prstGeom prst="rect">
            <a:avLst/>
          </a:prstGeom>
          <a:noFill/>
          <a:ln>
            <a:noFill/>
          </a:ln>
        </p:spPr>
      </p:pic>
      <p:pic>
        <p:nvPicPr>
          <p:cNvPr id="444" name="Google Shape;444;p23"/>
          <p:cNvPicPr preferRelativeResize="0"/>
          <p:nvPr/>
        </p:nvPicPr>
        <p:blipFill rotWithShape="1">
          <a:blip r:embed="rId4">
            <a:alphaModFix/>
          </a:blip>
          <a:srcRect b="0" l="0" r="0" t="0"/>
          <a:stretch/>
        </p:blipFill>
        <p:spPr>
          <a:xfrm>
            <a:off x="1828800" y="1676400"/>
            <a:ext cx="5237162" cy="566737"/>
          </a:xfrm>
          <a:prstGeom prst="rect">
            <a:avLst/>
          </a:prstGeom>
          <a:noFill/>
          <a:ln>
            <a:noFill/>
          </a:ln>
        </p:spPr>
      </p:pic>
      <p:pic>
        <p:nvPicPr>
          <p:cNvPr id="445" name="Google Shape;445;p23"/>
          <p:cNvPicPr preferRelativeResize="0"/>
          <p:nvPr/>
        </p:nvPicPr>
        <p:blipFill rotWithShape="1">
          <a:blip r:embed="rId5">
            <a:alphaModFix/>
          </a:blip>
          <a:srcRect b="0" l="0" r="0" t="0"/>
          <a:stretch/>
        </p:blipFill>
        <p:spPr>
          <a:xfrm>
            <a:off x="104775" y="2647950"/>
            <a:ext cx="7591425" cy="566737"/>
          </a:xfrm>
          <a:prstGeom prst="rect">
            <a:avLst/>
          </a:prstGeom>
          <a:noFill/>
          <a:ln>
            <a:noFill/>
          </a:ln>
        </p:spPr>
      </p:pic>
      <p:pic>
        <p:nvPicPr>
          <p:cNvPr id="446" name="Google Shape;446;p23"/>
          <p:cNvPicPr preferRelativeResize="0"/>
          <p:nvPr/>
        </p:nvPicPr>
        <p:blipFill rotWithShape="1">
          <a:blip r:embed="rId6">
            <a:alphaModFix/>
          </a:blip>
          <a:srcRect b="0" l="0" r="0" t="0"/>
          <a:stretch/>
        </p:blipFill>
        <p:spPr>
          <a:xfrm>
            <a:off x="1690687" y="3619500"/>
            <a:ext cx="6462712" cy="566737"/>
          </a:xfrm>
          <a:prstGeom prst="rect">
            <a:avLst/>
          </a:prstGeom>
          <a:noFill/>
          <a:ln>
            <a:noFill/>
          </a:ln>
        </p:spPr>
      </p:pic>
      <p:pic>
        <p:nvPicPr>
          <p:cNvPr id="447" name="Google Shape;447;p23"/>
          <p:cNvPicPr preferRelativeResize="0"/>
          <p:nvPr/>
        </p:nvPicPr>
        <p:blipFill rotWithShape="1">
          <a:blip r:embed="rId7">
            <a:alphaModFix/>
          </a:blip>
          <a:srcRect b="0" l="0" r="0" t="0"/>
          <a:stretch/>
        </p:blipFill>
        <p:spPr>
          <a:xfrm>
            <a:off x="2049462" y="4591050"/>
            <a:ext cx="6408737" cy="566737"/>
          </a:xfrm>
          <a:prstGeom prst="rect">
            <a:avLst/>
          </a:prstGeom>
          <a:noFill/>
          <a:ln>
            <a:noFill/>
          </a:ln>
        </p:spPr>
      </p:pic>
      <p:pic>
        <p:nvPicPr>
          <p:cNvPr id="448" name="Google Shape;448;p23"/>
          <p:cNvPicPr preferRelativeResize="0"/>
          <p:nvPr/>
        </p:nvPicPr>
        <p:blipFill rotWithShape="1">
          <a:blip r:embed="rId8">
            <a:alphaModFix/>
          </a:blip>
          <a:srcRect b="0" l="0" r="0" t="0"/>
          <a:stretch/>
        </p:blipFill>
        <p:spPr>
          <a:xfrm>
            <a:off x="2273300" y="5562600"/>
            <a:ext cx="3822700" cy="5667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55" name="Google Shape;455;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56" name="Google Shape;456;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57" name="Google Shape;457;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58" name="Google Shape;458;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59" name="Google Shape;459;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60" name="Google Shape;460;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61" name="Google Shape;461;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62" name="Google Shape;462;p24"/>
          <p:cNvSpPr txBox="1"/>
          <p:nvPr/>
        </p:nvSpPr>
        <p:spPr>
          <a:xfrm>
            <a:off x="1143000" y="0"/>
            <a:ext cx="758348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2.2.6 Multiplexing and Demultiplexing</a:t>
            </a:r>
            <a:endParaRPr b="0" i="0" sz="1400" u="none" cap="none" strike="noStrike">
              <a:solidFill>
                <a:srgbClr val="000000"/>
              </a:solidFill>
              <a:latin typeface="Arial"/>
              <a:ea typeface="Arial"/>
              <a:cs typeface="Arial"/>
              <a:sym typeface="Arial"/>
            </a:endParaRPr>
          </a:p>
        </p:txBody>
      </p:sp>
      <p:sp>
        <p:nvSpPr>
          <p:cNvPr id="463" name="Google Shape;463;p24"/>
          <p:cNvSpPr txBox="1"/>
          <p:nvPr/>
        </p:nvSpPr>
        <p:spPr>
          <a:xfrm>
            <a:off x="381000" y="1293812"/>
            <a:ext cx="7924800" cy="48323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Since the TCP/IP protocol suite uses several protocols at some layers, we can say that we have multiplexing at the source and demultiplexing at the destination. Multiplexing in this case means that a protocol at a layer can encapsulate a packet from several next-higher layer protocols (one at a time); demultiplexing means that a protocol can decapsulate and deliver a packet to several next-higher layer protocols (one at a time). Figure 2.10 shows the concept of multiplexing and demultiplexing at the three upper layers.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0" name="Google Shape;470;p25"/>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cap="none" strike="noStrike">
                <a:solidFill>
                  <a:srgbClr val="FF0000"/>
                </a:solidFill>
                <a:latin typeface="Times"/>
                <a:ea typeface="Times"/>
                <a:cs typeface="Times"/>
                <a:sym typeface="Times"/>
              </a:rPr>
              <a:t>Figure 2.10:  </a:t>
            </a:r>
            <a:r>
              <a:rPr b="1" i="1" lang="en-US" sz="2000" u="none" cap="none" strike="noStrike">
                <a:solidFill>
                  <a:schemeClr val="dk1"/>
                </a:solidFill>
                <a:latin typeface="Times"/>
                <a:ea typeface="Times"/>
                <a:cs typeface="Times"/>
                <a:sym typeface="Times"/>
              </a:rPr>
              <a:t>Multiplexing and demultiplexing</a:t>
            </a:r>
            <a:endParaRPr b="0" i="0" sz="1400" u="none" cap="none" strike="noStrike">
              <a:solidFill>
                <a:srgbClr val="000000"/>
              </a:solidFill>
              <a:latin typeface="Arial"/>
              <a:ea typeface="Arial"/>
              <a:cs typeface="Arial"/>
              <a:sym typeface="Arial"/>
            </a:endParaRPr>
          </a:p>
        </p:txBody>
      </p:sp>
      <p:pic>
        <p:nvPicPr>
          <p:cNvPr id="471" name="Google Shape;471;p25"/>
          <p:cNvPicPr preferRelativeResize="0"/>
          <p:nvPr/>
        </p:nvPicPr>
        <p:blipFill rotWithShape="1">
          <a:blip r:embed="rId3">
            <a:alphaModFix/>
          </a:blip>
          <a:srcRect b="0" l="0" r="0" t="0"/>
          <a:stretch/>
        </p:blipFill>
        <p:spPr>
          <a:xfrm>
            <a:off x="439737" y="2209800"/>
            <a:ext cx="3709987" cy="2570162"/>
          </a:xfrm>
          <a:prstGeom prst="rect">
            <a:avLst/>
          </a:prstGeom>
          <a:noFill/>
          <a:ln>
            <a:noFill/>
          </a:ln>
        </p:spPr>
      </p:pic>
      <p:pic>
        <p:nvPicPr>
          <p:cNvPr id="472" name="Google Shape;472;p25"/>
          <p:cNvPicPr preferRelativeResize="0"/>
          <p:nvPr/>
        </p:nvPicPr>
        <p:blipFill rotWithShape="1">
          <a:blip r:embed="rId4">
            <a:alphaModFix/>
          </a:blip>
          <a:srcRect b="0" l="0" r="0" t="0"/>
          <a:stretch/>
        </p:blipFill>
        <p:spPr>
          <a:xfrm>
            <a:off x="4900612" y="2209800"/>
            <a:ext cx="3709987" cy="25701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3250"/>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4500"/>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9" name="Google Shape;479;p26"/>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80" name="Google Shape;480;p26"/>
          <p:cNvSpPr txBox="1"/>
          <p:nvPr/>
        </p:nvSpPr>
        <p:spPr>
          <a:xfrm>
            <a:off x="228600" y="406400"/>
            <a:ext cx="3400425"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2-3   OSI MODEL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Times"/>
              <a:ea typeface="Times"/>
              <a:cs typeface="Times"/>
              <a:sym typeface="Times"/>
            </a:endParaRPr>
          </a:p>
        </p:txBody>
      </p:sp>
      <p:sp>
        <p:nvSpPr>
          <p:cNvPr id="481" name="Google Shape;481;p2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82" name="Google Shape;482;p26"/>
          <p:cNvSpPr txBox="1"/>
          <p:nvPr/>
        </p:nvSpPr>
        <p:spPr>
          <a:xfrm>
            <a:off x="152400" y="1689100"/>
            <a:ext cx="88392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Times"/>
              <a:buNone/>
            </a:pPr>
            <a:r>
              <a:rPr b="1" i="1" lang="en-US" sz="3200" u="none" cap="none" strike="noStrike">
                <a:solidFill>
                  <a:srgbClr val="000000"/>
                </a:solidFill>
                <a:latin typeface="Times"/>
                <a:ea typeface="Times"/>
                <a:cs typeface="Times"/>
                <a:sym typeface="Times"/>
              </a:rPr>
              <a:t>A word we hear all the time when we talk about the Internet is protocol. A protocol defines the rules that both the sender and receiver and all intermediate devices need to follow to be able to communicate effectively. When communication is simple, we may need only one simple protocol; when the communication is complex, we need a protocol at each layer, or protocol layering.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9" name="Google Shape;489;p27"/>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cap="none" strike="noStrike">
                <a:solidFill>
                  <a:srgbClr val="FF0000"/>
                </a:solidFill>
                <a:latin typeface="Times"/>
                <a:ea typeface="Times"/>
                <a:cs typeface="Times"/>
                <a:sym typeface="Times"/>
              </a:rPr>
              <a:t>Figure 2.11</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The OSI model</a:t>
            </a:r>
            <a:endParaRPr b="0" i="0" sz="1400" u="none" cap="none" strike="noStrike">
              <a:solidFill>
                <a:srgbClr val="000000"/>
              </a:solidFill>
              <a:latin typeface="Arial"/>
              <a:ea typeface="Arial"/>
              <a:cs typeface="Arial"/>
              <a:sym typeface="Arial"/>
            </a:endParaRPr>
          </a:p>
        </p:txBody>
      </p:sp>
      <p:pic>
        <p:nvPicPr>
          <p:cNvPr id="490" name="Google Shape;490;p27"/>
          <p:cNvPicPr preferRelativeResize="0"/>
          <p:nvPr/>
        </p:nvPicPr>
        <p:blipFill rotWithShape="1">
          <a:blip r:embed="rId3">
            <a:alphaModFix/>
          </a:blip>
          <a:srcRect b="0" l="0" r="0" t="0"/>
          <a:stretch/>
        </p:blipFill>
        <p:spPr>
          <a:xfrm>
            <a:off x="1047750" y="1217612"/>
            <a:ext cx="7181850" cy="4878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3250"/>
                                        <p:tgtEl>
                                          <p:spTgt spid="4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97" name="Google Shape;497;p2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98" name="Google Shape;498;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499" name="Google Shape;499;p2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00" name="Google Shape;500;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01" name="Google Shape;501;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02" name="Google Shape;502;p2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03" name="Google Shape;503;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04" name="Google Shape;504;p28"/>
          <p:cNvSpPr txBox="1"/>
          <p:nvPr/>
        </p:nvSpPr>
        <p:spPr>
          <a:xfrm>
            <a:off x="1143000" y="0"/>
            <a:ext cx="500697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2.3.1  OSI versus TCP/IP</a:t>
            </a:r>
            <a:endParaRPr b="0" i="0" sz="1400" u="none" cap="none" strike="noStrike">
              <a:solidFill>
                <a:srgbClr val="000000"/>
              </a:solidFill>
              <a:latin typeface="Arial"/>
              <a:ea typeface="Arial"/>
              <a:cs typeface="Arial"/>
              <a:sym typeface="Arial"/>
            </a:endParaRPr>
          </a:p>
        </p:txBody>
      </p:sp>
      <p:sp>
        <p:nvSpPr>
          <p:cNvPr id="505" name="Google Shape;505;p28"/>
          <p:cNvSpPr txBox="1"/>
          <p:nvPr/>
        </p:nvSpPr>
        <p:spPr>
          <a:xfrm>
            <a:off x="381000" y="1293812"/>
            <a:ext cx="7924800" cy="35401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When we compare the two models, we find that two layers, session and presentation, are missing from the TCP/IP protocol suite. These two layers were not added to the TCP/IP protocol suite after the publication of the OSI model. The application layer in the suite is usually considered to be the combination of three layers in the OSI model, as shown in Figure 2.12.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12" name="Google Shape;512;p29"/>
          <p:cNvSpPr txBox="1"/>
          <p:nvPr/>
        </p:nvSpPr>
        <p:spPr>
          <a:xfrm>
            <a:off x="152400" y="76200"/>
            <a:ext cx="81534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1" i="1" lang="en-US" sz="2400" u="none" cap="none" strike="noStrike">
                <a:solidFill>
                  <a:srgbClr val="FF0000"/>
                </a:solidFill>
                <a:latin typeface="Times"/>
                <a:ea typeface="Times"/>
                <a:cs typeface="Times"/>
                <a:sym typeface="Times"/>
              </a:rPr>
              <a:t>Figure 2.12</a:t>
            </a:r>
            <a:r>
              <a:rPr b="1" i="1" lang="en-US" sz="2000" u="none" cap="none" strike="noStrike">
                <a:solidFill>
                  <a:srgbClr val="0000CC"/>
                </a:solidFill>
                <a:latin typeface="Times"/>
                <a:ea typeface="Times"/>
                <a:cs typeface="Times"/>
                <a:sym typeface="Times"/>
              </a:rPr>
              <a:t>:  </a:t>
            </a:r>
            <a:r>
              <a:rPr b="1" i="1" lang="en-US" sz="2000" u="none" cap="none" strike="noStrike">
                <a:solidFill>
                  <a:schemeClr val="dk1"/>
                </a:solidFill>
                <a:latin typeface="Times"/>
                <a:ea typeface="Times"/>
                <a:cs typeface="Times"/>
                <a:sym typeface="Times"/>
              </a:rPr>
              <a:t>TCP/IP and OSI model</a:t>
            </a:r>
            <a:endParaRPr b="0" i="0" sz="1400" u="none" cap="none" strike="noStrike">
              <a:solidFill>
                <a:srgbClr val="000000"/>
              </a:solidFill>
              <a:latin typeface="Arial"/>
              <a:ea typeface="Arial"/>
              <a:cs typeface="Arial"/>
              <a:sym typeface="Arial"/>
            </a:endParaRPr>
          </a:p>
        </p:txBody>
      </p:sp>
      <p:pic>
        <p:nvPicPr>
          <p:cNvPr id="513" name="Google Shape;513;p29"/>
          <p:cNvPicPr preferRelativeResize="0"/>
          <p:nvPr/>
        </p:nvPicPr>
        <p:blipFill rotWithShape="1">
          <a:blip r:embed="rId3">
            <a:alphaModFix/>
          </a:blip>
          <a:srcRect b="0" l="0" r="0" t="0"/>
          <a:stretch/>
        </p:blipFill>
        <p:spPr>
          <a:xfrm>
            <a:off x="1066800" y="1447800"/>
            <a:ext cx="7416800" cy="45926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3000"/>
                                        <p:tgtEl>
                                          <p:spTgt spid="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0" name="Google Shape;520;p3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1" name="Google Shape;521;p3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2" name="Google Shape;522;p3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3" name="Google Shape;523;p3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4" name="Google Shape;524;p3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5" name="Google Shape;525;p3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6" name="Google Shape;526;p3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27" name="Google Shape;527;p30"/>
          <p:cNvSpPr txBox="1"/>
          <p:nvPr/>
        </p:nvSpPr>
        <p:spPr>
          <a:xfrm>
            <a:off x="1143000" y="0"/>
            <a:ext cx="678021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2.3.2 Lack of OSI Model’s Success</a:t>
            </a:r>
            <a:endParaRPr b="0" i="0" sz="1400" u="none" cap="none" strike="noStrike">
              <a:solidFill>
                <a:srgbClr val="000000"/>
              </a:solidFill>
              <a:latin typeface="Arial"/>
              <a:ea typeface="Arial"/>
              <a:cs typeface="Arial"/>
              <a:sym typeface="Arial"/>
            </a:endParaRPr>
          </a:p>
        </p:txBody>
      </p:sp>
      <p:sp>
        <p:nvSpPr>
          <p:cNvPr id="528" name="Google Shape;528;p30"/>
          <p:cNvSpPr txBox="1"/>
          <p:nvPr/>
        </p:nvSpPr>
        <p:spPr>
          <a:xfrm>
            <a:off x="381000" y="1293812"/>
            <a:ext cx="7924800" cy="2678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OSI model appeared after the TCP/IP protocol suite. Most experts were at first excited and thought that the TCP/IP protocol would be fully replaced by the OSI model. This did not happen for several reasons, but we describe only three, which are agreed upon by all experts in the field.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2.</a:t>
            </a:r>
            <a:fld id="{00000000-1234-1234-1234-123412341234}" type="slidenum">
              <a:rPr b="1" i="0" lang="en-US" sz="12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35" name="Google Shape;535;p3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36" name="Google Shape;536;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37" name="Google Shape;537;p3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38" name="Google Shape;538;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39" name="Google Shape;539;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40" name="Google Shape;540;p3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41" name="Google Shape;541;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1" sz="3200" u="none" cap="none" strike="noStrike">
              <a:solidFill>
                <a:schemeClr val="dk1"/>
              </a:solidFill>
              <a:latin typeface="Arial"/>
              <a:ea typeface="Arial"/>
              <a:cs typeface="Arial"/>
              <a:sym typeface="Arial"/>
            </a:endParaRPr>
          </a:p>
        </p:txBody>
      </p:sp>
      <p:sp>
        <p:nvSpPr>
          <p:cNvPr id="542" name="Google Shape;542;p31"/>
          <p:cNvSpPr txBox="1"/>
          <p:nvPr/>
        </p:nvSpPr>
        <p:spPr>
          <a:xfrm>
            <a:off x="1143000" y="0"/>
            <a:ext cx="678021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cap="none" strike="noStrike">
                <a:solidFill>
                  <a:schemeClr val="hlink"/>
                </a:solidFill>
                <a:latin typeface="Times New Roman"/>
                <a:ea typeface="Times New Roman"/>
                <a:cs typeface="Times New Roman"/>
                <a:sym typeface="Times New Roman"/>
              </a:rPr>
              <a:t>2.3.2 Lack of OSI Model’s Success</a:t>
            </a:r>
            <a:endParaRPr b="0" i="0" sz="1400" u="none" cap="none" strike="noStrike">
              <a:solidFill>
                <a:srgbClr val="000000"/>
              </a:solidFill>
              <a:latin typeface="Arial"/>
              <a:ea typeface="Arial"/>
              <a:cs typeface="Arial"/>
              <a:sym typeface="Arial"/>
            </a:endParaRPr>
          </a:p>
        </p:txBody>
      </p:sp>
      <p:sp>
        <p:nvSpPr>
          <p:cNvPr id="543" name="Google Shape;543;p31"/>
          <p:cNvSpPr txBox="1"/>
          <p:nvPr/>
        </p:nvSpPr>
        <p:spPr>
          <a:xfrm>
            <a:off x="336550" y="911225"/>
            <a:ext cx="7924800" cy="5630862"/>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1" lang="en-US" sz="2400" u="none" cap="none" strike="noStrike">
                <a:solidFill>
                  <a:schemeClr val="dk1"/>
                </a:solidFill>
                <a:latin typeface="Times New Roman"/>
                <a:ea typeface="Times New Roman"/>
                <a:cs typeface="Times New Roman"/>
                <a:sym typeface="Times New Roman"/>
              </a:rPr>
              <a:t>First, OSI was completed when TCP/IP was fully in place and a lot of time and money had been spent on the suite; changing it would cost a lot. </a:t>
            </a:r>
            <a:endParaRPr b="0" i="0" sz="1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1" i="1" sz="24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2400"/>
              <a:buFont typeface="Arial"/>
              <a:buChar char="•"/>
            </a:pPr>
            <a:r>
              <a:rPr b="1" i="1" lang="en-US" sz="2400" u="none" cap="none" strike="noStrike">
                <a:solidFill>
                  <a:schemeClr val="dk1"/>
                </a:solidFill>
                <a:latin typeface="Times New Roman"/>
                <a:ea typeface="Times New Roman"/>
                <a:cs typeface="Times New Roman"/>
                <a:sym typeface="Times New Roman"/>
              </a:rPr>
              <a:t>Second, some layers in the OSI model were never fully defined. For example, although the services provided by the presentation and the session layers were listed in the document, actual protocols for these two layers were not fully defined, nor were they fully described, and the corresponding software was not fully developed. </a:t>
            </a:r>
            <a:endParaRPr b="0" i="0" sz="1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1" i="1" sz="24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2400"/>
              <a:buFont typeface="Arial"/>
              <a:buChar char="•"/>
            </a:pPr>
            <a:r>
              <a:rPr b="1" i="1" lang="en-US" sz="2400" u="none" cap="none" strike="noStrike">
                <a:solidFill>
                  <a:schemeClr val="dk1"/>
                </a:solidFill>
                <a:latin typeface="Times New Roman"/>
                <a:ea typeface="Times New Roman"/>
                <a:cs typeface="Times New Roman"/>
                <a:sym typeface="Times New Roman"/>
              </a:rPr>
              <a:t>Third, when OSI was implemented by an organization in a different application, it did not show a high enough level of performance to entice the Internet authority to switch from the TCP/IP protocol suite to the OSI model.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lends">
  <a:themeElements>
    <a:clrScheme name="1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Blends">
  <a:themeElements>
    <a:clrScheme name="default">
      <a:dk1>
        <a:srgbClr val="000000"/>
      </a:dk1>
      <a:lt1>
        <a:srgbClr val="FFFFFF"/>
      </a:lt1>
      <a:dk2>
        <a:srgbClr val="333399"/>
      </a:dk2>
      <a:lt2>
        <a:srgbClr val="1C1C1C"/>
      </a:lt2>
      <a:accent1>
        <a:srgbClr val="00E4A8"/>
      </a:accent1>
      <a:accent2>
        <a:srgbClr val="FFCF01"/>
      </a:accent2>
      <a:accent3>
        <a:srgbClr val="FFFFFF"/>
      </a:accent3>
      <a:accent4>
        <a:srgbClr val="00E4A8"/>
      </a:accent4>
      <a:accent5>
        <a:srgbClr val="FFCF01"/>
      </a:accent5>
      <a:accent6>
        <a:srgbClr val="FFFFFF"/>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