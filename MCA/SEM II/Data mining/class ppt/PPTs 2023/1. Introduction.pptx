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6" roundtripDataSignature="AMtx7mj6yItXf2ei41cOrZtrpvc3wKz2K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customschemas.google.com/relationships/presentationmetadata" Target="metadata"/><Relationship Id="rId25" Type="http://schemas.openxmlformats.org/officeDocument/2006/relationships/slide" Target="slides/slide2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2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2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2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2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2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3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1"/>
          <p:cNvSpPr/>
          <p:nvPr>
            <p:ph idx="2" type="pic"/>
          </p:nvPr>
        </p:nvSpPr>
        <p:spPr>
          <a:xfrm>
            <a:off x="5183188" y="987425"/>
            <a:ext cx="6172200" cy="4873625"/>
          </a:xfrm>
          <a:prstGeom prst="rect">
            <a:avLst/>
          </a:prstGeom>
          <a:noFill/>
          <a:ln>
            <a:noFill/>
          </a:ln>
        </p:spPr>
      </p:sp>
      <p:sp>
        <p:nvSpPr>
          <p:cNvPr id="64" name="Google Shape;64;p3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Introduction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
          <p:cNvSpPr txBox="1"/>
          <p:nvPr>
            <p:ph type="title"/>
          </p:nvPr>
        </p:nvSpPr>
        <p:spPr>
          <a:xfrm>
            <a:off x="838200" y="136525"/>
            <a:ext cx="10515600" cy="7397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Data Mining</a:t>
            </a:r>
            <a:endParaRPr/>
          </a:p>
        </p:txBody>
      </p:sp>
      <p:sp>
        <p:nvSpPr>
          <p:cNvPr id="90" name="Google Shape;90;p2"/>
          <p:cNvSpPr txBox="1"/>
          <p:nvPr>
            <p:ph idx="1" type="body"/>
          </p:nvPr>
        </p:nvSpPr>
        <p:spPr>
          <a:xfrm>
            <a:off x="838200" y="876300"/>
            <a:ext cx="10515600" cy="5743575"/>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Data mining (knowledge discovery from data) </a:t>
            </a:r>
            <a:endParaRPr/>
          </a:p>
          <a:p>
            <a:pPr indent="-228600" lvl="1" marL="685800" rtl="0" algn="just">
              <a:lnSpc>
                <a:spcPct val="90000"/>
              </a:lnSpc>
              <a:spcBef>
                <a:spcPts val="500"/>
              </a:spcBef>
              <a:spcAft>
                <a:spcPts val="0"/>
              </a:spcAft>
              <a:buClr>
                <a:schemeClr val="dk1"/>
              </a:buClr>
              <a:buSzPts val="2800"/>
              <a:buChar char="•"/>
            </a:pPr>
            <a:r>
              <a:rPr lang="en-US" sz="2800"/>
              <a:t>Extraction of interesting (non-trivial, implicit, previously unknown and potentially useful) patterns or knowledge from huge amount of data.</a:t>
            </a:r>
            <a:endParaRPr/>
          </a:p>
          <a:p>
            <a:pPr indent="-228600" lvl="1" marL="685800" rtl="0" algn="just">
              <a:lnSpc>
                <a:spcPct val="90000"/>
              </a:lnSpc>
              <a:spcBef>
                <a:spcPts val="500"/>
              </a:spcBef>
              <a:spcAft>
                <a:spcPts val="0"/>
              </a:spcAft>
              <a:buClr>
                <a:schemeClr val="dk1"/>
              </a:buClr>
              <a:buSzPts val="2800"/>
              <a:buChar char="•"/>
            </a:pPr>
            <a:r>
              <a:rPr lang="en-US" sz="2800"/>
              <a:t>Data mining: a misnomer?</a:t>
            </a:r>
            <a:endParaRPr/>
          </a:p>
          <a:p>
            <a:pPr indent="-228600" lvl="0" marL="228600" rtl="0" algn="just">
              <a:lnSpc>
                <a:spcPct val="90000"/>
              </a:lnSpc>
              <a:spcBef>
                <a:spcPts val="1000"/>
              </a:spcBef>
              <a:spcAft>
                <a:spcPts val="0"/>
              </a:spcAft>
              <a:buClr>
                <a:schemeClr val="dk1"/>
              </a:buClr>
              <a:buSzPts val="2800"/>
              <a:buChar char="•"/>
            </a:pPr>
            <a:r>
              <a:rPr lang="en-US"/>
              <a:t>Alternative names</a:t>
            </a:r>
            <a:endParaRPr/>
          </a:p>
          <a:p>
            <a:pPr indent="-228600" lvl="1" marL="685800" rtl="0" algn="just">
              <a:lnSpc>
                <a:spcPct val="90000"/>
              </a:lnSpc>
              <a:spcBef>
                <a:spcPts val="500"/>
              </a:spcBef>
              <a:spcAft>
                <a:spcPts val="0"/>
              </a:spcAft>
              <a:buClr>
                <a:schemeClr val="dk1"/>
              </a:buClr>
              <a:buSzPts val="2800"/>
              <a:buChar char="•"/>
            </a:pPr>
            <a:r>
              <a:rPr lang="en-US" sz="2800"/>
              <a:t>Knowledge discovery (mining) in databases (KDD),</a:t>
            </a:r>
            <a:endParaRPr/>
          </a:p>
          <a:p>
            <a:pPr indent="-228600" lvl="1" marL="685800" rtl="0" algn="just">
              <a:lnSpc>
                <a:spcPct val="90000"/>
              </a:lnSpc>
              <a:spcBef>
                <a:spcPts val="500"/>
              </a:spcBef>
              <a:spcAft>
                <a:spcPts val="0"/>
              </a:spcAft>
              <a:buClr>
                <a:schemeClr val="dk1"/>
              </a:buClr>
              <a:buSzPts val="2800"/>
              <a:buChar char="•"/>
            </a:pPr>
            <a:r>
              <a:rPr lang="en-US" sz="2800"/>
              <a:t>knowledge extraction, </a:t>
            </a:r>
            <a:endParaRPr/>
          </a:p>
          <a:p>
            <a:pPr indent="-228600" lvl="1" marL="685800" rtl="0" algn="just">
              <a:lnSpc>
                <a:spcPct val="90000"/>
              </a:lnSpc>
              <a:spcBef>
                <a:spcPts val="500"/>
              </a:spcBef>
              <a:spcAft>
                <a:spcPts val="0"/>
              </a:spcAft>
              <a:buClr>
                <a:schemeClr val="dk1"/>
              </a:buClr>
              <a:buSzPts val="2800"/>
              <a:buChar char="•"/>
            </a:pPr>
            <a:r>
              <a:rPr lang="en-US" sz="2800"/>
              <a:t>data/pattern analysis, </a:t>
            </a:r>
            <a:endParaRPr/>
          </a:p>
          <a:p>
            <a:pPr indent="-228600" lvl="1" marL="685800" rtl="0" algn="just">
              <a:lnSpc>
                <a:spcPct val="90000"/>
              </a:lnSpc>
              <a:spcBef>
                <a:spcPts val="500"/>
              </a:spcBef>
              <a:spcAft>
                <a:spcPts val="0"/>
              </a:spcAft>
              <a:buClr>
                <a:schemeClr val="dk1"/>
              </a:buClr>
              <a:buSzPts val="2800"/>
              <a:buChar char="•"/>
            </a:pPr>
            <a:r>
              <a:rPr lang="en-US" sz="2800"/>
              <a:t>data archeology, </a:t>
            </a:r>
            <a:endParaRPr/>
          </a:p>
          <a:p>
            <a:pPr indent="-228600" lvl="1" marL="685800" rtl="0" algn="just">
              <a:lnSpc>
                <a:spcPct val="90000"/>
              </a:lnSpc>
              <a:spcBef>
                <a:spcPts val="500"/>
              </a:spcBef>
              <a:spcAft>
                <a:spcPts val="0"/>
              </a:spcAft>
              <a:buClr>
                <a:schemeClr val="dk1"/>
              </a:buClr>
              <a:buSzPts val="2800"/>
              <a:buChar char="•"/>
            </a:pPr>
            <a:r>
              <a:rPr lang="en-US" sz="2800"/>
              <a:t>information harvesting, </a:t>
            </a:r>
            <a:endParaRPr/>
          </a:p>
          <a:p>
            <a:pPr indent="-228600" lvl="1" marL="685800" rtl="0" algn="just">
              <a:lnSpc>
                <a:spcPct val="90000"/>
              </a:lnSpc>
              <a:spcBef>
                <a:spcPts val="500"/>
              </a:spcBef>
              <a:spcAft>
                <a:spcPts val="0"/>
              </a:spcAft>
              <a:buClr>
                <a:schemeClr val="dk1"/>
              </a:buClr>
              <a:buSzPts val="2800"/>
              <a:buChar char="•"/>
            </a:pPr>
            <a:r>
              <a:rPr lang="en-US" sz="2800"/>
              <a:t>business intelligence, etc.</a:t>
            </a:r>
            <a:endParaRPr/>
          </a:p>
          <a:p>
            <a:pPr indent="-50800" lvl="0" marL="228600" rtl="0" algn="just">
              <a:lnSpc>
                <a:spcPct val="90000"/>
              </a:lnSpc>
              <a:spcBef>
                <a:spcPts val="1000"/>
              </a:spcBef>
              <a:spcAft>
                <a:spcPts val="0"/>
              </a:spcAft>
              <a:buClr>
                <a:schemeClr val="dk1"/>
              </a:buClr>
              <a:buSzPts val="28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3"/>
          <p:cNvSpPr txBox="1"/>
          <p:nvPr>
            <p:ph type="title"/>
          </p:nvPr>
        </p:nvSpPr>
        <p:spPr>
          <a:xfrm>
            <a:off x="838200" y="136525"/>
            <a:ext cx="10515600" cy="7398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Why Data Mining?</a:t>
            </a:r>
            <a:endParaRPr/>
          </a:p>
        </p:txBody>
      </p:sp>
      <p:sp>
        <p:nvSpPr>
          <p:cNvPr id="96" name="Google Shape;96;p3"/>
          <p:cNvSpPr txBox="1"/>
          <p:nvPr>
            <p:ph idx="1" type="body"/>
          </p:nvPr>
        </p:nvSpPr>
        <p:spPr>
          <a:xfrm>
            <a:off x="838200" y="876300"/>
            <a:ext cx="10515600" cy="5743575"/>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The Explosive Growth of Data: from terabytes to petabytes.</a:t>
            </a:r>
            <a:endParaRPr/>
          </a:p>
          <a:p>
            <a:pPr indent="-228600" lvl="1" marL="685800" rtl="0" algn="just">
              <a:lnSpc>
                <a:spcPct val="90000"/>
              </a:lnSpc>
              <a:spcBef>
                <a:spcPts val="500"/>
              </a:spcBef>
              <a:spcAft>
                <a:spcPts val="0"/>
              </a:spcAft>
              <a:buClr>
                <a:schemeClr val="dk1"/>
              </a:buClr>
              <a:buSzPts val="2800"/>
              <a:buChar char="•"/>
            </a:pPr>
            <a:r>
              <a:rPr lang="en-US" sz="2800"/>
              <a:t>Data collection and data availability.</a:t>
            </a:r>
            <a:endParaRPr/>
          </a:p>
          <a:p>
            <a:pPr indent="-228600" lvl="0" marL="228600" rtl="0" algn="just">
              <a:lnSpc>
                <a:spcPct val="90000"/>
              </a:lnSpc>
              <a:spcBef>
                <a:spcPts val="1000"/>
              </a:spcBef>
              <a:spcAft>
                <a:spcPts val="0"/>
              </a:spcAft>
              <a:buClr>
                <a:schemeClr val="dk1"/>
              </a:buClr>
              <a:buSzPts val="2800"/>
              <a:buChar char="•"/>
            </a:pPr>
            <a:r>
              <a:rPr lang="en-US"/>
              <a:t>Automated data collection tools, database systems, Web, computerized society.</a:t>
            </a:r>
            <a:endParaRPr/>
          </a:p>
          <a:p>
            <a:pPr indent="-228600" lvl="0" marL="228600" rtl="0" algn="just">
              <a:lnSpc>
                <a:spcPct val="90000"/>
              </a:lnSpc>
              <a:spcBef>
                <a:spcPts val="1000"/>
              </a:spcBef>
              <a:spcAft>
                <a:spcPts val="0"/>
              </a:spcAft>
              <a:buClr>
                <a:schemeClr val="dk1"/>
              </a:buClr>
              <a:buSzPts val="2800"/>
              <a:buChar char="•"/>
            </a:pPr>
            <a:r>
              <a:rPr lang="en-US"/>
              <a:t>Major sources of abundant data</a:t>
            </a:r>
            <a:endParaRPr/>
          </a:p>
          <a:p>
            <a:pPr indent="-228600" lvl="1" marL="685800" rtl="0" algn="just">
              <a:lnSpc>
                <a:spcPct val="90000"/>
              </a:lnSpc>
              <a:spcBef>
                <a:spcPts val="500"/>
              </a:spcBef>
              <a:spcAft>
                <a:spcPts val="0"/>
              </a:spcAft>
              <a:buClr>
                <a:schemeClr val="dk1"/>
              </a:buClr>
              <a:buSzPts val="2800"/>
              <a:buChar char="•"/>
            </a:pPr>
            <a:r>
              <a:rPr lang="en-US" sz="2800"/>
              <a:t>Business: Web, e-commerce, transactions, stocks, …</a:t>
            </a:r>
            <a:endParaRPr/>
          </a:p>
          <a:p>
            <a:pPr indent="-228600" lvl="1" marL="685800" rtl="0" algn="just">
              <a:lnSpc>
                <a:spcPct val="90000"/>
              </a:lnSpc>
              <a:spcBef>
                <a:spcPts val="500"/>
              </a:spcBef>
              <a:spcAft>
                <a:spcPts val="0"/>
              </a:spcAft>
              <a:buClr>
                <a:schemeClr val="dk1"/>
              </a:buClr>
              <a:buSzPts val="2800"/>
              <a:buChar char="•"/>
            </a:pPr>
            <a:r>
              <a:rPr lang="en-US" sz="2800"/>
              <a:t>Science: Remote sensing, bioinformatics, scientific simulation, …</a:t>
            </a:r>
            <a:endParaRPr/>
          </a:p>
          <a:p>
            <a:pPr indent="-228600" lvl="1" marL="685800" rtl="0" algn="just">
              <a:lnSpc>
                <a:spcPct val="90000"/>
              </a:lnSpc>
              <a:spcBef>
                <a:spcPts val="500"/>
              </a:spcBef>
              <a:spcAft>
                <a:spcPts val="0"/>
              </a:spcAft>
              <a:buClr>
                <a:schemeClr val="dk1"/>
              </a:buClr>
              <a:buSzPts val="2800"/>
              <a:buChar char="•"/>
            </a:pPr>
            <a:r>
              <a:rPr lang="en-US" sz="2800"/>
              <a:t>Society and everyone: news, digital cameras, YouTube, …</a:t>
            </a:r>
            <a:endParaRPr/>
          </a:p>
          <a:p>
            <a:pPr indent="-228600" lvl="0" marL="228600" rtl="0" algn="just">
              <a:lnSpc>
                <a:spcPct val="90000"/>
              </a:lnSpc>
              <a:spcBef>
                <a:spcPts val="1000"/>
              </a:spcBef>
              <a:spcAft>
                <a:spcPts val="0"/>
              </a:spcAft>
              <a:buClr>
                <a:schemeClr val="dk1"/>
              </a:buClr>
              <a:buSzPts val="2800"/>
              <a:buChar char="•"/>
            </a:pPr>
            <a:r>
              <a:rPr lang="en-US"/>
              <a:t>We are drowning in data, but starving for knowledge!</a:t>
            </a:r>
            <a:endParaRPr/>
          </a:p>
          <a:p>
            <a:pPr indent="-228600" lvl="0" marL="228600" rtl="0" algn="just">
              <a:lnSpc>
                <a:spcPct val="90000"/>
              </a:lnSpc>
              <a:spcBef>
                <a:spcPts val="1000"/>
              </a:spcBef>
              <a:spcAft>
                <a:spcPts val="0"/>
              </a:spcAft>
              <a:buClr>
                <a:schemeClr val="dk1"/>
              </a:buClr>
              <a:buSzPts val="2800"/>
              <a:buChar char="•"/>
            </a:pPr>
            <a:r>
              <a:rPr lang="en-US"/>
              <a:t>“Necessity is the mother of invention”—Data mining—Automated analysis of massive data sets.					 	@Plato</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4"/>
          <p:cNvSpPr txBox="1"/>
          <p:nvPr>
            <p:ph type="title"/>
          </p:nvPr>
        </p:nvSpPr>
        <p:spPr>
          <a:xfrm>
            <a:off x="838200" y="136525"/>
            <a:ext cx="10515600" cy="7397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Why Data Mining?</a:t>
            </a:r>
            <a:endParaRPr/>
          </a:p>
        </p:txBody>
      </p:sp>
      <p:sp>
        <p:nvSpPr>
          <p:cNvPr id="102" name="Google Shape;102;p4"/>
          <p:cNvSpPr txBox="1"/>
          <p:nvPr>
            <p:ph idx="1" type="body"/>
          </p:nvPr>
        </p:nvSpPr>
        <p:spPr>
          <a:xfrm>
            <a:off x="838200" y="876300"/>
            <a:ext cx="10515600" cy="5743575"/>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 The fast-growing, tremendous amount of data, collected and stored in large and numerous data repositories, has far exceeded our human ability for comprehension without </a:t>
            </a:r>
            <a:r>
              <a:rPr b="1" lang="en-US"/>
              <a:t>powerful tools</a:t>
            </a:r>
            <a:r>
              <a:rPr lang="en-US"/>
              <a:t>. </a:t>
            </a:r>
            <a:endParaRPr/>
          </a:p>
          <a:p>
            <a:pPr indent="0" lvl="0" marL="0" rtl="0" algn="just">
              <a:lnSpc>
                <a:spcPct val="90000"/>
              </a:lnSpc>
              <a:spcBef>
                <a:spcPts val="1000"/>
              </a:spcBef>
              <a:spcAft>
                <a:spcPts val="0"/>
              </a:spcAft>
              <a:buClr>
                <a:schemeClr val="dk1"/>
              </a:buClr>
              <a:buSzPts val="2800"/>
              <a:buNone/>
            </a:pPr>
            <a:r>
              <a:t/>
            </a:r>
            <a:endParaRPr/>
          </a:p>
          <a:p>
            <a:pPr indent="0" lvl="0" marL="0" rtl="0" algn="just">
              <a:lnSpc>
                <a:spcPct val="90000"/>
              </a:lnSpc>
              <a:spcBef>
                <a:spcPts val="1000"/>
              </a:spcBef>
              <a:spcAft>
                <a:spcPts val="0"/>
              </a:spcAft>
              <a:buClr>
                <a:schemeClr val="dk1"/>
              </a:buClr>
              <a:buSzPts val="2800"/>
              <a:buNone/>
            </a:pPr>
            <a:r>
              <a:t/>
            </a:r>
            <a:endParaRPr/>
          </a:p>
          <a:p>
            <a:pPr indent="0" lvl="1" marL="457200" rtl="0" algn="just">
              <a:lnSpc>
                <a:spcPct val="90000"/>
              </a:lnSpc>
              <a:spcBef>
                <a:spcPts val="500"/>
              </a:spcBef>
              <a:spcAft>
                <a:spcPts val="0"/>
              </a:spcAft>
              <a:buClr>
                <a:schemeClr val="dk1"/>
              </a:buClr>
              <a:buSzPts val="3600"/>
              <a:buNone/>
            </a:pPr>
            <a:r>
              <a:rPr i="1" lang="en-US" sz="3600"/>
              <a:t>	Data Rich but Information Poor</a:t>
            </a:r>
            <a:endParaRPr/>
          </a:p>
          <a:p>
            <a:pPr indent="0" lvl="1" marL="457200" rtl="0" algn="just">
              <a:lnSpc>
                <a:spcPct val="90000"/>
              </a:lnSpc>
              <a:spcBef>
                <a:spcPts val="500"/>
              </a:spcBef>
              <a:spcAft>
                <a:spcPts val="0"/>
              </a:spcAft>
              <a:buClr>
                <a:schemeClr val="dk1"/>
              </a:buClr>
              <a:buSzPts val="3600"/>
              <a:buNone/>
            </a:pPr>
            <a:r>
              <a:t/>
            </a:r>
            <a:endParaRPr i="1" sz="3600"/>
          </a:p>
          <a:p>
            <a:pPr indent="0" lvl="1" marL="457200" rtl="0" algn="just">
              <a:lnSpc>
                <a:spcPct val="90000"/>
              </a:lnSpc>
              <a:spcBef>
                <a:spcPts val="500"/>
              </a:spcBef>
              <a:spcAft>
                <a:spcPts val="0"/>
              </a:spcAft>
              <a:buClr>
                <a:schemeClr val="dk1"/>
              </a:buClr>
              <a:buSzPts val="3600"/>
              <a:buNone/>
            </a:pPr>
            <a:r>
              <a:t/>
            </a:r>
            <a:endParaRPr i="1" sz="3600"/>
          </a:p>
        </p:txBody>
      </p:sp>
      <p:pic>
        <p:nvPicPr>
          <p:cNvPr id="103" name="Google Shape;103;p4"/>
          <p:cNvPicPr preferRelativeResize="0"/>
          <p:nvPr/>
        </p:nvPicPr>
        <p:blipFill rotWithShape="1">
          <a:blip r:embed="rId3">
            <a:alphaModFix/>
          </a:blip>
          <a:srcRect b="0" l="0" r="0" t="0"/>
          <a:stretch/>
        </p:blipFill>
        <p:spPr>
          <a:xfrm>
            <a:off x="7675473" y="1978025"/>
            <a:ext cx="4062041" cy="47434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type="title"/>
          </p:nvPr>
        </p:nvSpPr>
        <p:spPr>
          <a:xfrm>
            <a:off x="838200" y="136525"/>
            <a:ext cx="10515600" cy="7397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Data Mining</a:t>
            </a:r>
            <a:endParaRPr/>
          </a:p>
        </p:txBody>
      </p:sp>
      <p:sp>
        <p:nvSpPr>
          <p:cNvPr id="109" name="Google Shape;109;p5"/>
          <p:cNvSpPr txBox="1"/>
          <p:nvPr>
            <p:ph idx="1" type="body"/>
          </p:nvPr>
        </p:nvSpPr>
        <p:spPr>
          <a:xfrm>
            <a:off x="838200" y="876300"/>
            <a:ext cx="6210300" cy="5743575"/>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Data mining—searching for knowledge (interesting patterns) in data.</a:t>
            </a:r>
            <a:endParaRPr/>
          </a:p>
          <a:p>
            <a:pPr indent="-228600" lvl="0" marL="228600" rtl="0" algn="just">
              <a:lnSpc>
                <a:spcPct val="90000"/>
              </a:lnSpc>
              <a:spcBef>
                <a:spcPts val="1000"/>
              </a:spcBef>
              <a:spcAft>
                <a:spcPts val="0"/>
              </a:spcAft>
              <a:buClr>
                <a:schemeClr val="dk1"/>
              </a:buClr>
              <a:buSzPts val="2800"/>
              <a:buChar char="•"/>
            </a:pPr>
            <a:r>
              <a:rPr lang="en-US"/>
              <a:t>Many people treat data mining as a synonym for another popularly used term, knowledge discovery from data, or KDD. </a:t>
            </a:r>
            <a:endParaRPr/>
          </a:p>
          <a:p>
            <a:pPr indent="-228600" lvl="0" marL="228600" rtl="0" algn="just">
              <a:lnSpc>
                <a:spcPct val="90000"/>
              </a:lnSpc>
              <a:spcBef>
                <a:spcPts val="1000"/>
              </a:spcBef>
              <a:spcAft>
                <a:spcPts val="0"/>
              </a:spcAft>
              <a:buClr>
                <a:schemeClr val="dk1"/>
              </a:buClr>
              <a:buSzPts val="2800"/>
              <a:buChar char="•"/>
            </a:pPr>
            <a:r>
              <a:rPr lang="en-US"/>
              <a:t>while others view </a:t>
            </a:r>
            <a:r>
              <a:rPr b="1" lang="en-US"/>
              <a:t>data mining </a:t>
            </a:r>
            <a:r>
              <a:rPr lang="en-US"/>
              <a:t>as merely an essential </a:t>
            </a:r>
            <a:r>
              <a:rPr b="1" lang="en-US"/>
              <a:t>step</a:t>
            </a:r>
            <a:r>
              <a:rPr lang="en-US"/>
              <a:t> in the </a:t>
            </a:r>
            <a:r>
              <a:rPr b="1" lang="en-US"/>
              <a:t>process of knowledge discovery</a:t>
            </a:r>
            <a:r>
              <a:rPr lang="en-US"/>
              <a:t>. </a:t>
            </a:r>
            <a:endParaRPr/>
          </a:p>
          <a:p>
            <a:pPr indent="-50800" lvl="0" marL="228600" rtl="0" algn="just">
              <a:lnSpc>
                <a:spcPct val="90000"/>
              </a:lnSpc>
              <a:spcBef>
                <a:spcPts val="1000"/>
              </a:spcBef>
              <a:spcAft>
                <a:spcPts val="0"/>
              </a:spcAft>
              <a:buClr>
                <a:schemeClr val="dk1"/>
              </a:buClr>
              <a:buSzPts val="2800"/>
              <a:buNone/>
            </a:pPr>
            <a:r>
              <a:t/>
            </a:r>
            <a:endParaRPr/>
          </a:p>
          <a:p>
            <a:pPr indent="-50800" lvl="0" marL="228600" rtl="0" algn="just">
              <a:lnSpc>
                <a:spcPct val="90000"/>
              </a:lnSpc>
              <a:spcBef>
                <a:spcPts val="1000"/>
              </a:spcBef>
              <a:spcAft>
                <a:spcPts val="0"/>
              </a:spcAft>
              <a:buClr>
                <a:schemeClr val="dk1"/>
              </a:buClr>
              <a:buSzPts val="2800"/>
              <a:buNone/>
            </a:pPr>
            <a:r>
              <a:t/>
            </a:r>
            <a:endParaRPr/>
          </a:p>
        </p:txBody>
      </p:sp>
      <p:pic>
        <p:nvPicPr>
          <p:cNvPr id="110" name="Google Shape;110;p5"/>
          <p:cNvPicPr preferRelativeResize="0"/>
          <p:nvPr/>
        </p:nvPicPr>
        <p:blipFill rotWithShape="1">
          <a:blip r:embed="rId3">
            <a:alphaModFix/>
          </a:blip>
          <a:srcRect b="0" l="2869" r="0" t="0"/>
          <a:stretch/>
        </p:blipFill>
        <p:spPr>
          <a:xfrm>
            <a:off x="7213862" y="1727657"/>
            <a:ext cx="4978138" cy="513034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6"/>
          <p:cNvSpPr txBox="1"/>
          <p:nvPr>
            <p:ph type="title"/>
          </p:nvPr>
        </p:nvSpPr>
        <p:spPr>
          <a:xfrm>
            <a:off x="838200" y="136525"/>
            <a:ext cx="10515600" cy="7397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t>				Data Mining</a:t>
            </a:r>
            <a:endParaRPr/>
          </a:p>
        </p:txBody>
      </p:sp>
      <p:sp>
        <p:nvSpPr>
          <p:cNvPr id="116" name="Google Shape;116;p6"/>
          <p:cNvSpPr txBox="1"/>
          <p:nvPr>
            <p:ph idx="1" type="body"/>
          </p:nvPr>
        </p:nvSpPr>
        <p:spPr>
          <a:xfrm>
            <a:off x="599440" y="876300"/>
            <a:ext cx="6696711" cy="5743575"/>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The knowledge discovery process is an iterative sequence of the following steps:</a:t>
            </a:r>
            <a:endParaRPr/>
          </a:p>
          <a:p>
            <a:pPr indent="-514350" lvl="0" marL="514350" rtl="0" algn="just">
              <a:lnSpc>
                <a:spcPct val="90000"/>
              </a:lnSpc>
              <a:spcBef>
                <a:spcPts val="1000"/>
              </a:spcBef>
              <a:spcAft>
                <a:spcPts val="0"/>
              </a:spcAft>
              <a:buClr>
                <a:schemeClr val="dk1"/>
              </a:buClr>
              <a:buSzPts val="2800"/>
              <a:buFont typeface="Calibri"/>
              <a:buAutoNum type="arabicPeriod"/>
            </a:pPr>
            <a:r>
              <a:rPr b="1" lang="en-US"/>
              <a:t>Data cleaning:</a:t>
            </a:r>
            <a:r>
              <a:rPr lang="en-US"/>
              <a:t> to remove noise and inconsistent data.</a:t>
            </a:r>
            <a:endParaRPr/>
          </a:p>
          <a:p>
            <a:pPr indent="-514350" lvl="0" marL="514350" rtl="0" algn="just">
              <a:lnSpc>
                <a:spcPct val="90000"/>
              </a:lnSpc>
              <a:spcBef>
                <a:spcPts val="1000"/>
              </a:spcBef>
              <a:spcAft>
                <a:spcPts val="0"/>
              </a:spcAft>
              <a:buClr>
                <a:schemeClr val="dk1"/>
              </a:buClr>
              <a:buSzPts val="2800"/>
              <a:buFont typeface="Calibri"/>
              <a:buAutoNum type="arabicPeriod"/>
            </a:pPr>
            <a:r>
              <a:rPr b="1" lang="en-US"/>
              <a:t>Data integration: </a:t>
            </a:r>
            <a:r>
              <a:rPr lang="en-US"/>
              <a:t>multiple data sources may be combined.</a:t>
            </a:r>
            <a:endParaRPr/>
          </a:p>
          <a:p>
            <a:pPr indent="-514350" lvl="0" marL="514350" rtl="0" algn="just">
              <a:lnSpc>
                <a:spcPct val="90000"/>
              </a:lnSpc>
              <a:spcBef>
                <a:spcPts val="1000"/>
              </a:spcBef>
              <a:spcAft>
                <a:spcPts val="0"/>
              </a:spcAft>
              <a:buClr>
                <a:schemeClr val="dk1"/>
              </a:buClr>
              <a:buSzPts val="2800"/>
              <a:buFont typeface="Calibri"/>
              <a:buAutoNum type="arabicPeriod"/>
            </a:pPr>
            <a:r>
              <a:rPr b="1" lang="en-US"/>
              <a:t>Data selection:</a:t>
            </a:r>
            <a:r>
              <a:rPr lang="en-US"/>
              <a:t> data relevant to the analysis task are retrieved from the database.</a:t>
            </a:r>
            <a:endParaRPr/>
          </a:p>
          <a:p>
            <a:pPr indent="-514350" lvl="0" marL="514350" rtl="0" algn="just">
              <a:lnSpc>
                <a:spcPct val="90000"/>
              </a:lnSpc>
              <a:spcBef>
                <a:spcPts val="1000"/>
              </a:spcBef>
              <a:spcAft>
                <a:spcPts val="0"/>
              </a:spcAft>
              <a:buClr>
                <a:schemeClr val="dk1"/>
              </a:buClr>
              <a:buSzPts val="2800"/>
              <a:buFont typeface="Calibri"/>
              <a:buAutoNum type="arabicPeriod"/>
            </a:pPr>
            <a:r>
              <a:rPr b="1" lang="en-US"/>
              <a:t>Data transformation: </a:t>
            </a:r>
            <a:r>
              <a:rPr lang="en-US"/>
              <a:t>data are transformed and consolidated into forms appropriate for mining by performing summary or aggregation operations.</a:t>
            </a:r>
            <a:endParaRPr/>
          </a:p>
          <a:p>
            <a:pPr indent="-50800" lvl="0" marL="228600" rtl="0" algn="just">
              <a:lnSpc>
                <a:spcPct val="90000"/>
              </a:lnSpc>
              <a:spcBef>
                <a:spcPts val="1000"/>
              </a:spcBef>
              <a:spcAft>
                <a:spcPts val="0"/>
              </a:spcAft>
              <a:buClr>
                <a:schemeClr val="dk1"/>
              </a:buClr>
              <a:buSzPts val="2800"/>
              <a:buNone/>
            </a:pPr>
            <a:r>
              <a:t/>
            </a:r>
            <a:endParaRPr/>
          </a:p>
        </p:txBody>
      </p:sp>
      <p:pic>
        <p:nvPicPr>
          <p:cNvPr id="117" name="Google Shape;117;p6"/>
          <p:cNvPicPr preferRelativeResize="0"/>
          <p:nvPr/>
        </p:nvPicPr>
        <p:blipFill rotWithShape="1">
          <a:blip r:embed="rId3">
            <a:alphaModFix/>
          </a:blip>
          <a:srcRect b="0" l="10276" r="3397" t="3472"/>
          <a:stretch/>
        </p:blipFill>
        <p:spPr>
          <a:xfrm>
            <a:off x="7296151" y="238125"/>
            <a:ext cx="4781550" cy="66198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7"/>
          <p:cNvSpPr txBox="1"/>
          <p:nvPr>
            <p:ph type="title"/>
          </p:nvPr>
        </p:nvSpPr>
        <p:spPr>
          <a:xfrm>
            <a:off x="838200" y="136525"/>
            <a:ext cx="10515600" cy="7397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t>				Data Mining</a:t>
            </a:r>
            <a:endParaRPr/>
          </a:p>
        </p:txBody>
      </p:sp>
      <p:sp>
        <p:nvSpPr>
          <p:cNvPr id="123" name="Google Shape;123;p7"/>
          <p:cNvSpPr txBox="1"/>
          <p:nvPr>
            <p:ph idx="1" type="body"/>
          </p:nvPr>
        </p:nvSpPr>
        <p:spPr>
          <a:xfrm>
            <a:off x="599440" y="876300"/>
            <a:ext cx="6696711" cy="5743575"/>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The knowledge discovery process is an iterative sequence of the following steps:</a:t>
            </a:r>
            <a:endParaRPr/>
          </a:p>
          <a:p>
            <a:pPr indent="-514350" lvl="0" marL="514350" rtl="0" algn="just">
              <a:lnSpc>
                <a:spcPct val="90000"/>
              </a:lnSpc>
              <a:spcBef>
                <a:spcPts val="1000"/>
              </a:spcBef>
              <a:spcAft>
                <a:spcPts val="0"/>
              </a:spcAft>
              <a:buClr>
                <a:schemeClr val="dk1"/>
              </a:buClr>
              <a:buSzPts val="2800"/>
              <a:buFont typeface="Calibri"/>
              <a:buAutoNum type="arabicPeriod" startAt="5"/>
            </a:pPr>
            <a:r>
              <a:rPr b="1" lang="en-US"/>
              <a:t>Data mining:</a:t>
            </a:r>
            <a:r>
              <a:rPr lang="en-US"/>
              <a:t> intelligent methods are applied to extract data patterns.</a:t>
            </a:r>
            <a:endParaRPr/>
          </a:p>
          <a:p>
            <a:pPr indent="-514350" lvl="0" marL="514350" rtl="0" algn="just">
              <a:lnSpc>
                <a:spcPct val="90000"/>
              </a:lnSpc>
              <a:spcBef>
                <a:spcPts val="1000"/>
              </a:spcBef>
              <a:spcAft>
                <a:spcPts val="0"/>
              </a:spcAft>
              <a:buClr>
                <a:schemeClr val="dk1"/>
              </a:buClr>
              <a:buSzPts val="2800"/>
              <a:buFont typeface="Calibri"/>
              <a:buAutoNum type="arabicPeriod" startAt="5"/>
            </a:pPr>
            <a:r>
              <a:rPr b="1" lang="en-US"/>
              <a:t>Pattern evaluation:</a:t>
            </a:r>
            <a:r>
              <a:rPr lang="en-US"/>
              <a:t> to identify the truly interesting patterns representing knowledge based on interestingness measures.</a:t>
            </a:r>
            <a:endParaRPr/>
          </a:p>
          <a:p>
            <a:pPr indent="-514350" lvl="0" marL="514350" rtl="0" algn="just">
              <a:lnSpc>
                <a:spcPct val="90000"/>
              </a:lnSpc>
              <a:spcBef>
                <a:spcPts val="1000"/>
              </a:spcBef>
              <a:spcAft>
                <a:spcPts val="0"/>
              </a:spcAft>
              <a:buClr>
                <a:schemeClr val="dk1"/>
              </a:buClr>
              <a:buSzPts val="2800"/>
              <a:buFont typeface="Calibri"/>
              <a:buAutoNum type="arabicPeriod" startAt="5"/>
            </a:pPr>
            <a:r>
              <a:rPr b="1" lang="en-US"/>
              <a:t>Knowledge presentation:</a:t>
            </a:r>
            <a:r>
              <a:rPr lang="en-US"/>
              <a:t> visualization and knowledge representation techniques are used to present mined knowledge to users.</a:t>
            </a:r>
            <a:endParaRPr/>
          </a:p>
          <a:p>
            <a:pPr indent="-50800" lvl="0" marL="228600" rtl="0" algn="just">
              <a:lnSpc>
                <a:spcPct val="90000"/>
              </a:lnSpc>
              <a:spcBef>
                <a:spcPts val="1000"/>
              </a:spcBef>
              <a:spcAft>
                <a:spcPts val="0"/>
              </a:spcAft>
              <a:buClr>
                <a:schemeClr val="dk1"/>
              </a:buClr>
              <a:buSzPts val="2800"/>
              <a:buNone/>
            </a:pPr>
            <a:r>
              <a:t/>
            </a:r>
            <a:endParaRPr/>
          </a:p>
          <a:p>
            <a:pPr indent="-50800" lvl="0" marL="228600" rtl="0" algn="just">
              <a:lnSpc>
                <a:spcPct val="90000"/>
              </a:lnSpc>
              <a:spcBef>
                <a:spcPts val="1000"/>
              </a:spcBef>
              <a:spcAft>
                <a:spcPts val="0"/>
              </a:spcAft>
              <a:buClr>
                <a:schemeClr val="dk1"/>
              </a:buClr>
              <a:buSzPts val="2800"/>
              <a:buNone/>
            </a:pPr>
            <a:r>
              <a:t/>
            </a:r>
            <a:endParaRPr/>
          </a:p>
        </p:txBody>
      </p:sp>
      <p:pic>
        <p:nvPicPr>
          <p:cNvPr id="124" name="Google Shape;124;p7"/>
          <p:cNvPicPr preferRelativeResize="0"/>
          <p:nvPr/>
        </p:nvPicPr>
        <p:blipFill rotWithShape="1">
          <a:blip r:embed="rId3">
            <a:alphaModFix/>
          </a:blip>
          <a:srcRect b="0" l="10276" r="3397" t="3472"/>
          <a:stretch/>
        </p:blipFill>
        <p:spPr>
          <a:xfrm>
            <a:off x="7296151" y="238125"/>
            <a:ext cx="4781550" cy="66198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8"/>
          <p:cNvSpPr txBox="1"/>
          <p:nvPr>
            <p:ph type="title"/>
          </p:nvPr>
        </p:nvSpPr>
        <p:spPr>
          <a:xfrm>
            <a:off x="838200" y="136525"/>
            <a:ext cx="10515600" cy="7397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Data Mining</a:t>
            </a:r>
            <a:endParaRPr/>
          </a:p>
        </p:txBody>
      </p:sp>
      <p:sp>
        <p:nvSpPr>
          <p:cNvPr id="130" name="Google Shape;130;p8"/>
          <p:cNvSpPr txBox="1"/>
          <p:nvPr>
            <p:ph idx="1" type="body"/>
          </p:nvPr>
        </p:nvSpPr>
        <p:spPr>
          <a:xfrm>
            <a:off x="838200" y="876300"/>
            <a:ext cx="10515600" cy="5743575"/>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Data mining plays an essential role in the knowledge discovery process.</a:t>
            </a:r>
            <a:endParaRPr/>
          </a:p>
          <a:p>
            <a:pPr indent="-50800" lvl="0" marL="228600" rtl="0" algn="just">
              <a:lnSpc>
                <a:spcPct val="90000"/>
              </a:lnSpc>
              <a:spcBef>
                <a:spcPts val="1000"/>
              </a:spcBef>
              <a:spcAft>
                <a:spcPts val="0"/>
              </a:spcAft>
              <a:buClr>
                <a:schemeClr val="dk1"/>
              </a:buClr>
              <a:buSzPts val="2800"/>
              <a:buNone/>
            </a:pPr>
            <a:r>
              <a:t/>
            </a:r>
            <a:endParaRPr/>
          </a:p>
          <a:p>
            <a:pPr indent="-50800" lvl="0" marL="228600" rtl="0" algn="just">
              <a:lnSpc>
                <a:spcPct val="90000"/>
              </a:lnSpc>
              <a:spcBef>
                <a:spcPts val="1000"/>
              </a:spcBef>
              <a:spcAft>
                <a:spcPts val="0"/>
              </a:spcAft>
              <a:buClr>
                <a:schemeClr val="dk1"/>
              </a:buClr>
              <a:buSzPts val="2800"/>
              <a:buNone/>
            </a:pPr>
            <a:r>
              <a:t/>
            </a:r>
            <a:endParaRPr/>
          </a:p>
          <a:p>
            <a:pPr indent="-228600" lvl="0" marL="228600" rtl="0" algn="just">
              <a:lnSpc>
                <a:spcPct val="90000"/>
              </a:lnSpc>
              <a:spcBef>
                <a:spcPts val="1000"/>
              </a:spcBef>
              <a:spcAft>
                <a:spcPts val="0"/>
              </a:spcAft>
              <a:buClr>
                <a:schemeClr val="dk1"/>
              </a:buClr>
              <a:buSzPts val="2800"/>
              <a:buChar char="•"/>
            </a:pPr>
            <a:r>
              <a:rPr b="1" lang="en-US"/>
              <a:t>Data mining</a:t>
            </a:r>
            <a:r>
              <a:rPr lang="en-US"/>
              <a:t> is the process of discovering </a:t>
            </a:r>
            <a:r>
              <a:rPr b="1" lang="en-US"/>
              <a:t>interesting patterns </a:t>
            </a:r>
            <a:r>
              <a:rPr lang="en-US"/>
              <a:t>and </a:t>
            </a:r>
            <a:r>
              <a:rPr b="1" lang="en-US"/>
              <a:t>knowledge</a:t>
            </a:r>
            <a:r>
              <a:rPr lang="en-US"/>
              <a:t> from large amounts of data.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9"/>
          <p:cNvSpPr txBox="1"/>
          <p:nvPr>
            <p:ph type="title"/>
          </p:nvPr>
        </p:nvSpPr>
        <p:spPr>
          <a:xfrm>
            <a:off x="838200" y="136525"/>
            <a:ext cx="10515600" cy="7397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What Kinds of Data Can Be Mined?</a:t>
            </a:r>
            <a:endParaRPr sz="4000"/>
          </a:p>
        </p:txBody>
      </p:sp>
      <p:sp>
        <p:nvSpPr>
          <p:cNvPr id="136" name="Google Shape;136;p9"/>
          <p:cNvSpPr txBox="1"/>
          <p:nvPr>
            <p:ph idx="1" type="body"/>
          </p:nvPr>
        </p:nvSpPr>
        <p:spPr>
          <a:xfrm>
            <a:off x="838200" y="876300"/>
            <a:ext cx="10515600" cy="5743575"/>
          </a:xfrm>
          <a:prstGeom prst="rect">
            <a:avLst/>
          </a:prstGeom>
          <a:noFill/>
          <a:ln>
            <a:noFill/>
          </a:ln>
        </p:spPr>
        <p:txBody>
          <a:bodyPr anchorCtr="0" anchor="t"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2800"/>
              <a:buChar char="•"/>
            </a:pPr>
            <a:r>
              <a:rPr lang="en-US"/>
              <a:t>Data mining can be applied to </a:t>
            </a:r>
            <a:r>
              <a:rPr b="1" lang="en-US"/>
              <a:t>any kind of data </a:t>
            </a:r>
            <a:r>
              <a:rPr lang="en-US"/>
              <a:t>as long as the data are meaningful for a target application.</a:t>
            </a:r>
            <a:endParaRPr/>
          </a:p>
          <a:p>
            <a:pPr indent="-228600" lvl="0" marL="228600" rtl="0" algn="just">
              <a:lnSpc>
                <a:spcPct val="90000"/>
              </a:lnSpc>
              <a:spcBef>
                <a:spcPts val="1000"/>
              </a:spcBef>
              <a:spcAft>
                <a:spcPts val="0"/>
              </a:spcAft>
              <a:buClr>
                <a:schemeClr val="dk1"/>
              </a:buClr>
              <a:buSzPts val="2800"/>
              <a:buChar char="•"/>
            </a:pPr>
            <a:r>
              <a:rPr lang="en-US"/>
              <a:t> The most basic forms of Data:</a:t>
            </a:r>
            <a:endParaRPr/>
          </a:p>
          <a:p>
            <a:pPr indent="-228600" lvl="1" marL="685800" rtl="0" algn="just">
              <a:lnSpc>
                <a:spcPct val="90000"/>
              </a:lnSpc>
              <a:spcBef>
                <a:spcPts val="500"/>
              </a:spcBef>
              <a:spcAft>
                <a:spcPts val="0"/>
              </a:spcAft>
              <a:buClr>
                <a:schemeClr val="dk1"/>
              </a:buClr>
              <a:buSzPts val="2600"/>
              <a:buChar char="•"/>
            </a:pPr>
            <a:r>
              <a:rPr lang="en-US" sz="2600"/>
              <a:t>Database Data </a:t>
            </a:r>
            <a:endParaRPr/>
          </a:p>
          <a:p>
            <a:pPr indent="-228600" lvl="1" marL="685800" rtl="0" algn="just">
              <a:lnSpc>
                <a:spcPct val="90000"/>
              </a:lnSpc>
              <a:spcBef>
                <a:spcPts val="500"/>
              </a:spcBef>
              <a:spcAft>
                <a:spcPts val="0"/>
              </a:spcAft>
              <a:buClr>
                <a:schemeClr val="dk1"/>
              </a:buClr>
              <a:buSzPts val="2600"/>
              <a:buChar char="•"/>
            </a:pPr>
            <a:r>
              <a:rPr lang="en-US" sz="2600"/>
              <a:t>Data warehouse Data</a:t>
            </a:r>
            <a:endParaRPr/>
          </a:p>
          <a:p>
            <a:pPr indent="-228600" lvl="1" marL="685800" rtl="0" algn="just">
              <a:lnSpc>
                <a:spcPct val="90000"/>
              </a:lnSpc>
              <a:spcBef>
                <a:spcPts val="500"/>
              </a:spcBef>
              <a:spcAft>
                <a:spcPts val="0"/>
              </a:spcAft>
              <a:buClr>
                <a:schemeClr val="dk1"/>
              </a:buClr>
              <a:buSzPts val="2600"/>
              <a:buChar char="•"/>
            </a:pPr>
            <a:r>
              <a:rPr lang="en-US" sz="2600"/>
              <a:t>Transactional Data</a:t>
            </a:r>
            <a:endParaRPr/>
          </a:p>
          <a:p>
            <a:pPr indent="-228600" lvl="0" marL="228600" rtl="0" algn="just">
              <a:lnSpc>
                <a:spcPct val="90000"/>
              </a:lnSpc>
              <a:spcBef>
                <a:spcPts val="1000"/>
              </a:spcBef>
              <a:spcAft>
                <a:spcPts val="0"/>
              </a:spcAft>
              <a:buClr>
                <a:schemeClr val="dk1"/>
              </a:buClr>
              <a:buSzPts val="2800"/>
              <a:buChar char="•"/>
            </a:pPr>
            <a:r>
              <a:rPr lang="en-US"/>
              <a:t>Other forms of Data</a:t>
            </a:r>
            <a:endParaRPr/>
          </a:p>
          <a:p>
            <a:pPr indent="-228600" lvl="1" marL="685800" rtl="0" algn="just">
              <a:lnSpc>
                <a:spcPct val="90000"/>
              </a:lnSpc>
              <a:spcBef>
                <a:spcPts val="500"/>
              </a:spcBef>
              <a:spcAft>
                <a:spcPts val="0"/>
              </a:spcAft>
              <a:buClr>
                <a:schemeClr val="dk1"/>
              </a:buClr>
              <a:buSzPts val="2600"/>
              <a:buChar char="•"/>
            </a:pPr>
            <a:r>
              <a:rPr lang="en-US" sz="2600"/>
              <a:t>Data Streams </a:t>
            </a:r>
            <a:endParaRPr/>
          </a:p>
          <a:p>
            <a:pPr indent="-228600" lvl="1" marL="685800" rtl="0" algn="just">
              <a:lnSpc>
                <a:spcPct val="90000"/>
              </a:lnSpc>
              <a:spcBef>
                <a:spcPts val="500"/>
              </a:spcBef>
              <a:spcAft>
                <a:spcPts val="0"/>
              </a:spcAft>
              <a:buClr>
                <a:schemeClr val="dk1"/>
              </a:buClr>
              <a:buSzPts val="2600"/>
              <a:buChar char="•"/>
            </a:pPr>
            <a:r>
              <a:rPr lang="en-US" sz="2600"/>
              <a:t>Ordered/Sequence Data</a:t>
            </a:r>
            <a:endParaRPr/>
          </a:p>
          <a:p>
            <a:pPr indent="-228600" lvl="1" marL="685800" rtl="0" algn="just">
              <a:lnSpc>
                <a:spcPct val="90000"/>
              </a:lnSpc>
              <a:spcBef>
                <a:spcPts val="500"/>
              </a:spcBef>
              <a:spcAft>
                <a:spcPts val="0"/>
              </a:spcAft>
              <a:buClr>
                <a:schemeClr val="dk1"/>
              </a:buClr>
              <a:buSzPts val="2600"/>
              <a:buChar char="•"/>
            </a:pPr>
            <a:r>
              <a:rPr lang="en-US" sz="2600"/>
              <a:t>Graph or Networked Data</a:t>
            </a:r>
            <a:endParaRPr/>
          </a:p>
          <a:p>
            <a:pPr indent="-228600" lvl="1" marL="685800" rtl="0" algn="just">
              <a:lnSpc>
                <a:spcPct val="90000"/>
              </a:lnSpc>
              <a:spcBef>
                <a:spcPts val="500"/>
              </a:spcBef>
              <a:spcAft>
                <a:spcPts val="0"/>
              </a:spcAft>
              <a:buClr>
                <a:schemeClr val="dk1"/>
              </a:buClr>
              <a:buSzPts val="2600"/>
              <a:buChar char="•"/>
            </a:pPr>
            <a:r>
              <a:rPr lang="en-US" sz="2600"/>
              <a:t>Spatial Data</a:t>
            </a:r>
            <a:endParaRPr/>
          </a:p>
          <a:p>
            <a:pPr indent="-228600" lvl="1" marL="685800" rtl="0" algn="just">
              <a:lnSpc>
                <a:spcPct val="90000"/>
              </a:lnSpc>
              <a:spcBef>
                <a:spcPts val="500"/>
              </a:spcBef>
              <a:spcAft>
                <a:spcPts val="0"/>
              </a:spcAft>
              <a:buClr>
                <a:schemeClr val="dk1"/>
              </a:buClr>
              <a:buSzPts val="2600"/>
              <a:buChar char="•"/>
            </a:pPr>
            <a:r>
              <a:rPr lang="en-US" sz="2600"/>
              <a:t>Text Data</a:t>
            </a:r>
            <a:endParaRPr/>
          </a:p>
          <a:p>
            <a:pPr indent="-228600" lvl="1" marL="685800" rtl="0" algn="just">
              <a:lnSpc>
                <a:spcPct val="90000"/>
              </a:lnSpc>
              <a:spcBef>
                <a:spcPts val="500"/>
              </a:spcBef>
              <a:spcAft>
                <a:spcPts val="0"/>
              </a:spcAft>
              <a:buClr>
                <a:schemeClr val="dk1"/>
              </a:buClr>
              <a:buSzPts val="2600"/>
              <a:buChar char="•"/>
            </a:pPr>
            <a:r>
              <a:rPr lang="en-US" sz="2600"/>
              <a:t>Multimedia Data</a:t>
            </a:r>
            <a:endParaRPr/>
          </a:p>
          <a:p>
            <a:pPr indent="-228600" lvl="1" marL="685800" rtl="0" algn="just">
              <a:lnSpc>
                <a:spcPct val="90000"/>
              </a:lnSpc>
              <a:spcBef>
                <a:spcPts val="500"/>
              </a:spcBef>
              <a:spcAft>
                <a:spcPts val="0"/>
              </a:spcAft>
              <a:buClr>
                <a:schemeClr val="dk1"/>
              </a:buClr>
              <a:buSzPts val="2600"/>
              <a:buChar char="•"/>
            </a:pPr>
            <a:r>
              <a:rPr lang="en-US" sz="2600"/>
              <a:t> WWW</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0"/>
          <p:cNvSpPr txBox="1"/>
          <p:nvPr>
            <p:ph type="title"/>
          </p:nvPr>
        </p:nvSpPr>
        <p:spPr>
          <a:xfrm>
            <a:off x="838200" y="136525"/>
            <a:ext cx="10515600" cy="7397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 Data Mining Functionalities and Tasks</a:t>
            </a:r>
            <a:endParaRPr sz="4000"/>
          </a:p>
        </p:txBody>
      </p:sp>
      <p:sp>
        <p:nvSpPr>
          <p:cNvPr id="142" name="Google Shape;142;p10"/>
          <p:cNvSpPr txBox="1"/>
          <p:nvPr>
            <p:ph idx="1" type="body"/>
          </p:nvPr>
        </p:nvSpPr>
        <p:spPr>
          <a:xfrm>
            <a:off x="838200" y="876300"/>
            <a:ext cx="10515600" cy="5743575"/>
          </a:xfrm>
          <a:prstGeom prst="rect">
            <a:avLst/>
          </a:prstGeom>
          <a:noFill/>
          <a:ln>
            <a:noFill/>
          </a:ln>
        </p:spPr>
        <p:txBody>
          <a:bodyPr anchorCtr="0" anchor="t"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2800"/>
              <a:buChar char="•"/>
            </a:pPr>
            <a:r>
              <a:rPr lang="en-US"/>
              <a:t>There are a number of data mining functionalities: </a:t>
            </a:r>
            <a:endParaRPr/>
          </a:p>
          <a:p>
            <a:pPr indent="-228600" lvl="1" marL="685800" rtl="0" algn="just">
              <a:lnSpc>
                <a:spcPct val="90000"/>
              </a:lnSpc>
              <a:spcBef>
                <a:spcPts val="500"/>
              </a:spcBef>
              <a:spcAft>
                <a:spcPts val="0"/>
              </a:spcAft>
              <a:buClr>
                <a:schemeClr val="dk1"/>
              </a:buClr>
              <a:buSzPts val="2800"/>
              <a:buChar char="•"/>
            </a:pPr>
            <a:r>
              <a:rPr lang="en-US" sz="2800"/>
              <a:t>Mining of frequent patterns, associations, and correlations </a:t>
            </a:r>
            <a:endParaRPr/>
          </a:p>
          <a:p>
            <a:pPr indent="-228600" lvl="1" marL="685800" rtl="0" algn="just">
              <a:lnSpc>
                <a:spcPct val="90000"/>
              </a:lnSpc>
              <a:spcBef>
                <a:spcPts val="500"/>
              </a:spcBef>
              <a:spcAft>
                <a:spcPts val="0"/>
              </a:spcAft>
              <a:buClr>
                <a:schemeClr val="dk1"/>
              </a:buClr>
              <a:buSzPts val="2800"/>
              <a:buChar char="•"/>
            </a:pPr>
            <a:r>
              <a:rPr lang="en-US" sz="2800"/>
              <a:t>Classification and Regression </a:t>
            </a:r>
            <a:endParaRPr/>
          </a:p>
          <a:p>
            <a:pPr indent="-228600" lvl="1" marL="685800" rtl="0" algn="just">
              <a:lnSpc>
                <a:spcPct val="90000"/>
              </a:lnSpc>
              <a:spcBef>
                <a:spcPts val="500"/>
              </a:spcBef>
              <a:spcAft>
                <a:spcPts val="0"/>
              </a:spcAft>
              <a:buClr>
                <a:schemeClr val="dk1"/>
              </a:buClr>
              <a:buSzPts val="2800"/>
              <a:buChar char="•"/>
            </a:pPr>
            <a:r>
              <a:rPr lang="en-US" sz="2800"/>
              <a:t>Clustering Analysis </a:t>
            </a:r>
            <a:endParaRPr/>
          </a:p>
          <a:p>
            <a:pPr indent="-228600" lvl="1" marL="685800" rtl="0" algn="just">
              <a:lnSpc>
                <a:spcPct val="90000"/>
              </a:lnSpc>
              <a:spcBef>
                <a:spcPts val="500"/>
              </a:spcBef>
              <a:spcAft>
                <a:spcPts val="0"/>
              </a:spcAft>
              <a:buClr>
                <a:schemeClr val="dk1"/>
              </a:buClr>
              <a:buSzPts val="2800"/>
              <a:buChar char="•"/>
            </a:pPr>
            <a:r>
              <a:rPr lang="en-US" sz="2800"/>
              <a:t>Outlier Analysis </a:t>
            </a:r>
            <a:endParaRPr/>
          </a:p>
          <a:p>
            <a:pPr indent="-228600" lvl="0" marL="228600" rtl="0" algn="just">
              <a:lnSpc>
                <a:spcPct val="90000"/>
              </a:lnSpc>
              <a:spcBef>
                <a:spcPts val="1000"/>
              </a:spcBef>
              <a:spcAft>
                <a:spcPts val="0"/>
              </a:spcAft>
              <a:buClr>
                <a:schemeClr val="dk1"/>
              </a:buClr>
              <a:buSzPts val="2800"/>
              <a:buChar char="•"/>
            </a:pPr>
            <a:r>
              <a:rPr lang="en-US"/>
              <a:t>Data mining functionalities are used to specify the kinds of patterns to be found in data mining tasks.</a:t>
            </a:r>
            <a:endParaRPr/>
          </a:p>
          <a:p>
            <a:pPr indent="-228600" lvl="0" marL="228600" rtl="0" algn="just">
              <a:lnSpc>
                <a:spcPct val="90000"/>
              </a:lnSpc>
              <a:spcBef>
                <a:spcPts val="1000"/>
              </a:spcBef>
              <a:spcAft>
                <a:spcPts val="0"/>
              </a:spcAft>
              <a:buClr>
                <a:schemeClr val="dk1"/>
              </a:buClr>
              <a:buSzPts val="2800"/>
              <a:buChar char="•"/>
            </a:pPr>
            <a:r>
              <a:rPr lang="en-US"/>
              <a:t>Data mining tasks can be classified into two categories: </a:t>
            </a:r>
            <a:endParaRPr/>
          </a:p>
          <a:p>
            <a:pPr indent="-457200" lvl="1" marL="914400" rtl="0" algn="just">
              <a:lnSpc>
                <a:spcPct val="90000"/>
              </a:lnSpc>
              <a:spcBef>
                <a:spcPts val="500"/>
              </a:spcBef>
              <a:spcAft>
                <a:spcPts val="0"/>
              </a:spcAft>
              <a:buClr>
                <a:schemeClr val="dk1"/>
              </a:buClr>
              <a:buSzPts val="2800"/>
              <a:buFont typeface="Calibri"/>
              <a:buAutoNum type="arabicParenR"/>
            </a:pPr>
            <a:r>
              <a:rPr lang="en-US" sz="2800"/>
              <a:t>Descriptive: Descriptive mining tasks characterize properties of the data in a target data set.</a:t>
            </a:r>
            <a:endParaRPr/>
          </a:p>
          <a:p>
            <a:pPr indent="-457200" lvl="1" marL="914400" rtl="0" algn="just">
              <a:lnSpc>
                <a:spcPct val="90000"/>
              </a:lnSpc>
              <a:spcBef>
                <a:spcPts val="500"/>
              </a:spcBef>
              <a:spcAft>
                <a:spcPts val="0"/>
              </a:spcAft>
              <a:buClr>
                <a:schemeClr val="dk1"/>
              </a:buClr>
              <a:buSzPts val="2800"/>
              <a:buFont typeface="Calibri"/>
              <a:buAutoNum type="arabicParenR"/>
            </a:pPr>
            <a:r>
              <a:rPr lang="en-US" sz="2800"/>
              <a:t>Predictive: Predictive mining tasks perform induction on the current data in order to make predictions.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id="147" name="Google Shape;147;p11"/>
          <p:cNvPicPr preferRelativeResize="0"/>
          <p:nvPr/>
        </p:nvPicPr>
        <p:blipFill rotWithShape="1">
          <a:blip r:embed="rId3">
            <a:alphaModFix/>
          </a:blip>
          <a:srcRect b="0" l="0" r="0" t="0"/>
          <a:stretch/>
        </p:blipFill>
        <p:spPr>
          <a:xfrm>
            <a:off x="340843" y="1432561"/>
            <a:ext cx="11432695" cy="4643119"/>
          </a:xfrm>
          <a:prstGeom prst="rect">
            <a:avLst/>
          </a:prstGeom>
          <a:noFill/>
          <a:ln>
            <a:noFill/>
          </a:ln>
        </p:spPr>
      </p:pic>
      <p:sp>
        <p:nvSpPr>
          <p:cNvPr id="148" name="Google Shape;148;p11"/>
          <p:cNvSpPr txBox="1"/>
          <p:nvPr/>
        </p:nvSpPr>
        <p:spPr>
          <a:xfrm>
            <a:off x="823356" y="2153336"/>
            <a:ext cx="2951085" cy="1015663"/>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2000" u="none" cap="none" strike="noStrike">
                <a:solidFill>
                  <a:schemeClr val="dk1"/>
                </a:solidFill>
                <a:latin typeface="Calibri"/>
                <a:ea typeface="Calibri"/>
                <a:cs typeface="Calibri"/>
                <a:sym typeface="Calibri"/>
              </a:rPr>
              <a:t>Use some variables to predict unknown or future values of other variables</a:t>
            </a:r>
            <a:endParaRPr/>
          </a:p>
        </p:txBody>
      </p:sp>
      <p:sp>
        <p:nvSpPr>
          <p:cNvPr id="149" name="Google Shape;149;p11"/>
          <p:cNvSpPr txBox="1"/>
          <p:nvPr/>
        </p:nvSpPr>
        <p:spPr>
          <a:xfrm>
            <a:off x="8788400" y="2148897"/>
            <a:ext cx="2951084" cy="1015663"/>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2000" u="none" cap="none" strike="noStrike">
                <a:solidFill>
                  <a:schemeClr val="dk1"/>
                </a:solidFill>
                <a:latin typeface="Calibri"/>
                <a:ea typeface="Calibri"/>
                <a:cs typeface="Calibri"/>
                <a:sym typeface="Calibri"/>
              </a:rPr>
              <a:t>Find human-interpretable patterns that describe the data.</a:t>
            </a:r>
            <a:endParaRPr b="0" i="0" sz="2000" u="none" cap="none" strike="noStrike">
              <a:solidFill>
                <a:schemeClr val="dk1"/>
              </a:solidFill>
              <a:latin typeface="Calibri"/>
              <a:ea typeface="Calibri"/>
              <a:cs typeface="Calibri"/>
              <a:sym typeface="Calibri"/>
            </a:endParaRPr>
          </a:p>
        </p:txBody>
      </p:sp>
      <p:sp>
        <p:nvSpPr>
          <p:cNvPr id="150" name="Google Shape;150;p11"/>
          <p:cNvSpPr txBox="1"/>
          <p:nvPr/>
        </p:nvSpPr>
        <p:spPr>
          <a:xfrm>
            <a:off x="838200" y="136525"/>
            <a:ext cx="10515600" cy="73977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4000"/>
              <a:buFont typeface="Calibri"/>
              <a:buNone/>
            </a:pPr>
            <a:r>
              <a:rPr b="0" i="0" lang="en-US" sz="4000" u="none" cap="none" strike="noStrike">
                <a:solidFill>
                  <a:schemeClr val="dk1"/>
                </a:solidFill>
                <a:latin typeface="Calibri"/>
                <a:ea typeface="Calibri"/>
                <a:cs typeface="Calibri"/>
                <a:sym typeface="Calibri"/>
              </a:rPr>
              <a:t> Data Mining Functionalities and Tasks</a:t>
            </a:r>
            <a:endParaRPr b="0" i="0" sz="40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2"/>
          <p:cNvSpPr txBox="1"/>
          <p:nvPr>
            <p:ph type="title"/>
          </p:nvPr>
        </p:nvSpPr>
        <p:spPr>
          <a:xfrm>
            <a:off x="538480" y="136525"/>
            <a:ext cx="11165840" cy="73977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r>
              <a:rPr lang="en-US" sz="4000"/>
              <a:t>Mining Frequent Patterns, Associations, and Correlations</a:t>
            </a:r>
            <a:endParaRPr sz="4000"/>
          </a:p>
        </p:txBody>
      </p:sp>
      <p:sp>
        <p:nvSpPr>
          <p:cNvPr id="156" name="Google Shape;156;p12"/>
          <p:cNvSpPr txBox="1"/>
          <p:nvPr>
            <p:ph idx="1" type="body"/>
          </p:nvPr>
        </p:nvSpPr>
        <p:spPr>
          <a:xfrm>
            <a:off x="838200" y="876300"/>
            <a:ext cx="10515600" cy="5743575"/>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800"/>
              <a:buChar char="•"/>
            </a:pPr>
            <a:r>
              <a:rPr b="1" lang="en-US"/>
              <a:t>Frequent patterns</a:t>
            </a:r>
            <a:r>
              <a:rPr lang="en-US"/>
              <a:t> are patterns that occur frequently in data.</a:t>
            </a:r>
            <a:endParaRPr/>
          </a:p>
          <a:p>
            <a:pPr indent="-228600" lvl="0" marL="228600" rtl="0" algn="just">
              <a:lnSpc>
                <a:spcPct val="100000"/>
              </a:lnSpc>
              <a:spcBef>
                <a:spcPts val="1000"/>
              </a:spcBef>
              <a:spcAft>
                <a:spcPts val="0"/>
              </a:spcAft>
              <a:buClr>
                <a:schemeClr val="dk1"/>
              </a:buClr>
              <a:buSzPts val="2800"/>
              <a:buChar char="•"/>
            </a:pPr>
            <a:r>
              <a:rPr lang="en-US"/>
              <a:t>There are many kinds of frequent patterns, including:</a:t>
            </a:r>
            <a:endParaRPr/>
          </a:p>
          <a:p>
            <a:pPr indent="-228600" lvl="1" marL="685800" rtl="0" algn="just">
              <a:lnSpc>
                <a:spcPct val="100000"/>
              </a:lnSpc>
              <a:spcBef>
                <a:spcPts val="500"/>
              </a:spcBef>
              <a:spcAft>
                <a:spcPts val="0"/>
              </a:spcAft>
              <a:buClr>
                <a:schemeClr val="dk1"/>
              </a:buClr>
              <a:buSzPts val="2800"/>
              <a:buChar char="•"/>
            </a:pPr>
            <a:r>
              <a:rPr lang="en-US" sz="2800"/>
              <a:t>Frequent itemsets, </a:t>
            </a:r>
            <a:endParaRPr/>
          </a:p>
          <a:p>
            <a:pPr indent="-228600" lvl="1" marL="685800" rtl="0" algn="just">
              <a:lnSpc>
                <a:spcPct val="100000"/>
              </a:lnSpc>
              <a:spcBef>
                <a:spcPts val="500"/>
              </a:spcBef>
              <a:spcAft>
                <a:spcPts val="0"/>
              </a:spcAft>
              <a:buClr>
                <a:schemeClr val="dk1"/>
              </a:buClr>
              <a:buSzPts val="2800"/>
              <a:buChar char="•"/>
            </a:pPr>
            <a:r>
              <a:rPr lang="en-US" sz="2800"/>
              <a:t>Frequent subsequences (or sequential patterns), and </a:t>
            </a:r>
            <a:endParaRPr/>
          </a:p>
          <a:p>
            <a:pPr indent="-228600" lvl="1" marL="685800" rtl="0" algn="just">
              <a:lnSpc>
                <a:spcPct val="100000"/>
              </a:lnSpc>
              <a:spcBef>
                <a:spcPts val="500"/>
              </a:spcBef>
              <a:spcAft>
                <a:spcPts val="0"/>
              </a:spcAft>
              <a:buClr>
                <a:schemeClr val="dk1"/>
              </a:buClr>
              <a:buSzPts val="2800"/>
              <a:buChar char="•"/>
            </a:pPr>
            <a:r>
              <a:rPr lang="en-US" sz="2800"/>
              <a:t>Frequent substructures. </a:t>
            </a:r>
            <a:endParaRPr/>
          </a:p>
          <a:p>
            <a:pPr indent="-228600" lvl="0" marL="228600" rtl="0" algn="just">
              <a:lnSpc>
                <a:spcPct val="100000"/>
              </a:lnSpc>
              <a:spcBef>
                <a:spcPts val="1000"/>
              </a:spcBef>
              <a:spcAft>
                <a:spcPts val="0"/>
              </a:spcAft>
              <a:buClr>
                <a:schemeClr val="dk1"/>
              </a:buClr>
              <a:buSzPts val="2800"/>
              <a:buChar char="•"/>
            </a:pPr>
            <a:r>
              <a:rPr lang="en-US"/>
              <a:t>A </a:t>
            </a:r>
            <a:r>
              <a:rPr b="1" lang="en-US"/>
              <a:t>frequent itemset </a:t>
            </a:r>
            <a:r>
              <a:rPr lang="en-US"/>
              <a:t>typically refers to a set of items that often appear together in a transactional data set.</a:t>
            </a:r>
            <a:endParaRPr/>
          </a:p>
          <a:p>
            <a:pPr indent="-228600" lvl="0" marL="228600" rtl="0" algn="just">
              <a:lnSpc>
                <a:spcPct val="100000"/>
              </a:lnSpc>
              <a:spcBef>
                <a:spcPts val="1000"/>
              </a:spcBef>
              <a:spcAft>
                <a:spcPts val="0"/>
              </a:spcAft>
              <a:buClr>
                <a:schemeClr val="dk1"/>
              </a:buClr>
              <a:buSzPts val="2800"/>
              <a:buChar char="•"/>
            </a:pPr>
            <a:r>
              <a:rPr lang="en-US"/>
              <a:t>For example, milk and bread, which are frequently bought together in grocery stores by many customers.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3"/>
          <p:cNvSpPr txBox="1"/>
          <p:nvPr>
            <p:ph type="title"/>
          </p:nvPr>
        </p:nvSpPr>
        <p:spPr>
          <a:xfrm>
            <a:off x="538480" y="136525"/>
            <a:ext cx="11165840" cy="73977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r>
              <a:rPr lang="en-US" sz="4000"/>
              <a:t>Mining Frequent Patterns, Associations, and Correlations</a:t>
            </a:r>
            <a:endParaRPr sz="4000"/>
          </a:p>
        </p:txBody>
      </p:sp>
      <p:sp>
        <p:nvSpPr>
          <p:cNvPr id="162" name="Google Shape;162;p13"/>
          <p:cNvSpPr txBox="1"/>
          <p:nvPr>
            <p:ph idx="1" type="body"/>
          </p:nvPr>
        </p:nvSpPr>
        <p:spPr>
          <a:xfrm>
            <a:off x="838200" y="876300"/>
            <a:ext cx="10515600" cy="5743575"/>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800"/>
              <a:buChar char="•"/>
            </a:pPr>
            <a:r>
              <a:rPr lang="en-US"/>
              <a:t>A </a:t>
            </a:r>
            <a:r>
              <a:rPr b="1" lang="en-US"/>
              <a:t>frequently subsequence</a:t>
            </a:r>
            <a:r>
              <a:rPr lang="en-US"/>
              <a:t>, such as the pattern that customers, tend to purchase first a laptop, followed by a digital camera, and then a memory card, is a (frequent) sequential pattern. </a:t>
            </a:r>
            <a:endParaRPr/>
          </a:p>
          <a:p>
            <a:pPr indent="-228600" lvl="0" marL="228600" rtl="0" algn="just">
              <a:lnSpc>
                <a:spcPct val="100000"/>
              </a:lnSpc>
              <a:spcBef>
                <a:spcPts val="1000"/>
              </a:spcBef>
              <a:spcAft>
                <a:spcPts val="0"/>
              </a:spcAft>
              <a:buClr>
                <a:schemeClr val="dk1"/>
              </a:buClr>
              <a:buSzPts val="2800"/>
              <a:buChar char="•"/>
            </a:pPr>
            <a:r>
              <a:rPr lang="en-US"/>
              <a:t>A </a:t>
            </a:r>
            <a:r>
              <a:rPr b="1" lang="en-US"/>
              <a:t>substructure</a:t>
            </a:r>
            <a:r>
              <a:rPr lang="en-US"/>
              <a:t> can refer to different structural forms (e.g., graphs, trees, or lattices) that may be combined with itemsets or subsequences. If a substructure occurs frequently, it is called a (frequent) structured pattern. </a:t>
            </a:r>
            <a:endParaRPr sz="2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4"/>
          <p:cNvSpPr txBox="1"/>
          <p:nvPr>
            <p:ph type="title"/>
          </p:nvPr>
        </p:nvSpPr>
        <p:spPr>
          <a:xfrm>
            <a:off x="538480" y="136525"/>
            <a:ext cx="11165840" cy="73977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r>
              <a:rPr lang="en-US" sz="4000"/>
              <a:t>Mining Frequent Patterns, Associations, and Correlations</a:t>
            </a:r>
            <a:endParaRPr sz="4000"/>
          </a:p>
        </p:txBody>
      </p:sp>
      <p:sp>
        <p:nvSpPr>
          <p:cNvPr id="168" name="Google Shape;168;p14"/>
          <p:cNvSpPr txBox="1"/>
          <p:nvPr>
            <p:ph idx="1" type="body"/>
          </p:nvPr>
        </p:nvSpPr>
        <p:spPr>
          <a:xfrm>
            <a:off x="838200" y="876300"/>
            <a:ext cx="10515600" cy="5743575"/>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800"/>
              <a:buChar char="•"/>
            </a:pPr>
            <a:r>
              <a:rPr b="1" lang="en-US"/>
              <a:t>Association analysis:</a:t>
            </a:r>
            <a:r>
              <a:rPr lang="en-US"/>
              <a:t> Suppose that, as a marketing manager at AllElectronics, you want to know which items are frequently purchased together (i.e., within the same transaction). An example of such a rule, mined from the AllElectronics transactional database, is</a:t>
            </a:r>
            <a:endParaRPr/>
          </a:p>
          <a:p>
            <a:pPr indent="0" lvl="0" marL="0" rtl="0" algn="ctr">
              <a:lnSpc>
                <a:spcPct val="100000"/>
              </a:lnSpc>
              <a:spcBef>
                <a:spcPts val="1000"/>
              </a:spcBef>
              <a:spcAft>
                <a:spcPts val="0"/>
              </a:spcAft>
              <a:buClr>
                <a:schemeClr val="dk1"/>
              </a:buClr>
              <a:buSzPts val="2400"/>
              <a:buNone/>
            </a:pPr>
            <a:r>
              <a:rPr i="1" lang="en-US" sz="2400"/>
              <a:t>Buys(X, computer”)</a:t>
            </a:r>
            <a:r>
              <a:rPr lang="en-US" sz="2400"/>
              <a:t> 🡪</a:t>
            </a:r>
            <a:r>
              <a:rPr i="1" lang="en-US" sz="2400"/>
              <a:t> buys(X, software) [support = 1%,confidence = 50%]</a:t>
            </a:r>
            <a:endParaRPr/>
          </a:p>
          <a:p>
            <a:pPr indent="-228600" lvl="0" marL="228600" rtl="0" algn="just">
              <a:lnSpc>
                <a:spcPct val="100000"/>
              </a:lnSpc>
              <a:spcBef>
                <a:spcPts val="1000"/>
              </a:spcBef>
              <a:spcAft>
                <a:spcPts val="0"/>
              </a:spcAft>
              <a:buClr>
                <a:schemeClr val="dk1"/>
              </a:buClr>
              <a:buSzPts val="2800"/>
              <a:buChar char="•"/>
            </a:pPr>
            <a:r>
              <a:rPr lang="en-US"/>
              <a:t>Association Rules are discarded as uninteresting if they do not satisfy </a:t>
            </a:r>
            <a:r>
              <a:rPr b="1" lang="en-US"/>
              <a:t>both</a:t>
            </a:r>
            <a:r>
              <a:rPr lang="en-US"/>
              <a:t> a </a:t>
            </a:r>
            <a:r>
              <a:rPr b="1" lang="en-US"/>
              <a:t>minimum support threshold </a:t>
            </a:r>
            <a:r>
              <a:rPr lang="en-US"/>
              <a:t>and</a:t>
            </a:r>
            <a:r>
              <a:rPr b="1" lang="en-US"/>
              <a:t> </a:t>
            </a:r>
            <a:r>
              <a:rPr lang="en-US"/>
              <a:t>a </a:t>
            </a:r>
            <a:r>
              <a:rPr b="1" lang="en-US"/>
              <a:t>minimum confidence threshold</a:t>
            </a:r>
            <a:r>
              <a:rPr lang="en-US"/>
              <a:t>. </a:t>
            </a:r>
            <a:endParaRPr/>
          </a:p>
          <a:p>
            <a:pPr indent="-228600" lvl="0" marL="228600" rtl="0" algn="just">
              <a:lnSpc>
                <a:spcPct val="100000"/>
              </a:lnSpc>
              <a:spcBef>
                <a:spcPts val="1000"/>
              </a:spcBef>
              <a:spcAft>
                <a:spcPts val="0"/>
              </a:spcAft>
              <a:buClr>
                <a:schemeClr val="dk1"/>
              </a:buClr>
              <a:buSzPts val="2800"/>
              <a:buChar char="•"/>
            </a:pPr>
            <a:r>
              <a:rPr lang="en-US"/>
              <a:t>Additional analysis can be performed to uncover interesting statistical correlations between associated attribute–value pairs.</a:t>
            </a:r>
            <a:endParaRPr sz="2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5"/>
          <p:cNvSpPr txBox="1"/>
          <p:nvPr>
            <p:ph type="title"/>
          </p:nvPr>
        </p:nvSpPr>
        <p:spPr>
          <a:xfrm>
            <a:off x="538480" y="136525"/>
            <a:ext cx="11165840" cy="73977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r>
              <a:rPr lang="en-US" sz="4000"/>
              <a:t>Mining Frequent Patterns, Associations, and Correlations</a:t>
            </a:r>
            <a:endParaRPr sz="4000"/>
          </a:p>
        </p:txBody>
      </p:sp>
      <p:sp>
        <p:nvSpPr>
          <p:cNvPr id="174" name="Google Shape;174;p15"/>
          <p:cNvSpPr txBox="1"/>
          <p:nvPr>
            <p:ph idx="1" type="body"/>
          </p:nvPr>
        </p:nvSpPr>
        <p:spPr>
          <a:xfrm>
            <a:off x="838200" y="876300"/>
            <a:ext cx="10515600" cy="5743575"/>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800"/>
              <a:buChar char="•"/>
            </a:pPr>
            <a:r>
              <a:rPr lang="en-US"/>
              <a:t>Correlation: is measured not only by its support and confidence but also by the correlation between itemsets A and B.</a:t>
            </a:r>
            <a:endParaRPr/>
          </a:p>
          <a:p>
            <a:pPr indent="-228600" lvl="0" marL="228600" rtl="0" algn="just">
              <a:lnSpc>
                <a:spcPct val="100000"/>
              </a:lnSpc>
              <a:spcBef>
                <a:spcPts val="1000"/>
              </a:spcBef>
              <a:spcAft>
                <a:spcPts val="0"/>
              </a:spcAft>
              <a:buClr>
                <a:schemeClr val="dk1"/>
              </a:buClr>
              <a:buSzPts val="2800"/>
              <a:buChar char="•"/>
            </a:pPr>
            <a:r>
              <a:rPr lang="en-US"/>
              <a:t>There are several correlation measures rules: Lift, Chi-square χ</a:t>
            </a:r>
            <a:r>
              <a:rPr baseline="30000" lang="en-US"/>
              <a:t>2</a:t>
            </a:r>
            <a:r>
              <a:rPr lang="en-US"/>
              <a:t> </a:t>
            </a:r>
            <a:endParaRPr sz="2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6"/>
          <p:cNvSpPr txBox="1"/>
          <p:nvPr>
            <p:ph type="title"/>
          </p:nvPr>
        </p:nvSpPr>
        <p:spPr>
          <a:xfrm>
            <a:off x="538480" y="136525"/>
            <a:ext cx="11165840" cy="7397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Classification and Regression</a:t>
            </a:r>
            <a:endParaRPr sz="4000"/>
          </a:p>
        </p:txBody>
      </p:sp>
      <p:sp>
        <p:nvSpPr>
          <p:cNvPr id="180" name="Google Shape;180;p16"/>
          <p:cNvSpPr txBox="1"/>
          <p:nvPr>
            <p:ph idx="1" type="body"/>
          </p:nvPr>
        </p:nvSpPr>
        <p:spPr>
          <a:xfrm>
            <a:off x="838200" y="876300"/>
            <a:ext cx="10515600" cy="5743575"/>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800"/>
              <a:buChar char="•"/>
            </a:pPr>
            <a:r>
              <a:rPr b="1" lang="en-US"/>
              <a:t>Classification</a:t>
            </a:r>
            <a:r>
              <a:rPr lang="en-US"/>
              <a:t> is the process of finding a model (or function) that describes and distinguishes data classes or concepts. </a:t>
            </a:r>
            <a:endParaRPr/>
          </a:p>
          <a:p>
            <a:pPr indent="-228600" lvl="0" marL="228600" rtl="0" algn="just">
              <a:lnSpc>
                <a:spcPct val="100000"/>
              </a:lnSpc>
              <a:spcBef>
                <a:spcPts val="1000"/>
              </a:spcBef>
              <a:spcAft>
                <a:spcPts val="0"/>
              </a:spcAft>
              <a:buClr>
                <a:schemeClr val="dk1"/>
              </a:buClr>
              <a:buSzPts val="2800"/>
              <a:buChar char="•"/>
            </a:pPr>
            <a:r>
              <a:rPr lang="en-US"/>
              <a:t>The model are derived based on the analysis of a set of </a:t>
            </a:r>
            <a:r>
              <a:rPr b="1" lang="en-US"/>
              <a:t>training data </a:t>
            </a:r>
            <a:r>
              <a:rPr lang="en-US"/>
              <a:t>(i.e., data objects for which the class labels are known). </a:t>
            </a:r>
            <a:endParaRPr/>
          </a:p>
          <a:p>
            <a:pPr indent="-228600" lvl="0" marL="228600" rtl="0" algn="just">
              <a:lnSpc>
                <a:spcPct val="100000"/>
              </a:lnSpc>
              <a:spcBef>
                <a:spcPts val="1000"/>
              </a:spcBef>
              <a:spcAft>
                <a:spcPts val="0"/>
              </a:spcAft>
              <a:buClr>
                <a:schemeClr val="dk1"/>
              </a:buClr>
              <a:buSzPts val="2800"/>
              <a:buChar char="•"/>
            </a:pPr>
            <a:r>
              <a:rPr lang="en-US"/>
              <a:t>The model is used to </a:t>
            </a:r>
            <a:r>
              <a:rPr b="1" lang="en-US"/>
              <a:t>predict the class label </a:t>
            </a:r>
            <a:r>
              <a:rPr lang="en-US"/>
              <a:t>of objects for which the class label is unknown.</a:t>
            </a:r>
            <a:endParaRPr/>
          </a:p>
          <a:p>
            <a:pPr indent="-228600" lvl="0" marL="228600" rtl="0" algn="just">
              <a:lnSpc>
                <a:spcPct val="100000"/>
              </a:lnSpc>
              <a:spcBef>
                <a:spcPts val="1000"/>
              </a:spcBef>
              <a:spcAft>
                <a:spcPts val="0"/>
              </a:spcAft>
              <a:buClr>
                <a:schemeClr val="dk1"/>
              </a:buClr>
              <a:buSzPts val="2800"/>
              <a:buChar char="•"/>
            </a:pPr>
            <a:r>
              <a:rPr lang="en-US"/>
              <a:t>The derived model may be represented in various forms, such as classification rules (i.e., IF-THEN rules), decision trees, mathematical formulae, neural networks.</a:t>
            </a:r>
            <a:endParaRPr/>
          </a:p>
          <a:p>
            <a:pPr indent="-228600" lvl="0" marL="228600" rtl="0" algn="just">
              <a:lnSpc>
                <a:spcPct val="100000"/>
              </a:lnSpc>
              <a:spcBef>
                <a:spcPts val="1000"/>
              </a:spcBef>
              <a:spcAft>
                <a:spcPts val="0"/>
              </a:spcAft>
              <a:buClr>
                <a:schemeClr val="dk1"/>
              </a:buClr>
              <a:buSzPts val="2800"/>
              <a:buChar char="•"/>
            </a:pPr>
            <a:r>
              <a:rPr lang="en-US"/>
              <a:t>There are many other methods for constructing classification models, such as na¨ıve Bayesian classification, support vector machines, and k-nearest-neighbor classification.</a:t>
            </a:r>
            <a:endParaRPr sz="2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7"/>
          <p:cNvSpPr txBox="1"/>
          <p:nvPr>
            <p:ph type="title"/>
          </p:nvPr>
        </p:nvSpPr>
        <p:spPr>
          <a:xfrm>
            <a:off x="538480" y="136525"/>
            <a:ext cx="11165840" cy="7397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Classification and Regression</a:t>
            </a:r>
            <a:endParaRPr sz="4000"/>
          </a:p>
        </p:txBody>
      </p:sp>
      <p:sp>
        <p:nvSpPr>
          <p:cNvPr id="186" name="Google Shape;186;p17"/>
          <p:cNvSpPr txBox="1"/>
          <p:nvPr>
            <p:ph idx="1" type="body"/>
          </p:nvPr>
        </p:nvSpPr>
        <p:spPr>
          <a:xfrm>
            <a:off x="838200" y="876300"/>
            <a:ext cx="10515600" cy="5743575"/>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800"/>
              <a:buChar char="•"/>
            </a:pPr>
            <a:r>
              <a:rPr lang="en-US"/>
              <a:t>Classification predicts categorical (discrete, unordered) labels, and regression models continuous-valued functions.</a:t>
            </a:r>
            <a:endParaRPr/>
          </a:p>
          <a:p>
            <a:pPr indent="-228600" lvl="0" marL="228600" rtl="0" algn="just">
              <a:lnSpc>
                <a:spcPct val="100000"/>
              </a:lnSpc>
              <a:spcBef>
                <a:spcPts val="1000"/>
              </a:spcBef>
              <a:spcAft>
                <a:spcPts val="0"/>
              </a:spcAft>
              <a:buClr>
                <a:schemeClr val="dk1"/>
              </a:buClr>
              <a:buSzPts val="2800"/>
              <a:buChar char="•"/>
            </a:pPr>
            <a:r>
              <a:rPr b="1" lang="en-US"/>
              <a:t>Regression</a:t>
            </a:r>
            <a:r>
              <a:rPr lang="en-US"/>
              <a:t> is used to predict missing or unavailable numerical data values rather than (discrete) class labels. </a:t>
            </a:r>
            <a:endParaRPr/>
          </a:p>
          <a:p>
            <a:pPr indent="-228600" lvl="0" marL="228600" rtl="0" algn="just">
              <a:lnSpc>
                <a:spcPct val="100000"/>
              </a:lnSpc>
              <a:spcBef>
                <a:spcPts val="1000"/>
              </a:spcBef>
              <a:spcAft>
                <a:spcPts val="0"/>
              </a:spcAft>
              <a:buClr>
                <a:schemeClr val="dk1"/>
              </a:buClr>
              <a:buSzPts val="2800"/>
              <a:buChar char="•"/>
            </a:pPr>
            <a:r>
              <a:rPr lang="en-US"/>
              <a:t>Regression analysis is a statistical methodology that is most often used for numeric prediction.</a:t>
            </a:r>
            <a:endParaRPr sz="28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8"/>
          <p:cNvSpPr txBox="1"/>
          <p:nvPr>
            <p:ph type="title"/>
          </p:nvPr>
        </p:nvSpPr>
        <p:spPr>
          <a:xfrm>
            <a:off x="538480" y="136525"/>
            <a:ext cx="11165840" cy="7397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Cluster Analysis</a:t>
            </a:r>
            <a:endParaRPr sz="4000"/>
          </a:p>
        </p:txBody>
      </p:sp>
      <p:sp>
        <p:nvSpPr>
          <p:cNvPr id="192" name="Google Shape;192;p18"/>
          <p:cNvSpPr txBox="1"/>
          <p:nvPr>
            <p:ph idx="1" type="body"/>
          </p:nvPr>
        </p:nvSpPr>
        <p:spPr>
          <a:xfrm>
            <a:off x="838200" y="876300"/>
            <a:ext cx="10515600" cy="5743575"/>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800"/>
              <a:buChar char="•"/>
            </a:pPr>
            <a:r>
              <a:rPr lang="en-US"/>
              <a:t>Unlike classification and regression, which analyze class-labeled (training) data sets, clustering analyzes data objects without consulting class labels. </a:t>
            </a:r>
            <a:endParaRPr/>
          </a:p>
          <a:p>
            <a:pPr indent="-228600" lvl="0" marL="228600" rtl="0" algn="just">
              <a:lnSpc>
                <a:spcPct val="100000"/>
              </a:lnSpc>
              <a:spcBef>
                <a:spcPts val="1000"/>
              </a:spcBef>
              <a:spcAft>
                <a:spcPts val="0"/>
              </a:spcAft>
              <a:buClr>
                <a:schemeClr val="dk1"/>
              </a:buClr>
              <a:buSzPts val="2800"/>
              <a:buChar char="•"/>
            </a:pPr>
            <a:r>
              <a:rPr lang="en-US"/>
              <a:t>In many cases, class labeled data may simply not exist at the beginning. </a:t>
            </a:r>
            <a:endParaRPr/>
          </a:p>
          <a:p>
            <a:pPr indent="-228600" lvl="0" marL="228600" rtl="0" algn="just">
              <a:lnSpc>
                <a:spcPct val="100000"/>
              </a:lnSpc>
              <a:spcBef>
                <a:spcPts val="1000"/>
              </a:spcBef>
              <a:spcAft>
                <a:spcPts val="0"/>
              </a:spcAft>
              <a:buClr>
                <a:schemeClr val="dk1"/>
              </a:buClr>
              <a:buSzPts val="2800"/>
              <a:buChar char="•"/>
            </a:pPr>
            <a:r>
              <a:rPr lang="en-US"/>
              <a:t>Clustering can be used to generate class labels for a group of data. </a:t>
            </a:r>
            <a:endParaRPr/>
          </a:p>
          <a:p>
            <a:pPr indent="-228600" lvl="0" marL="228600" rtl="0" algn="just">
              <a:lnSpc>
                <a:spcPct val="100000"/>
              </a:lnSpc>
              <a:spcBef>
                <a:spcPts val="1000"/>
              </a:spcBef>
              <a:spcAft>
                <a:spcPts val="0"/>
              </a:spcAft>
              <a:buClr>
                <a:schemeClr val="dk1"/>
              </a:buClr>
              <a:buSzPts val="2800"/>
              <a:buChar char="•"/>
            </a:pPr>
            <a:r>
              <a:rPr lang="en-US"/>
              <a:t>The objects are clustered or grouped based on the principle of </a:t>
            </a:r>
            <a:r>
              <a:rPr b="1" lang="en-US"/>
              <a:t>maximizing the intraclass similarity </a:t>
            </a:r>
            <a:r>
              <a:rPr lang="en-US"/>
              <a:t>and </a:t>
            </a:r>
            <a:r>
              <a:rPr b="1" lang="en-US"/>
              <a:t>minimizing the interclass similarity</a:t>
            </a:r>
            <a:r>
              <a:rPr lang="en-US"/>
              <a:t>. </a:t>
            </a:r>
            <a:endParaRPr sz="28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9"/>
          <p:cNvSpPr txBox="1"/>
          <p:nvPr>
            <p:ph type="title"/>
          </p:nvPr>
        </p:nvSpPr>
        <p:spPr>
          <a:xfrm>
            <a:off x="538480" y="136525"/>
            <a:ext cx="11165840" cy="7397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Outlier Analysis</a:t>
            </a:r>
            <a:endParaRPr sz="4000"/>
          </a:p>
        </p:txBody>
      </p:sp>
      <p:sp>
        <p:nvSpPr>
          <p:cNvPr id="198" name="Google Shape;198;p19"/>
          <p:cNvSpPr txBox="1"/>
          <p:nvPr>
            <p:ph idx="1" type="body"/>
          </p:nvPr>
        </p:nvSpPr>
        <p:spPr>
          <a:xfrm>
            <a:off x="838200" y="876300"/>
            <a:ext cx="10515600" cy="5743575"/>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800"/>
              <a:buChar char="•"/>
            </a:pPr>
            <a:r>
              <a:rPr lang="en-US"/>
              <a:t>A data set may contain objects that do not comply with the general behavior or model of the data. These data objects are outliers. </a:t>
            </a:r>
            <a:endParaRPr/>
          </a:p>
          <a:p>
            <a:pPr indent="-228600" lvl="0" marL="228600" rtl="0" algn="just">
              <a:lnSpc>
                <a:spcPct val="100000"/>
              </a:lnSpc>
              <a:spcBef>
                <a:spcPts val="1000"/>
              </a:spcBef>
              <a:spcAft>
                <a:spcPts val="0"/>
              </a:spcAft>
              <a:buClr>
                <a:schemeClr val="dk1"/>
              </a:buClr>
              <a:buSzPts val="2800"/>
              <a:buChar char="•"/>
            </a:pPr>
            <a:r>
              <a:rPr lang="en-US"/>
              <a:t>Many data mining methods discard outliers as noise or exceptions</a:t>
            </a:r>
            <a:endParaRPr/>
          </a:p>
          <a:p>
            <a:pPr indent="-228600" lvl="0" marL="228600" rtl="0" algn="just">
              <a:lnSpc>
                <a:spcPct val="100000"/>
              </a:lnSpc>
              <a:spcBef>
                <a:spcPts val="1000"/>
              </a:spcBef>
              <a:spcAft>
                <a:spcPts val="0"/>
              </a:spcAft>
              <a:buClr>
                <a:schemeClr val="dk1"/>
              </a:buClr>
              <a:buSzPts val="2800"/>
              <a:buChar char="•"/>
            </a:pPr>
            <a:r>
              <a:rPr lang="en-US"/>
              <a:t>. However, in some applications (e.g., fraud detection) the rare events can be more interesting than the more regularly occurring ones. </a:t>
            </a:r>
            <a:endParaRPr/>
          </a:p>
          <a:p>
            <a:pPr indent="-228600" lvl="0" marL="228600" rtl="0" algn="just">
              <a:lnSpc>
                <a:spcPct val="100000"/>
              </a:lnSpc>
              <a:spcBef>
                <a:spcPts val="1000"/>
              </a:spcBef>
              <a:spcAft>
                <a:spcPts val="0"/>
              </a:spcAft>
              <a:buClr>
                <a:schemeClr val="dk1"/>
              </a:buClr>
              <a:buSzPts val="2800"/>
              <a:buChar char="•"/>
            </a:pPr>
            <a:r>
              <a:rPr lang="en-US"/>
              <a:t>The analysis of outlier data is referred to as outlier analysis or anomaly mining.</a:t>
            </a:r>
            <a:endParaRPr/>
          </a:p>
          <a:p>
            <a:pPr indent="-228600" lvl="0" marL="228600" rtl="0" algn="just">
              <a:lnSpc>
                <a:spcPct val="100000"/>
              </a:lnSpc>
              <a:spcBef>
                <a:spcPts val="1000"/>
              </a:spcBef>
              <a:spcAft>
                <a:spcPts val="0"/>
              </a:spcAft>
              <a:buClr>
                <a:schemeClr val="dk1"/>
              </a:buClr>
              <a:buSzPts val="2800"/>
              <a:buChar char="•"/>
            </a:pPr>
            <a:r>
              <a:rPr lang="en-US"/>
              <a:t>Outliers may be detected using </a:t>
            </a:r>
            <a:r>
              <a:rPr b="1" lang="en-US"/>
              <a:t>statistical tests </a:t>
            </a:r>
            <a:r>
              <a:rPr lang="en-US"/>
              <a:t>that assume a distribution or probability model for the data, or </a:t>
            </a:r>
            <a:endParaRPr/>
          </a:p>
          <a:p>
            <a:pPr indent="-228600" lvl="0" marL="228600" rtl="0" algn="just">
              <a:lnSpc>
                <a:spcPct val="100000"/>
              </a:lnSpc>
              <a:spcBef>
                <a:spcPts val="1000"/>
              </a:spcBef>
              <a:spcAft>
                <a:spcPts val="0"/>
              </a:spcAft>
              <a:buClr>
                <a:schemeClr val="dk1"/>
              </a:buClr>
              <a:buSzPts val="2800"/>
              <a:buChar char="•"/>
            </a:pPr>
            <a:r>
              <a:rPr lang="en-US"/>
              <a:t>Using </a:t>
            </a:r>
            <a:r>
              <a:rPr b="1" lang="en-US"/>
              <a:t>distance measures </a:t>
            </a:r>
            <a:r>
              <a:rPr lang="en-US"/>
              <a:t>where objects that are remote from any other cluster are considered outliers. </a:t>
            </a:r>
            <a:endParaRPr sz="28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0"/>
          <p:cNvSpPr txBox="1"/>
          <p:nvPr>
            <p:ph type="title"/>
          </p:nvPr>
        </p:nvSpPr>
        <p:spPr>
          <a:xfrm>
            <a:off x="538480" y="136525"/>
            <a:ext cx="11165840" cy="7397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Which Technologies Are Used?</a:t>
            </a:r>
            <a:endParaRPr sz="4000"/>
          </a:p>
        </p:txBody>
      </p:sp>
      <p:sp>
        <p:nvSpPr>
          <p:cNvPr id="204" name="Google Shape;204;p20"/>
          <p:cNvSpPr txBox="1"/>
          <p:nvPr>
            <p:ph idx="1" type="body"/>
          </p:nvPr>
        </p:nvSpPr>
        <p:spPr>
          <a:xfrm>
            <a:off x="838200" y="855980"/>
            <a:ext cx="10515600" cy="5743575"/>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800"/>
              <a:buChar char="•"/>
            </a:pPr>
            <a:r>
              <a:rPr lang="en-US"/>
              <a:t>data mining has incorporated many techniques from other domains such as statistics, machine learning, pattern recognition, database and data warehouse systems, information retrieval, visualization, algorithms, high performance computing, and many application domains.</a:t>
            </a:r>
            <a:endParaRPr/>
          </a:p>
          <a:p>
            <a:pPr indent="-50800" lvl="0" marL="228600" rtl="0" algn="just">
              <a:lnSpc>
                <a:spcPct val="100000"/>
              </a:lnSpc>
              <a:spcBef>
                <a:spcPts val="1000"/>
              </a:spcBef>
              <a:spcAft>
                <a:spcPts val="0"/>
              </a:spcAft>
              <a:buClr>
                <a:schemeClr val="dk1"/>
              </a:buClr>
              <a:buSzPts val="2800"/>
              <a:buNone/>
            </a:pPr>
            <a:r>
              <a:t/>
            </a:r>
            <a:endParaRPr/>
          </a:p>
          <a:p>
            <a:pPr indent="-228600" lvl="0" marL="228600" rtl="0" algn="just">
              <a:lnSpc>
                <a:spcPct val="100000"/>
              </a:lnSpc>
              <a:spcBef>
                <a:spcPts val="1000"/>
              </a:spcBef>
              <a:spcAft>
                <a:spcPts val="0"/>
              </a:spcAft>
              <a:buClr>
                <a:schemeClr val="dk1"/>
              </a:buClr>
              <a:buSzPts val="2800"/>
              <a:buChar char="•"/>
            </a:pPr>
            <a:r>
              <a:rPr lang="en-US"/>
              <a:t>Data mining adopts </a:t>
            </a:r>
            <a:endParaRPr/>
          </a:p>
          <a:p>
            <a:pPr indent="0" lvl="0" marL="0" rtl="0" algn="just">
              <a:lnSpc>
                <a:spcPct val="100000"/>
              </a:lnSpc>
              <a:spcBef>
                <a:spcPts val="1000"/>
              </a:spcBef>
              <a:spcAft>
                <a:spcPts val="0"/>
              </a:spcAft>
              <a:buClr>
                <a:schemeClr val="dk1"/>
              </a:buClr>
              <a:buSzPts val="2800"/>
              <a:buNone/>
            </a:pPr>
            <a:r>
              <a:rPr lang="en-US"/>
              <a:t>  techniques from many </a:t>
            </a:r>
            <a:endParaRPr/>
          </a:p>
          <a:p>
            <a:pPr indent="0" lvl="0" marL="0" rtl="0" algn="just">
              <a:lnSpc>
                <a:spcPct val="100000"/>
              </a:lnSpc>
              <a:spcBef>
                <a:spcPts val="1000"/>
              </a:spcBef>
              <a:spcAft>
                <a:spcPts val="0"/>
              </a:spcAft>
              <a:buClr>
                <a:schemeClr val="dk1"/>
              </a:buClr>
              <a:buSzPts val="2800"/>
              <a:buNone/>
            </a:pPr>
            <a:r>
              <a:rPr lang="en-US"/>
              <a:t>  domains.</a:t>
            </a:r>
            <a:endParaRPr sz="2800"/>
          </a:p>
        </p:txBody>
      </p:sp>
      <p:pic>
        <p:nvPicPr>
          <p:cNvPr id="205" name="Google Shape;205;p20"/>
          <p:cNvPicPr preferRelativeResize="0"/>
          <p:nvPr/>
        </p:nvPicPr>
        <p:blipFill rotWithShape="1">
          <a:blip r:embed="rId3">
            <a:alphaModFix/>
          </a:blip>
          <a:srcRect b="0" l="0" r="0" t="0"/>
          <a:stretch/>
        </p:blipFill>
        <p:spPr>
          <a:xfrm>
            <a:off x="4673600" y="2570480"/>
            <a:ext cx="6736701" cy="430783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1"/>
          <p:cNvSpPr txBox="1"/>
          <p:nvPr>
            <p:ph type="title"/>
          </p:nvPr>
        </p:nvSpPr>
        <p:spPr>
          <a:xfrm>
            <a:off x="538480" y="136525"/>
            <a:ext cx="11165840" cy="7397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Applications</a:t>
            </a:r>
            <a:endParaRPr sz="4000"/>
          </a:p>
        </p:txBody>
      </p:sp>
      <p:sp>
        <p:nvSpPr>
          <p:cNvPr id="211" name="Google Shape;211;p21"/>
          <p:cNvSpPr txBox="1"/>
          <p:nvPr>
            <p:ph idx="1" type="body"/>
          </p:nvPr>
        </p:nvSpPr>
        <p:spPr>
          <a:xfrm>
            <a:off x="838200" y="876300"/>
            <a:ext cx="10515600" cy="5743575"/>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800"/>
              <a:buChar char="•"/>
            </a:pPr>
            <a:r>
              <a:rPr lang="en-US"/>
              <a:t>Data mining has many successful applications, such as: </a:t>
            </a:r>
            <a:endParaRPr/>
          </a:p>
          <a:p>
            <a:pPr indent="-228600" lvl="1" marL="685800" rtl="0" algn="just">
              <a:lnSpc>
                <a:spcPct val="100000"/>
              </a:lnSpc>
              <a:spcBef>
                <a:spcPts val="500"/>
              </a:spcBef>
              <a:spcAft>
                <a:spcPts val="0"/>
              </a:spcAft>
              <a:buClr>
                <a:schemeClr val="dk1"/>
              </a:buClr>
              <a:buSzPts val="2800"/>
              <a:buChar char="•"/>
            </a:pPr>
            <a:r>
              <a:rPr lang="en-US" sz="2800"/>
              <a:t>Business Intelligence </a:t>
            </a:r>
            <a:endParaRPr/>
          </a:p>
          <a:p>
            <a:pPr indent="-228600" lvl="1" marL="685800" rtl="0" algn="just">
              <a:lnSpc>
                <a:spcPct val="100000"/>
              </a:lnSpc>
              <a:spcBef>
                <a:spcPts val="500"/>
              </a:spcBef>
              <a:spcAft>
                <a:spcPts val="0"/>
              </a:spcAft>
              <a:buClr>
                <a:schemeClr val="dk1"/>
              </a:buClr>
              <a:buSzPts val="2800"/>
              <a:buChar char="•"/>
            </a:pPr>
            <a:r>
              <a:rPr lang="en-US" sz="2800"/>
              <a:t>Web Search</a:t>
            </a:r>
            <a:endParaRPr/>
          </a:p>
          <a:p>
            <a:pPr indent="-228600" lvl="1" marL="685800" rtl="0" algn="just">
              <a:lnSpc>
                <a:spcPct val="100000"/>
              </a:lnSpc>
              <a:spcBef>
                <a:spcPts val="500"/>
              </a:spcBef>
              <a:spcAft>
                <a:spcPts val="0"/>
              </a:spcAft>
              <a:buClr>
                <a:schemeClr val="dk1"/>
              </a:buClr>
              <a:buSzPts val="2800"/>
              <a:buChar char="•"/>
            </a:pPr>
            <a:r>
              <a:rPr lang="en-US" sz="2800"/>
              <a:t>Bioinformatics </a:t>
            </a:r>
            <a:endParaRPr/>
          </a:p>
          <a:p>
            <a:pPr indent="-228600" lvl="1" marL="685800" rtl="0" algn="just">
              <a:lnSpc>
                <a:spcPct val="100000"/>
              </a:lnSpc>
              <a:spcBef>
                <a:spcPts val="500"/>
              </a:spcBef>
              <a:spcAft>
                <a:spcPts val="0"/>
              </a:spcAft>
              <a:buClr>
                <a:schemeClr val="dk1"/>
              </a:buClr>
              <a:buSzPts val="2800"/>
              <a:buChar char="•"/>
            </a:pPr>
            <a:r>
              <a:rPr lang="en-US" sz="2800"/>
              <a:t>Health Informatics </a:t>
            </a:r>
            <a:endParaRPr/>
          </a:p>
          <a:p>
            <a:pPr indent="-228600" lvl="1" marL="685800" rtl="0" algn="just">
              <a:lnSpc>
                <a:spcPct val="100000"/>
              </a:lnSpc>
              <a:spcBef>
                <a:spcPts val="500"/>
              </a:spcBef>
              <a:spcAft>
                <a:spcPts val="0"/>
              </a:spcAft>
              <a:buClr>
                <a:schemeClr val="dk1"/>
              </a:buClr>
              <a:buSzPts val="2800"/>
              <a:buChar char="•"/>
            </a:pPr>
            <a:r>
              <a:rPr lang="en-US" sz="2800"/>
              <a:t>Finance</a:t>
            </a:r>
            <a:endParaRPr sz="2800"/>
          </a:p>
          <a:p>
            <a:pPr indent="-228600" lvl="1" marL="685800" rtl="0" algn="just">
              <a:lnSpc>
                <a:spcPct val="100000"/>
              </a:lnSpc>
              <a:spcBef>
                <a:spcPts val="500"/>
              </a:spcBef>
              <a:spcAft>
                <a:spcPts val="0"/>
              </a:spcAft>
              <a:buClr>
                <a:schemeClr val="dk1"/>
              </a:buClr>
              <a:buSzPts val="2800"/>
              <a:buChar char="•"/>
            </a:pPr>
            <a:r>
              <a:rPr lang="en-US" sz="2800"/>
              <a:t>Digital Libraries</a:t>
            </a:r>
            <a:endParaRPr/>
          </a:p>
          <a:p>
            <a:pPr indent="-228600" lvl="1" marL="685800" rtl="0" algn="just">
              <a:lnSpc>
                <a:spcPct val="100000"/>
              </a:lnSpc>
              <a:spcBef>
                <a:spcPts val="500"/>
              </a:spcBef>
              <a:spcAft>
                <a:spcPts val="0"/>
              </a:spcAft>
              <a:buClr>
                <a:schemeClr val="dk1"/>
              </a:buClr>
              <a:buSzPts val="2800"/>
              <a:buChar char="•"/>
            </a:pPr>
            <a:r>
              <a:rPr lang="en-US" sz="2800"/>
              <a:t>Digital Governments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2023-09-03T05:13:16Z</dcterms:created>
  <dc:creator>Kuldeep Singh</dc:creator>
</cp:coreProperties>
</file>