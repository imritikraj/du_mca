
<file path=[Content_Types].xml><?xml version="1.0" encoding="utf-8"?>
<Types xmlns="http://schemas.openxmlformats.org/package/2006/content-types">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officedocument.oleObject" PartName="/ppt/embeddings/oleObject8.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jeR2f3lNxUFXs6IlMeo6a6IU3n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customschemas.google.com/relationships/presentationmetadata" Target="metadata"/><Relationship Id="rId63" Type="http://schemas.openxmlformats.org/officeDocument/2006/relationships/slide" Target="slides/slide59.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08" name="Google Shape;108;p4:notes"/>
          <p:cNvSpPr txBox="1"/>
          <p:nvPr>
            <p:ph idx="1" type="body"/>
          </p:nvPr>
        </p:nvSpPr>
        <p:spPr>
          <a:xfrm>
            <a:off x="974690" y="4559248"/>
            <a:ext cx="5365820" cy="4321201"/>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1: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4: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5: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6: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7: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8: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9: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20: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21: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22: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23: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6:notes"/>
          <p:cNvSpPr/>
          <p:nvPr>
            <p:ph idx="2" type="sldImg"/>
          </p:nvPr>
        </p:nvSpPr>
        <p:spPr>
          <a:xfrm>
            <a:off x="461963" y="720725"/>
            <a:ext cx="6397625" cy="35988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26:notes"/>
          <p:cNvSpPr txBox="1"/>
          <p:nvPr>
            <p:ph idx="1" type="body"/>
          </p:nvPr>
        </p:nvSpPr>
        <p:spPr>
          <a:xfrm>
            <a:off x="974690" y="4559248"/>
            <a:ext cx="5365820" cy="4321201"/>
          </a:xfrm>
          <a:prstGeom prst="rect">
            <a:avLst/>
          </a:prstGeom>
          <a:noFill/>
          <a:ln>
            <a:noFill/>
          </a:ln>
        </p:spPr>
        <p:txBody>
          <a:bodyPr anchorCtr="0" anchor="t" bIns="47500" lIns="95000" spcFirstLastPara="1" rIns="95000" wrap="square" tIns="475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7" name="Shape 27"/>
        <p:cNvGrpSpPr/>
        <p:nvPr/>
      </p:nvGrpSpPr>
      <p:grpSpPr>
        <a:xfrm>
          <a:off x="0" y="0"/>
          <a:ext cx="0" cy="0"/>
          <a:chOff x="0" y="0"/>
          <a:chExt cx="0" cy="0"/>
        </a:xfrm>
      </p:grpSpPr>
      <p:sp>
        <p:nvSpPr>
          <p:cNvPr id="28" name="Google Shape;28;p63"/>
          <p:cNvSpPr txBox="1"/>
          <p:nvPr>
            <p:ph type="title"/>
          </p:nvPr>
        </p:nvSpPr>
        <p:spPr>
          <a:xfrm>
            <a:off x="508000" y="152400"/>
            <a:ext cx="11040533" cy="533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3"/>
          <p:cNvSpPr txBox="1"/>
          <p:nvPr>
            <p:ph idx="1" type="body"/>
          </p:nvPr>
        </p:nvSpPr>
        <p:spPr>
          <a:xfrm>
            <a:off x="548217" y="1143000"/>
            <a:ext cx="5444067"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63"/>
          <p:cNvSpPr txBox="1"/>
          <p:nvPr>
            <p:ph idx="2" type="body"/>
          </p:nvPr>
        </p:nvSpPr>
        <p:spPr>
          <a:xfrm>
            <a:off x="6195484" y="1143000"/>
            <a:ext cx="5444067" cy="5181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6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6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6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6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70"/>
          <p:cNvSpPr/>
          <p:nvPr>
            <p:ph idx="2" type="pic"/>
          </p:nvPr>
        </p:nvSpPr>
        <p:spPr>
          <a:xfrm>
            <a:off x="5183188" y="987425"/>
            <a:ext cx="6172200" cy="4873625"/>
          </a:xfrm>
          <a:prstGeom prst="rect">
            <a:avLst/>
          </a:prstGeom>
          <a:noFill/>
          <a:ln>
            <a:noFill/>
          </a:ln>
        </p:spPr>
      </p:sp>
      <p:sp>
        <p:nvSpPr>
          <p:cNvPr id="72" name="Google Shape;72;p7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7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7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7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5.png"/></Relationships>
</file>

<file path=ppt/slides/_rels/slide20.xml.rels><?xml version="1.0" encoding="UTF-8" standalone="yes"?><Relationships xmlns="http://schemas.openxmlformats.org/package/2006/relationships"><Relationship Id="rId10"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vmlDrawing" Target="../drawings/vmlDrawing6.vml"/><Relationship Id="rId4" Type="http://schemas.openxmlformats.org/officeDocument/2006/relationships/oleObject" Target="../embeddings/oleObject6.bin"/><Relationship Id="rId9" Type="http://schemas.openxmlformats.org/officeDocument/2006/relationships/oleObject" Target="../embeddings/oleObject7.bin"/><Relationship Id="rId5" Type="http://schemas.openxmlformats.org/officeDocument/2006/relationships/oleObject" Target="../embeddings/oleObject6.bin"/><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vmlDrawing" Target="../drawings/vmlDrawing7.vml"/><Relationship Id="rId4" Type="http://schemas.openxmlformats.org/officeDocument/2006/relationships/oleObject" Target="../embeddings/oleObject8.bin"/><Relationship Id="rId5" Type="http://schemas.openxmlformats.org/officeDocument/2006/relationships/oleObject" Target="../embeddings/oleObject8.bin"/><Relationship Id="rId6"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41.png"/><Relationship Id="rId6"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41.png"/><Relationship Id="rId5" Type="http://schemas.openxmlformats.org/officeDocument/2006/relationships/image" Target="../media/image17.png"/><Relationship Id="rId6"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0.png"/><Relationship Id="rId4" Type="http://schemas.openxmlformats.org/officeDocument/2006/relationships/image" Target="../media/image28.png"/><Relationship Id="rId5"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0.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39.png"/><Relationship Id="rId5"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1.png"/><Relationship Id="rId4" Type="http://schemas.openxmlformats.org/officeDocument/2006/relationships/image" Target="../media/image33.png"/><Relationship Id="rId5"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7.png"/><Relationship Id="rId4" Type="http://schemas.openxmlformats.org/officeDocument/2006/relationships/image" Target="../media/image48.png"/><Relationship Id="rId5" Type="http://schemas.openxmlformats.org/officeDocument/2006/relationships/image" Target="../media/image4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7.png"/><Relationship Id="rId4" Type="http://schemas.openxmlformats.org/officeDocument/2006/relationships/image" Target="../media/image47.png"/><Relationship Id="rId5"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1524000" y="1904683"/>
            <a:ext cx="9144000" cy="133635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Know Your Data</a:t>
            </a:r>
            <a:endParaRPr/>
          </a:p>
        </p:txBody>
      </p:sp>
      <p:sp>
        <p:nvSpPr>
          <p:cNvPr id="93" name="Google Shape;93;p1"/>
          <p:cNvSpPr txBox="1"/>
          <p:nvPr/>
        </p:nvSpPr>
        <p:spPr>
          <a:xfrm>
            <a:off x="1666240" y="3429000"/>
            <a:ext cx="9144000" cy="591978"/>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(Data, and about data)</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Getting to Know Your Data</a:t>
            </a:r>
            <a:endParaRPr sz="4000"/>
          </a:p>
        </p:txBody>
      </p:sp>
      <p:sp>
        <p:nvSpPr>
          <p:cNvPr id="99" name="Google Shape;99;p2"/>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2800"/>
              <a:buChar char="•"/>
            </a:pPr>
            <a:r>
              <a:rPr lang="en-US"/>
              <a:t>Real-world data are typically noisy, enormous in volume (often several gigabytes or more), and may originate from a hodgepodge of heterogenous sources. </a:t>
            </a:r>
            <a:endParaRPr/>
          </a:p>
          <a:p>
            <a:pPr indent="-228600" lvl="0" marL="228600" rtl="0" algn="just">
              <a:lnSpc>
                <a:spcPct val="100000"/>
              </a:lnSpc>
              <a:spcBef>
                <a:spcPts val="1000"/>
              </a:spcBef>
              <a:spcAft>
                <a:spcPts val="0"/>
              </a:spcAft>
              <a:buClr>
                <a:schemeClr val="dk1"/>
              </a:buClr>
              <a:buSzPts val="2800"/>
              <a:buChar char="•"/>
            </a:pPr>
            <a:r>
              <a:rPr lang="en-US"/>
              <a:t>Knowledge about your data is useful for </a:t>
            </a:r>
            <a:r>
              <a:rPr b="1" lang="en-US"/>
              <a:t>data preprocessing </a:t>
            </a:r>
            <a:r>
              <a:rPr lang="en-US"/>
              <a:t>which is the </a:t>
            </a:r>
            <a:r>
              <a:rPr b="1" lang="en-US"/>
              <a:t>first major task </a:t>
            </a:r>
            <a:r>
              <a:rPr lang="en-US"/>
              <a:t>of the data mining process. </a:t>
            </a:r>
            <a:endParaRPr/>
          </a:p>
          <a:p>
            <a:pPr indent="-228600" lvl="1" marL="685800" rtl="0" algn="just">
              <a:lnSpc>
                <a:spcPct val="100000"/>
              </a:lnSpc>
              <a:spcBef>
                <a:spcPts val="500"/>
              </a:spcBef>
              <a:spcAft>
                <a:spcPts val="0"/>
              </a:spcAft>
              <a:buClr>
                <a:schemeClr val="dk1"/>
              </a:buClr>
              <a:buSzPts val="2800"/>
              <a:buFont typeface="Noto Sans Symbols"/>
              <a:buChar char="▪"/>
            </a:pPr>
            <a:r>
              <a:rPr lang="en-US" sz="2800"/>
              <a:t>What are the </a:t>
            </a:r>
            <a:r>
              <a:rPr b="1" lang="en-US" sz="2800"/>
              <a:t>types of attributes </a:t>
            </a:r>
            <a:r>
              <a:rPr lang="en-US" sz="2800"/>
              <a:t>or fields that make up your data? </a:t>
            </a:r>
            <a:endParaRPr/>
          </a:p>
          <a:p>
            <a:pPr indent="-228600" lvl="1" marL="685800" rtl="0" algn="just">
              <a:lnSpc>
                <a:spcPct val="100000"/>
              </a:lnSpc>
              <a:spcBef>
                <a:spcPts val="500"/>
              </a:spcBef>
              <a:spcAft>
                <a:spcPts val="0"/>
              </a:spcAft>
              <a:buClr>
                <a:schemeClr val="dk1"/>
              </a:buClr>
              <a:buSzPts val="2800"/>
              <a:buFont typeface="Noto Sans Symbols"/>
              <a:buChar char="▪"/>
            </a:pPr>
            <a:r>
              <a:rPr lang="en-US" sz="2800"/>
              <a:t>What kind of </a:t>
            </a:r>
            <a:r>
              <a:rPr b="1" lang="en-US" sz="2800"/>
              <a:t>values</a:t>
            </a:r>
            <a:r>
              <a:rPr lang="en-US" sz="2800"/>
              <a:t> does each attribute have? </a:t>
            </a:r>
            <a:endParaRPr/>
          </a:p>
          <a:p>
            <a:pPr indent="-228600" lvl="1" marL="685800" rtl="0" algn="just">
              <a:lnSpc>
                <a:spcPct val="100000"/>
              </a:lnSpc>
              <a:spcBef>
                <a:spcPts val="500"/>
              </a:spcBef>
              <a:spcAft>
                <a:spcPts val="0"/>
              </a:spcAft>
              <a:buClr>
                <a:schemeClr val="dk1"/>
              </a:buClr>
              <a:buSzPts val="2800"/>
              <a:buFont typeface="Noto Sans Symbols"/>
              <a:buChar char="▪"/>
            </a:pPr>
            <a:r>
              <a:rPr lang="en-US" sz="2800"/>
              <a:t>Which attributes are discrete, and which are continuous-valued?</a:t>
            </a:r>
            <a:endParaRPr/>
          </a:p>
          <a:p>
            <a:pPr indent="-228600" lvl="1" marL="685800" rtl="0" algn="just">
              <a:lnSpc>
                <a:spcPct val="100000"/>
              </a:lnSpc>
              <a:spcBef>
                <a:spcPts val="500"/>
              </a:spcBef>
              <a:spcAft>
                <a:spcPts val="0"/>
              </a:spcAft>
              <a:buClr>
                <a:schemeClr val="dk1"/>
              </a:buClr>
              <a:buSzPts val="2800"/>
              <a:buFont typeface="Noto Sans Symbols"/>
              <a:buChar char="▪"/>
            </a:pPr>
            <a:r>
              <a:rPr lang="en-US" sz="2800"/>
              <a:t>What do the data look like? </a:t>
            </a:r>
            <a:endParaRPr/>
          </a:p>
          <a:p>
            <a:pPr indent="-228600" lvl="1" marL="685800" rtl="0" algn="just">
              <a:lnSpc>
                <a:spcPct val="100000"/>
              </a:lnSpc>
              <a:spcBef>
                <a:spcPts val="500"/>
              </a:spcBef>
              <a:spcAft>
                <a:spcPts val="0"/>
              </a:spcAft>
              <a:buClr>
                <a:schemeClr val="dk1"/>
              </a:buClr>
              <a:buSzPts val="2800"/>
              <a:buFont typeface="Noto Sans Symbols"/>
              <a:buChar char="▪"/>
            </a:pPr>
            <a:r>
              <a:rPr lang="en-US" sz="2800"/>
              <a:t>How are the values distributed? </a:t>
            </a:r>
            <a:endParaRPr/>
          </a:p>
          <a:p>
            <a:pPr indent="-228600" lvl="1" marL="685800" rtl="0" algn="just">
              <a:lnSpc>
                <a:spcPct val="100000"/>
              </a:lnSpc>
              <a:spcBef>
                <a:spcPts val="500"/>
              </a:spcBef>
              <a:spcAft>
                <a:spcPts val="0"/>
              </a:spcAft>
              <a:buClr>
                <a:schemeClr val="dk1"/>
              </a:buClr>
              <a:buSzPts val="2800"/>
              <a:buFont typeface="Noto Sans Symbols"/>
              <a:buChar char="▪"/>
            </a:pPr>
            <a:r>
              <a:rPr lang="en-US" sz="2800"/>
              <a:t>Can we </a:t>
            </a:r>
            <a:r>
              <a:rPr b="1" lang="en-US" sz="2800"/>
              <a:t>measure the similarity </a:t>
            </a:r>
            <a:r>
              <a:rPr lang="en-US" sz="2800"/>
              <a:t>of some data objects with respect to others? </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What Is an Attribute?</a:t>
            </a:r>
            <a:endParaRPr sz="4000"/>
          </a:p>
        </p:txBody>
      </p:sp>
      <p:sp>
        <p:nvSpPr>
          <p:cNvPr id="105" name="Google Shape;105;p3"/>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2800"/>
              <a:buChar char="•"/>
            </a:pPr>
            <a:r>
              <a:rPr lang="en-US"/>
              <a:t>An </a:t>
            </a:r>
            <a:r>
              <a:rPr b="1" lang="en-US"/>
              <a:t>attribute</a:t>
            </a:r>
            <a:r>
              <a:rPr lang="en-US"/>
              <a:t> is a data field, representing a characteristic or </a:t>
            </a:r>
            <a:r>
              <a:rPr b="1" lang="en-US"/>
              <a:t>feature of a data object</a:t>
            </a:r>
            <a:r>
              <a:rPr lang="en-US"/>
              <a:t>. </a:t>
            </a:r>
            <a:endParaRPr/>
          </a:p>
          <a:p>
            <a:pPr indent="-228600" lvl="0" marL="228600" rtl="0" algn="just">
              <a:lnSpc>
                <a:spcPct val="100000"/>
              </a:lnSpc>
              <a:spcBef>
                <a:spcPts val="1000"/>
              </a:spcBef>
              <a:spcAft>
                <a:spcPts val="0"/>
              </a:spcAft>
              <a:buClr>
                <a:schemeClr val="dk1"/>
              </a:buClr>
              <a:buSzPts val="2800"/>
              <a:buChar char="•"/>
            </a:pPr>
            <a:r>
              <a:rPr lang="en-US"/>
              <a:t>The nouns </a:t>
            </a:r>
            <a:r>
              <a:rPr b="1" lang="en-US"/>
              <a:t>attribute, dimension, feature</a:t>
            </a:r>
            <a:r>
              <a:rPr lang="en-US"/>
              <a:t>, and </a:t>
            </a:r>
            <a:r>
              <a:rPr b="1" lang="en-US"/>
              <a:t>variable</a:t>
            </a:r>
            <a:r>
              <a:rPr lang="en-US"/>
              <a:t> are often used interchangeably in the literature. </a:t>
            </a:r>
            <a:endParaRPr/>
          </a:p>
          <a:p>
            <a:pPr indent="-228600" lvl="0" marL="228600" rtl="0" algn="just">
              <a:lnSpc>
                <a:spcPct val="100000"/>
              </a:lnSpc>
              <a:spcBef>
                <a:spcPts val="1000"/>
              </a:spcBef>
              <a:spcAft>
                <a:spcPts val="0"/>
              </a:spcAft>
              <a:buClr>
                <a:schemeClr val="dk1"/>
              </a:buClr>
              <a:buSzPts val="2800"/>
              <a:buChar char="•"/>
            </a:pPr>
            <a:r>
              <a:rPr lang="en-US"/>
              <a:t>The term </a:t>
            </a:r>
            <a:r>
              <a:rPr b="1" lang="en-US"/>
              <a:t>dimension</a:t>
            </a:r>
            <a:r>
              <a:rPr lang="en-US"/>
              <a:t> is commonly used in data warehousing. </a:t>
            </a:r>
            <a:endParaRPr/>
          </a:p>
          <a:p>
            <a:pPr indent="-228600" lvl="0" marL="228600" rtl="0" algn="just">
              <a:lnSpc>
                <a:spcPct val="100000"/>
              </a:lnSpc>
              <a:spcBef>
                <a:spcPts val="1000"/>
              </a:spcBef>
              <a:spcAft>
                <a:spcPts val="0"/>
              </a:spcAft>
              <a:buClr>
                <a:schemeClr val="dk1"/>
              </a:buClr>
              <a:buSzPts val="2800"/>
              <a:buChar char="•"/>
            </a:pPr>
            <a:r>
              <a:rPr lang="en-US"/>
              <a:t>Machine learning literature tends to use the term </a:t>
            </a:r>
            <a:r>
              <a:rPr b="1" lang="en-US"/>
              <a:t>feature</a:t>
            </a:r>
            <a:r>
              <a:rPr lang="en-US"/>
              <a:t> </a:t>
            </a:r>
            <a:endParaRPr/>
          </a:p>
          <a:p>
            <a:pPr indent="-228600" lvl="0" marL="228600" rtl="0" algn="just">
              <a:lnSpc>
                <a:spcPct val="100000"/>
              </a:lnSpc>
              <a:spcBef>
                <a:spcPts val="1000"/>
              </a:spcBef>
              <a:spcAft>
                <a:spcPts val="0"/>
              </a:spcAft>
              <a:buClr>
                <a:schemeClr val="dk1"/>
              </a:buClr>
              <a:buSzPts val="2800"/>
              <a:buChar char="•"/>
            </a:pPr>
            <a:r>
              <a:rPr lang="en-US"/>
              <a:t>The statisticians prefer the term </a:t>
            </a:r>
            <a:r>
              <a:rPr b="1" lang="en-US"/>
              <a:t>variable</a:t>
            </a:r>
            <a:r>
              <a:rPr lang="en-US"/>
              <a:t>. </a:t>
            </a:r>
            <a:endParaRPr/>
          </a:p>
          <a:p>
            <a:pPr indent="-228600" lvl="0" marL="228600" rtl="0" algn="just">
              <a:lnSpc>
                <a:spcPct val="100000"/>
              </a:lnSpc>
              <a:spcBef>
                <a:spcPts val="1000"/>
              </a:spcBef>
              <a:spcAft>
                <a:spcPts val="0"/>
              </a:spcAft>
              <a:buClr>
                <a:schemeClr val="dk1"/>
              </a:buClr>
              <a:buSzPts val="2800"/>
              <a:buChar char="•"/>
            </a:pPr>
            <a:r>
              <a:rPr lang="en-US"/>
              <a:t>Data mining and database professionals commonly use the term </a:t>
            </a:r>
            <a:r>
              <a:rPr b="1" lang="en-US"/>
              <a:t>attribute.</a:t>
            </a:r>
            <a:endParaRPr/>
          </a:p>
          <a:p>
            <a:pPr indent="-228600" lvl="0" marL="228600" rtl="0" algn="just">
              <a:lnSpc>
                <a:spcPct val="100000"/>
              </a:lnSpc>
              <a:spcBef>
                <a:spcPts val="1000"/>
              </a:spcBef>
              <a:spcAft>
                <a:spcPts val="0"/>
              </a:spcAft>
              <a:buClr>
                <a:schemeClr val="dk1"/>
              </a:buClr>
              <a:buSzPts val="2800"/>
              <a:buChar char="•"/>
            </a:pPr>
            <a:r>
              <a:rPr lang="en-US"/>
              <a:t>Database rows -&gt; data objects; columns -&gt;attributes.</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508000" y="152400"/>
            <a:ext cx="11040533"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What is Data?</a:t>
            </a:r>
            <a:endParaRPr/>
          </a:p>
        </p:txBody>
      </p:sp>
      <p:sp>
        <p:nvSpPr>
          <p:cNvPr id="111" name="Google Shape;111;p4"/>
          <p:cNvSpPr txBox="1"/>
          <p:nvPr>
            <p:ph idx="1" type="body"/>
          </p:nvPr>
        </p:nvSpPr>
        <p:spPr>
          <a:xfrm>
            <a:off x="507999" y="706120"/>
            <a:ext cx="6522721" cy="599948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Collection of </a:t>
            </a:r>
            <a:r>
              <a:rPr b="1" i="1" lang="en-US"/>
              <a:t>data objects </a:t>
            </a:r>
            <a:r>
              <a:rPr lang="en-US"/>
              <a:t>and their </a:t>
            </a:r>
            <a:r>
              <a:rPr b="1" i="1" lang="en-US"/>
              <a:t>attributes</a:t>
            </a:r>
            <a:endParaRPr sz="2800"/>
          </a:p>
          <a:p>
            <a:pPr indent="-228600" lvl="0" marL="228600" rtl="0" algn="l">
              <a:lnSpc>
                <a:spcPct val="90000"/>
              </a:lnSpc>
              <a:spcBef>
                <a:spcPts val="1000"/>
              </a:spcBef>
              <a:spcAft>
                <a:spcPts val="0"/>
              </a:spcAft>
              <a:buClr>
                <a:schemeClr val="dk1"/>
              </a:buClr>
              <a:buSzPts val="2800"/>
              <a:buChar char="•"/>
            </a:pPr>
            <a:r>
              <a:rPr lang="en-US"/>
              <a:t>An </a:t>
            </a:r>
            <a:r>
              <a:rPr b="1" i="1" lang="en-US"/>
              <a:t>attribute</a:t>
            </a:r>
            <a:r>
              <a:rPr lang="en-US"/>
              <a:t> is a property or characteristic of an object</a:t>
            </a:r>
            <a:endParaRPr/>
          </a:p>
          <a:p>
            <a:pPr indent="-228600" lvl="1" marL="685800" rtl="0" algn="l">
              <a:lnSpc>
                <a:spcPct val="90000"/>
              </a:lnSpc>
              <a:spcBef>
                <a:spcPts val="500"/>
              </a:spcBef>
              <a:spcAft>
                <a:spcPts val="0"/>
              </a:spcAft>
              <a:buClr>
                <a:schemeClr val="dk1"/>
              </a:buClr>
              <a:buSzPts val="2800"/>
              <a:buChar char="•"/>
            </a:pPr>
            <a:r>
              <a:rPr lang="en-US" sz="2800"/>
              <a:t>Examples: eye color of a person, temperature, etc.</a:t>
            </a:r>
            <a:endParaRPr/>
          </a:p>
          <a:p>
            <a:pPr indent="-228600" lvl="1" marL="685800" rtl="0" algn="l">
              <a:lnSpc>
                <a:spcPct val="90000"/>
              </a:lnSpc>
              <a:spcBef>
                <a:spcPts val="500"/>
              </a:spcBef>
              <a:spcAft>
                <a:spcPts val="0"/>
              </a:spcAft>
              <a:buClr>
                <a:schemeClr val="dk1"/>
              </a:buClr>
              <a:buSzPts val="2800"/>
              <a:buChar char="•"/>
            </a:pPr>
            <a:r>
              <a:rPr lang="en-US" sz="2800"/>
              <a:t>Attribute is also known as variable, field, characteristic, dimension, or feature</a:t>
            </a:r>
            <a:endParaRPr/>
          </a:p>
          <a:p>
            <a:pPr indent="-228600" lvl="0" marL="228600" rtl="0" algn="l">
              <a:lnSpc>
                <a:spcPct val="90000"/>
              </a:lnSpc>
              <a:spcBef>
                <a:spcPts val="1000"/>
              </a:spcBef>
              <a:spcAft>
                <a:spcPts val="0"/>
              </a:spcAft>
              <a:buClr>
                <a:schemeClr val="dk1"/>
              </a:buClr>
              <a:buSzPts val="2800"/>
              <a:buChar char="•"/>
            </a:pPr>
            <a:r>
              <a:rPr lang="en-US"/>
              <a:t>A collection of attributes describe an </a:t>
            </a:r>
            <a:r>
              <a:rPr b="1" i="1" lang="en-US"/>
              <a:t>object</a:t>
            </a:r>
            <a:endParaRPr/>
          </a:p>
          <a:p>
            <a:pPr indent="-228600" lvl="1" marL="685800" rtl="0" algn="l">
              <a:lnSpc>
                <a:spcPct val="90000"/>
              </a:lnSpc>
              <a:spcBef>
                <a:spcPts val="500"/>
              </a:spcBef>
              <a:spcAft>
                <a:spcPts val="0"/>
              </a:spcAft>
              <a:buClr>
                <a:schemeClr val="dk1"/>
              </a:buClr>
              <a:buSzPts val="2800"/>
              <a:buChar char="•"/>
            </a:pPr>
            <a:r>
              <a:rPr lang="en-US" sz="2800"/>
              <a:t>Object is also known as record, point, case, sample, entity, or instance</a:t>
            </a:r>
            <a:endParaRPr/>
          </a:p>
          <a:p>
            <a:pPr indent="-50800" lvl="4" marL="2057400" rtl="0" algn="l">
              <a:lnSpc>
                <a:spcPct val="90000"/>
              </a:lnSpc>
              <a:spcBef>
                <a:spcPts val="500"/>
              </a:spcBef>
              <a:spcAft>
                <a:spcPts val="0"/>
              </a:spcAft>
              <a:buClr>
                <a:schemeClr val="dk1"/>
              </a:buClr>
              <a:buSzPts val="2800"/>
              <a:buNone/>
            </a:pPr>
            <a:r>
              <a:t/>
            </a:r>
            <a:endParaRPr sz="2800"/>
          </a:p>
        </p:txBody>
      </p:sp>
      <p:grpSp>
        <p:nvGrpSpPr>
          <p:cNvPr id="112" name="Google Shape;112;p4"/>
          <p:cNvGrpSpPr/>
          <p:nvPr/>
        </p:nvGrpSpPr>
        <p:grpSpPr>
          <a:xfrm>
            <a:off x="8221664" y="1408748"/>
            <a:ext cx="3513137" cy="5027612"/>
            <a:chOff x="3403" y="1104"/>
            <a:chExt cx="2213" cy="2640"/>
          </a:xfrm>
        </p:grpSpPr>
        <p:graphicFrame>
          <p:nvGraphicFramePr>
            <p:cNvPr id="113" name="Google Shape;113;p4"/>
            <p:cNvGraphicFramePr/>
            <p:nvPr/>
          </p:nvGraphicFramePr>
          <p:xfrm>
            <a:off x="3403" y="1378"/>
            <a:ext cx="2213" cy="2366"/>
          </p:xfrm>
          <a:graphic>
            <a:graphicData uri="http://schemas.openxmlformats.org/presentationml/2006/ole">
              <mc:AlternateContent>
                <mc:Choice Requires="v">
                  <p:oleObj r:id="rId4" imgH="2366" imgW="2213" progId="Word.Document.8" spid="_x0000_s1">
                    <p:embed/>
                  </p:oleObj>
                </mc:Choice>
                <mc:Fallback>
                  <p:oleObj r:id="rId5" imgH="2366" imgW="2213" progId="Word.Document.8">
                    <p:embed/>
                    <p:pic>
                      <p:nvPicPr>
                        <p:cNvPr id="113" name="Google Shape;113;p4"/>
                        <p:cNvPicPr preferRelativeResize="0"/>
                        <p:nvPr/>
                      </p:nvPicPr>
                      <p:blipFill rotWithShape="1">
                        <a:blip r:embed="rId6">
                          <a:alphaModFix/>
                        </a:blip>
                        <a:srcRect b="0" l="0" r="0" t="0"/>
                        <a:stretch/>
                      </p:blipFill>
                      <p:spPr>
                        <a:xfrm>
                          <a:off x="3403" y="1378"/>
                          <a:ext cx="2213" cy="2366"/>
                        </a:xfrm>
                        <a:prstGeom prst="rect">
                          <a:avLst/>
                        </a:prstGeom>
                        <a:noFill/>
                        <a:ln>
                          <a:noFill/>
                        </a:ln>
                      </p:spPr>
                    </p:pic>
                  </p:oleObj>
                </mc:Fallback>
              </mc:AlternateContent>
            </a:graphicData>
          </a:graphic>
        </p:graphicFrame>
        <p:sp>
          <p:nvSpPr>
            <p:cNvPr id="114" name="Google Shape;114;p4"/>
            <p:cNvSpPr/>
            <p:nvPr/>
          </p:nvSpPr>
          <p:spPr>
            <a:xfrm rot="5400000">
              <a:off x="4340" y="240"/>
              <a:ext cx="240" cy="1968"/>
            </a:xfrm>
            <a:prstGeom prst="leftBrace">
              <a:avLst>
                <a:gd fmla="val 68333" name="adj1"/>
                <a:gd fmla="val 50000" name="adj2"/>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5" name="Google Shape;115;p4"/>
          <p:cNvSpPr txBox="1"/>
          <p:nvPr/>
        </p:nvSpPr>
        <p:spPr>
          <a:xfrm>
            <a:off x="9067800" y="876936"/>
            <a:ext cx="1447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u="none">
                <a:solidFill>
                  <a:srgbClr val="FF0000"/>
                </a:solidFill>
                <a:latin typeface="Arial"/>
                <a:ea typeface="Arial"/>
                <a:cs typeface="Arial"/>
                <a:sym typeface="Arial"/>
              </a:rPr>
              <a:t>Attributes</a:t>
            </a:r>
            <a:endParaRPr/>
          </a:p>
        </p:txBody>
      </p:sp>
      <p:sp>
        <p:nvSpPr>
          <p:cNvPr id="116" name="Google Shape;116;p4"/>
          <p:cNvSpPr/>
          <p:nvPr/>
        </p:nvSpPr>
        <p:spPr>
          <a:xfrm>
            <a:off x="7848600" y="2324736"/>
            <a:ext cx="381000" cy="3808413"/>
          </a:xfrm>
          <a:prstGeom prst="leftBrace">
            <a:avLst>
              <a:gd fmla="val 83299" name="adj1"/>
              <a:gd fmla="val 50000" name="adj2"/>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4"/>
          <p:cNvSpPr txBox="1"/>
          <p:nvPr/>
        </p:nvSpPr>
        <p:spPr>
          <a:xfrm rot="-5400000">
            <a:off x="6926263" y="3696336"/>
            <a:ext cx="1143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u="none">
                <a:solidFill>
                  <a:srgbClr val="FF0000"/>
                </a:solidFill>
                <a:latin typeface="Arial"/>
                <a:ea typeface="Arial"/>
                <a:cs typeface="Arial"/>
                <a:sym typeface="Arial"/>
              </a:rPr>
              <a:t>Objects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Attribute Types</a:t>
            </a:r>
            <a:endParaRPr sz="4000"/>
          </a:p>
        </p:txBody>
      </p:sp>
      <p:sp>
        <p:nvSpPr>
          <p:cNvPr id="123" name="Google Shape;123;p5"/>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800"/>
              <a:buNone/>
            </a:pPr>
            <a:r>
              <a:rPr lang="en-US"/>
              <a:t>The type of an attribute is determined by the set of possible values—nominal, binary, ordinal, or numeric—the attribute can have. </a:t>
            </a:r>
            <a:endParaRPr/>
          </a:p>
          <a:p>
            <a:pPr indent="-514350" lvl="1" marL="777875" rtl="0" algn="just">
              <a:lnSpc>
                <a:spcPct val="100000"/>
              </a:lnSpc>
              <a:spcBef>
                <a:spcPts val="500"/>
              </a:spcBef>
              <a:spcAft>
                <a:spcPts val="0"/>
              </a:spcAft>
              <a:buClr>
                <a:schemeClr val="dk1"/>
              </a:buClr>
              <a:buSzPts val="2800"/>
              <a:buFont typeface="Calibri"/>
              <a:buAutoNum type="arabicParenR"/>
            </a:pPr>
            <a:r>
              <a:rPr lang="en-US" sz="2800"/>
              <a:t>Nominal Attributes</a:t>
            </a:r>
            <a:endParaRPr/>
          </a:p>
          <a:p>
            <a:pPr indent="-514350" lvl="1" marL="777875" rtl="0" algn="just">
              <a:lnSpc>
                <a:spcPct val="100000"/>
              </a:lnSpc>
              <a:spcBef>
                <a:spcPts val="500"/>
              </a:spcBef>
              <a:spcAft>
                <a:spcPts val="0"/>
              </a:spcAft>
              <a:buClr>
                <a:schemeClr val="dk1"/>
              </a:buClr>
              <a:buSzPts val="2800"/>
              <a:buFont typeface="Calibri"/>
              <a:buAutoNum type="arabicParenR"/>
            </a:pPr>
            <a:r>
              <a:rPr lang="en-US" sz="2800"/>
              <a:t>Binary Attributes</a:t>
            </a:r>
            <a:endParaRPr/>
          </a:p>
          <a:p>
            <a:pPr indent="-514350" lvl="1" marL="777875" rtl="0" algn="just">
              <a:lnSpc>
                <a:spcPct val="100000"/>
              </a:lnSpc>
              <a:spcBef>
                <a:spcPts val="500"/>
              </a:spcBef>
              <a:spcAft>
                <a:spcPts val="0"/>
              </a:spcAft>
              <a:buClr>
                <a:schemeClr val="dk1"/>
              </a:buClr>
              <a:buSzPts val="2800"/>
              <a:buFont typeface="Calibri"/>
              <a:buAutoNum type="arabicParenR"/>
            </a:pPr>
            <a:r>
              <a:rPr lang="en-US" sz="2800"/>
              <a:t>Ordinal Attributes</a:t>
            </a:r>
            <a:endParaRPr/>
          </a:p>
          <a:p>
            <a:pPr indent="-514350" lvl="1" marL="777875" rtl="0" algn="just">
              <a:lnSpc>
                <a:spcPct val="100000"/>
              </a:lnSpc>
              <a:spcBef>
                <a:spcPts val="500"/>
              </a:spcBef>
              <a:spcAft>
                <a:spcPts val="0"/>
              </a:spcAft>
              <a:buClr>
                <a:schemeClr val="dk1"/>
              </a:buClr>
              <a:buSzPts val="2800"/>
              <a:buFont typeface="Calibri"/>
              <a:buAutoNum type="arabicParenR"/>
            </a:pPr>
            <a:r>
              <a:rPr lang="en-US" sz="2800"/>
              <a:t>Numeric Attributes</a:t>
            </a:r>
            <a:endParaRPr/>
          </a:p>
          <a:p>
            <a:pPr indent="-571500" lvl="2" marL="1292225" rtl="0" algn="just">
              <a:lnSpc>
                <a:spcPct val="100000"/>
              </a:lnSpc>
              <a:spcBef>
                <a:spcPts val="500"/>
              </a:spcBef>
              <a:spcAft>
                <a:spcPts val="0"/>
              </a:spcAft>
              <a:buClr>
                <a:schemeClr val="dk1"/>
              </a:buClr>
              <a:buSzPts val="2800"/>
              <a:buFont typeface="Calibri"/>
              <a:buAutoNum type="romanLcPeriod"/>
            </a:pPr>
            <a:r>
              <a:rPr lang="en-US" sz="2800"/>
              <a:t>Interval-Scaled Attributes</a:t>
            </a:r>
            <a:endParaRPr/>
          </a:p>
          <a:p>
            <a:pPr indent="-571500" lvl="2" marL="1292225" rtl="0" algn="just">
              <a:lnSpc>
                <a:spcPct val="100000"/>
              </a:lnSpc>
              <a:spcBef>
                <a:spcPts val="500"/>
              </a:spcBef>
              <a:spcAft>
                <a:spcPts val="0"/>
              </a:spcAft>
              <a:buClr>
                <a:schemeClr val="dk1"/>
              </a:buClr>
              <a:buSzPts val="2800"/>
              <a:buFont typeface="Calibri"/>
              <a:buAutoNum type="romanLcPeriod"/>
            </a:pPr>
            <a:r>
              <a:rPr lang="en-US" sz="2800"/>
              <a:t>Ratio-Scaled Attributes</a:t>
            </a:r>
            <a:endParaRPr/>
          </a:p>
          <a:p>
            <a:pPr indent="-50800" lvl="1" marL="685800" rtl="0" algn="just">
              <a:lnSpc>
                <a:spcPct val="100000"/>
              </a:lnSpc>
              <a:spcBef>
                <a:spcPts val="500"/>
              </a:spcBef>
              <a:spcAft>
                <a:spcPts val="0"/>
              </a:spcAft>
              <a:buClr>
                <a:schemeClr val="dk1"/>
              </a:buClr>
              <a:buSzPts val="2800"/>
              <a:buFont typeface="Noto Sans Symbols"/>
              <a:buNone/>
            </a:pPr>
            <a:r>
              <a:t/>
            </a:r>
            <a:endParaRPr sz="2800"/>
          </a:p>
          <a:p>
            <a:pPr indent="-50800" lvl="0" marL="228600" rtl="0" algn="just">
              <a:lnSpc>
                <a:spcPct val="100000"/>
              </a:lnSpc>
              <a:spcBef>
                <a:spcPts val="1000"/>
              </a:spcBef>
              <a:spcAft>
                <a:spcPts val="0"/>
              </a:spcAft>
              <a:buClr>
                <a:schemeClr val="dk1"/>
              </a:buClr>
              <a:buSzPts val="2800"/>
              <a:buNone/>
            </a:pPr>
            <a:r>
              <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Nominal Attributes</a:t>
            </a:r>
            <a:endParaRPr sz="4000"/>
          </a:p>
        </p:txBody>
      </p:sp>
      <p:sp>
        <p:nvSpPr>
          <p:cNvPr id="129" name="Google Shape;129;p6"/>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Nominal means </a:t>
            </a:r>
            <a:r>
              <a:rPr b="1" lang="en-US"/>
              <a:t>relating to names</a:t>
            </a:r>
            <a:r>
              <a:rPr lang="en-US"/>
              <a:t>.</a:t>
            </a:r>
            <a:endParaRPr/>
          </a:p>
          <a:p>
            <a:pPr indent="-228600" lvl="0" marL="228600" rtl="0" algn="just">
              <a:lnSpc>
                <a:spcPct val="100000"/>
              </a:lnSpc>
              <a:spcBef>
                <a:spcPts val="0"/>
              </a:spcBef>
              <a:spcAft>
                <a:spcPts val="0"/>
              </a:spcAft>
              <a:buClr>
                <a:schemeClr val="dk1"/>
              </a:buClr>
              <a:buSzPts val="2800"/>
              <a:buChar char="•"/>
            </a:pPr>
            <a:r>
              <a:rPr lang="en-US"/>
              <a:t>The values of a nominal attribute are symbols or names of things. </a:t>
            </a:r>
            <a:endParaRPr/>
          </a:p>
          <a:p>
            <a:pPr indent="-228600" lvl="0" marL="228600" rtl="0" algn="just">
              <a:lnSpc>
                <a:spcPct val="100000"/>
              </a:lnSpc>
              <a:spcBef>
                <a:spcPts val="0"/>
              </a:spcBef>
              <a:spcAft>
                <a:spcPts val="0"/>
              </a:spcAft>
              <a:buClr>
                <a:schemeClr val="dk1"/>
              </a:buClr>
              <a:buSzPts val="2800"/>
              <a:buChar char="•"/>
            </a:pPr>
            <a:r>
              <a:rPr lang="en-US"/>
              <a:t>Each value represents some kind of category, code, or state, and so nominal attributes are also referred to as </a:t>
            </a:r>
            <a:r>
              <a:rPr b="1" lang="en-US"/>
              <a:t>categorical</a:t>
            </a:r>
            <a:r>
              <a:rPr lang="en-US"/>
              <a:t>. </a:t>
            </a:r>
            <a:endParaRPr/>
          </a:p>
          <a:p>
            <a:pPr indent="-228600" lvl="0" marL="228600" rtl="0" algn="just">
              <a:lnSpc>
                <a:spcPct val="100000"/>
              </a:lnSpc>
              <a:spcBef>
                <a:spcPts val="0"/>
              </a:spcBef>
              <a:spcAft>
                <a:spcPts val="0"/>
              </a:spcAft>
              <a:buClr>
                <a:schemeClr val="dk1"/>
              </a:buClr>
              <a:buSzPts val="2800"/>
              <a:buChar char="•"/>
            </a:pPr>
            <a:r>
              <a:rPr lang="en-US"/>
              <a:t>The values </a:t>
            </a:r>
            <a:r>
              <a:rPr b="1" lang="en-US"/>
              <a:t>do not </a:t>
            </a:r>
            <a:r>
              <a:rPr lang="en-US"/>
              <a:t>have any </a:t>
            </a:r>
            <a:r>
              <a:rPr b="1" lang="en-US"/>
              <a:t>meaningful order</a:t>
            </a:r>
            <a:r>
              <a:rPr lang="en-US"/>
              <a:t>. </a:t>
            </a:r>
            <a:endParaRPr/>
          </a:p>
          <a:p>
            <a:pPr indent="-228600" lvl="0" marL="228600" rtl="0" algn="just">
              <a:lnSpc>
                <a:spcPct val="100000"/>
              </a:lnSpc>
              <a:spcBef>
                <a:spcPts val="0"/>
              </a:spcBef>
              <a:spcAft>
                <a:spcPts val="0"/>
              </a:spcAft>
              <a:buClr>
                <a:schemeClr val="dk1"/>
              </a:buClr>
              <a:buSzPts val="2800"/>
              <a:buChar char="•"/>
            </a:pPr>
            <a:r>
              <a:rPr lang="en-US"/>
              <a:t>In computer science, the values are also known as enumerations.</a:t>
            </a:r>
            <a:endParaRPr/>
          </a:p>
          <a:p>
            <a:pPr indent="-228600" lvl="0" marL="228600" rtl="0" algn="just">
              <a:lnSpc>
                <a:spcPct val="100000"/>
              </a:lnSpc>
              <a:spcBef>
                <a:spcPts val="0"/>
              </a:spcBef>
              <a:spcAft>
                <a:spcPts val="0"/>
              </a:spcAft>
              <a:buClr>
                <a:schemeClr val="dk1"/>
              </a:buClr>
              <a:buSzPts val="2800"/>
              <a:buChar char="•"/>
            </a:pPr>
            <a:r>
              <a:rPr lang="en-US"/>
              <a:t>For example: that hair_color, marital_status  and occupation are attributes.</a:t>
            </a:r>
            <a:endParaRPr/>
          </a:p>
          <a:p>
            <a:pPr indent="-228600" lvl="0" marL="228600" rtl="0" algn="just">
              <a:lnSpc>
                <a:spcPct val="100000"/>
              </a:lnSpc>
              <a:spcBef>
                <a:spcPts val="0"/>
              </a:spcBef>
              <a:spcAft>
                <a:spcPts val="0"/>
              </a:spcAft>
              <a:buClr>
                <a:schemeClr val="dk1"/>
              </a:buClr>
              <a:buSzPts val="2800"/>
              <a:buChar char="•"/>
            </a:pPr>
            <a:r>
              <a:rPr lang="en-US"/>
              <a:t>The values for hair_color can be black, brown, blond, red, gray, and white. </a:t>
            </a:r>
            <a:endParaRPr/>
          </a:p>
          <a:p>
            <a:pPr indent="-228600" lvl="0" marL="228600" rtl="0" algn="just">
              <a:lnSpc>
                <a:spcPct val="100000"/>
              </a:lnSpc>
              <a:spcBef>
                <a:spcPts val="0"/>
              </a:spcBef>
              <a:spcAft>
                <a:spcPts val="0"/>
              </a:spcAft>
              <a:buClr>
                <a:schemeClr val="dk1"/>
              </a:buClr>
              <a:buSzPts val="2800"/>
              <a:buChar char="•"/>
            </a:pPr>
            <a:r>
              <a:rPr lang="en-US"/>
              <a:t>The attribute marital_status can take on the values single, married, divorced, and widowed. </a:t>
            </a:r>
            <a:endParaRPr/>
          </a:p>
          <a:p>
            <a:pPr indent="-228600" lvl="0" marL="228600" rtl="0" algn="just">
              <a:lnSpc>
                <a:spcPct val="100000"/>
              </a:lnSpc>
              <a:spcBef>
                <a:spcPts val="0"/>
              </a:spcBef>
              <a:spcAft>
                <a:spcPts val="0"/>
              </a:spcAft>
              <a:buClr>
                <a:schemeClr val="dk1"/>
              </a:buClr>
              <a:buSzPts val="2800"/>
              <a:buChar char="•"/>
            </a:pPr>
            <a:r>
              <a:rPr lang="en-US"/>
              <a:t>For occupation, the values can be teacher, dentist, programmer, farmer, 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Binary Attributes</a:t>
            </a:r>
            <a:endParaRPr sz="4000"/>
          </a:p>
        </p:txBody>
      </p:sp>
      <p:sp>
        <p:nvSpPr>
          <p:cNvPr id="135" name="Google Shape;135;p7"/>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binary attribute is a nominal attribute with only two categories or states: 0 or 1, where 0 means that the attribute is absent, and 1 means that it is present. </a:t>
            </a:r>
            <a:endParaRPr/>
          </a:p>
          <a:p>
            <a:pPr indent="-228600" lvl="0" marL="228600" rtl="0" algn="just">
              <a:lnSpc>
                <a:spcPct val="100000"/>
              </a:lnSpc>
              <a:spcBef>
                <a:spcPts val="0"/>
              </a:spcBef>
              <a:spcAft>
                <a:spcPts val="0"/>
              </a:spcAft>
              <a:buClr>
                <a:schemeClr val="dk1"/>
              </a:buClr>
              <a:buSzPts val="2800"/>
              <a:buChar char="•"/>
            </a:pPr>
            <a:r>
              <a:rPr lang="en-US"/>
              <a:t>Binary attributes are referred to as Boolean if the two states correspond to true and false.</a:t>
            </a:r>
            <a:endParaRPr/>
          </a:p>
          <a:p>
            <a:pPr indent="-228600" lvl="0" marL="228600" rtl="0" algn="just">
              <a:lnSpc>
                <a:spcPct val="100000"/>
              </a:lnSpc>
              <a:spcBef>
                <a:spcPts val="0"/>
              </a:spcBef>
              <a:spcAft>
                <a:spcPts val="0"/>
              </a:spcAft>
              <a:buClr>
                <a:schemeClr val="dk1"/>
              </a:buClr>
              <a:buSzPts val="2800"/>
              <a:buChar char="•"/>
            </a:pPr>
            <a:r>
              <a:rPr lang="en-US"/>
              <a:t>The attribute medical test is binary, where a value of 1 means the result of the test for the patient is positive, while 0 means the result is negative.</a:t>
            </a:r>
            <a:endParaRPr/>
          </a:p>
          <a:p>
            <a:pPr indent="-228600" lvl="0" marL="228600" rtl="0" algn="just">
              <a:lnSpc>
                <a:spcPct val="100000"/>
              </a:lnSpc>
              <a:spcBef>
                <a:spcPts val="0"/>
              </a:spcBef>
              <a:spcAft>
                <a:spcPts val="0"/>
              </a:spcAft>
              <a:buClr>
                <a:schemeClr val="dk1"/>
              </a:buClr>
              <a:buSzPts val="2800"/>
              <a:buChar char="•"/>
            </a:pPr>
            <a:r>
              <a:rPr lang="en-US"/>
              <a:t>A binary attribute is </a:t>
            </a:r>
            <a:r>
              <a:rPr b="1" lang="en-US"/>
              <a:t>symmetric</a:t>
            </a:r>
            <a:r>
              <a:rPr lang="en-US"/>
              <a:t> if both of its states are equally valuable and carry the same weight. e.g., gender.</a:t>
            </a:r>
            <a:endParaRPr/>
          </a:p>
          <a:p>
            <a:pPr indent="-228600" lvl="0" marL="228600" rtl="0" algn="just">
              <a:lnSpc>
                <a:spcPct val="100000"/>
              </a:lnSpc>
              <a:spcBef>
                <a:spcPts val="0"/>
              </a:spcBef>
              <a:spcAft>
                <a:spcPts val="0"/>
              </a:spcAft>
              <a:buClr>
                <a:schemeClr val="dk1"/>
              </a:buClr>
              <a:buSzPts val="2800"/>
              <a:buChar char="•"/>
            </a:pPr>
            <a:r>
              <a:rPr lang="en-US"/>
              <a:t>A binary attribute is </a:t>
            </a:r>
            <a:r>
              <a:rPr b="1" lang="en-US"/>
              <a:t>asymmetric</a:t>
            </a:r>
            <a:r>
              <a:rPr lang="en-US"/>
              <a:t> if the outcomes of the states are not equally important, such as the positive and negative outcomes of a medical test for HIV.</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Ordinal Attributes</a:t>
            </a:r>
            <a:endParaRPr sz="4000"/>
          </a:p>
        </p:txBody>
      </p:sp>
      <p:sp>
        <p:nvSpPr>
          <p:cNvPr id="141" name="Google Shape;141;p8"/>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An ordinal attribute is an attribute with possible values that </a:t>
            </a:r>
            <a:r>
              <a:rPr b="1" lang="en-US"/>
              <a:t>have a meaningful order</a:t>
            </a:r>
            <a:r>
              <a:rPr lang="en-US"/>
              <a:t> or ranking among them, but </a:t>
            </a:r>
            <a:r>
              <a:rPr b="1" lang="en-US"/>
              <a:t>the magnitude between successive values is not known</a:t>
            </a:r>
            <a:r>
              <a:rPr lang="en-US"/>
              <a:t>.</a:t>
            </a:r>
            <a:endParaRPr/>
          </a:p>
          <a:p>
            <a:pPr indent="-228600" lvl="0" marL="228600" rtl="0" algn="just">
              <a:lnSpc>
                <a:spcPct val="100000"/>
              </a:lnSpc>
              <a:spcBef>
                <a:spcPts val="0"/>
              </a:spcBef>
              <a:spcAft>
                <a:spcPts val="0"/>
              </a:spcAft>
              <a:buClr>
                <a:schemeClr val="dk1"/>
              </a:buClr>
              <a:buSzPts val="2800"/>
              <a:buChar char="•"/>
            </a:pPr>
            <a:r>
              <a:rPr lang="en-US"/>
              <a:t>For example: the size of drinks available at a fast-food restaurant. This nominal attribute has three possible values: small, medium, and large. </a:t>
            </a:r>
            <a:endParaRPr/>
          </a:p>
          <a:p>
            <a:pPr indent="-228600" lvl="0" marL="228600" rtl="0" algn="just">
              <a:lnSpc>
                <a:spcPct val="100000"/>
              </a:lnSpc>
              <a:spcBef>
                <a:spcPts val="0"/>
              </a:spcBef>
              <a:spcAft>
                <a:spcPts val="0"/>
              </a:spcAft>
              <a:buClr>
                <a:schemeClr val="dk1"/>
              </a:buClr>
              <a:buSzPts val="2800"/>
              <a:buChar char="•"/>
            </a:pPr>
            <a:r>
              <a:rPr lang="en-US"/>
              <a:t>For example: of ordinal attributes include grade (e.g., AC, A, A−, BC. </a:t>
            </a:r>
            <a:endParaRPr/>
          </a:p>
          <a:p>
            <a:pPr indent="-228600" lvl="0" marL="228600" rtl="0" algn="just">
              <a:lnSpc>
                <a:spcPct val="100000"/>
              </a:lnSpc>
              <a:spcBef>
                <a:spcPts val="0"/>
              </a:spcBef>
              <a:spcAft>
                <a:spcPts val="0"/>
              </a:spcAft>
              <a:buClr>
                <a:schemeClr val="dk1"/>
              </a:buClr>
              <a:buSzPts val="2800"/>
              <a:buChar char="•"/>
            </a:pPr>
            <a:r>
              <a:rPr lang="en-US"/>
              <a:t>Other example: Professional ranks can be enumerated in a sequential order: for example, assistant, associate, and full for professors. </a:t>
            </a:r>
            <a:endParaRPr/>
          </a:p>
          <a:p>
            <a:pPr indent="-228600" lvl="0" marL="228600" rtl="0" algn="just">
              <a:lnSpc>
                <a:spcPct val="100000"/>
              </a:lnSpc>
              <a:spcBef>
                <a:spcPts val="0"/>
              </a:spcBef>
              <a:spcAft>
                <a:spcPts val="0"/>
              </a:spcAft>
              <a:buClr>
                <a:schemeClr val="dk1"/>
              </a:buClr>
              <a:buSzPts val="2800"/>
              <a:buChar char="•"/>
            </a:pPr>
            <a:r>
              <a:rPr lang="en-US"/>
              <a:t>Customer satisfaction had the following ordinal categories: </a:t>
            </a:r>
            <a:endParaRPr/>
          </a:p>
          <a:p>
            <a:pPr indent="-228600" lvl="1" marL="685800" rtl="0" algn="just">
              <a:lnSpc>
                <a:spcPct val="100000"/>
              </a:lnSpc>
              <a:spcBef>
                <a:spcPts val="0"/>
              </a:spcBef>
              <a:spcAft>
                <a:spcPts val="0"/>
              </a:spcAft>
              <a:buClr>
                <a:schemeClr val="dk1"/>
              </a:buClr>
              <a:buSzPts val="2800"/>
              <a:buChar char="•"/>
            </a:pPr>
            <a:r>
              <a:rPr lang="en-US" sz="2800"/>
              <a:t>0: very dissatisfied, 1: somewhat dissatisfied, </a:t>
            </a:r>
            <a:endParaRPr/>
          </a:p>
          <a:p>
            <a:pPr indent="-228600" lvl="1" marL="685800" rtl="0" algn="just">
              <a:lnSpc>
                <a:spcPct val="100000"/>
              </a:lnSpc>
              <a:spcBef>
                <a:spcPts val="0"/>
              </a:spcBef>
              <a:spcAft>
                <a:spcPts val="0"/>
              </a:spcAft>
              <a:buClr>
                <a:schemeClr val="dk1"/>
              </a:buClr>
              <a:buSzPts val="2800"/>
              <a:buChar char="•"/>
            </a:pPr>
            <a:r>
              <a:rPr lang="en-US" sz="2800"/>
              <a:t>2: neutral, 3: satisfied, and 4: very satisfied.</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Numeric Attributes</a:t>
            </a:r>
            <a:endParaRPr sz="4000"/>
          </a:p>
        </p:txBody>
      </p:sp>
      <p:sp>
        <p:nvSpPr>
          <p:cNvPr id="147" name="Google Shape;147;p9"/>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numeric attribute is quantitative; that is, it is a measurable quantity, represented in integer or real values. Numeric attributes can be interval-scaled or ratio-scaled.</a:t>
            </a:r>
            <a:endParaRPr/>
          </a:p>
          <a:p>
            <a:pPr indent="-228600" lvl="0" marL="228600" rtl="0" algn="just">
              <a:lnSpc>
                <a:spcPct val="100000"/>
              </a:lnSpc>
              <a:spcBef>
                <a:spcPts val="0"/>
              </a:spcBef>
              <a:spcAft>
                <a:spcPts val="0"/>
              </a:spcAft>
              <a:buClr>
                <a:schemeClr val="dk1"/>
              </a:buClr>
              <a:buSzPts val="2800"/>
              <a:buChar char="•"/>
            </a:pPr>
            <a:r>
              <a:rPr b="1" lang="en-US"/>
              <a:t>Interval-Scaled Attributes:</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Interval-scaled attributes are measured on a scale of </a:t>
            </a:r>
            <a:r>
              <a:rPr b="1" lang="en-US" sz="2800"/>
              <a:t>equal-size units</a:t>
            </a:r>
            <a:r>
              <a:rPr lang="en-US" sz="2800"/>
              <a:t>. The values of interval-scaled attributes have order and can be positive, 0, or negative. </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In addition to providing a ranking of values, such attributes allow us to compare and quantify the difference between values.</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we can compute their mean value, in addition to the median and mode measures of central tendency.</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Numeric Attributes</a:t>
            </a:r>
            <a:endParaRPr sz="4000"/>
          </a:p>
        </p:txBody>
      </p:sp>
      <p:sp>
        <p:nvSpPr>
          <p:cNvPr id="153" name="Google Shape;153;p10"/>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numeric attribute is quantitative; that is, it is a measurable quantity, represented in integer or real values. Numeric attributes can be interval-scaled or ratio-scaled.</a:t>
            </a:r>
            <a:endParaRPr/>
          </a:p>
          <a:p>
            <a:pPr indent="-228600" lvl="0" marL="228600" rtl="0" algn="just">
              <a:lnSpc>
                <a:spcPct val="100000"/>
              </a:lnSpc>
              <a:spcBef>
                <a:spcPts val="0"/>
              </a:spcBef>
              <a:spcAft>
                <a:spcPts val="0"/>
              </a:spcAft>
              <a:buClr>
                <a:schemeClr val="dk1"/>
              </a:buClr>
              <a:buSzPts val="2800"/>
              <a:buChar char="•"/>
            </a:pPr>
            <a:r>
              <a:rPr b="1" lang="en-US"/>
              <a:t>Ratio-Scaled Attributes:</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A ratio-scaled attribute is a numeric attribute with an inherent zero-point. That is, if a measurement is ratio-scaled, we can speak of a value as being a </a:t>
            </a:r>
            <a:r>
              <a:rPr b="1" lang="en-US" sz="2800"/>
              <a:t>multiple</a:t>
            </a:r>
            <a:r>
              <a:rPr lang="en-US" sz="2800"/>
              <a:t> (or </a:t>
            </a:r>
            <a:r>
              <a:rPr b="1" lang="en-US" sz="2800"/>
              <a:t>ratio</a:t>
            </a:r>
            <a:r>
              <a:rPr lang="en-US" sz="2800"/>
              <a:t>) of another value. </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In addition, the values are ordered, and we can also compute the difference between values, as well as the mean, median, and mode.</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Unlike temperatures in Celsius and Fahrenheit, the Kelvin (K) temperature scale has what is considered a true zero-point.  </a:t>
            </a:r>
            <a:endParaRPr/>
          </a:p>
          <a:p>
            <a:pPr indent="-182562" lvl="1" marL="538163" rtl="0" algn="just">
              <a:lnSpc>
                <a:spcPct val="100000"/>
              </a:lnSpc>
              <a:spcBef>
                <a:spcPts val="0"/>
              </a:spcBef>
              <a:spcAft>
                <a:spcPts val="0"/>
              </a:spcAft>
              <a:buClr>
                <a:schemeClr val="dk1"/>
              </a:buClr>
              <a:buSzPts val="2800"/>
              <a:buFont typeface="Noto Sans Symbols"/>
              <a:buChar char="▪"/>
            </a:pPr>
            <a:r>
              <a:rPr lang="en-US" sz="2800"/>
              <a:t>attributes to measure weight, height, latitude and longitude coordinates and monetary quantities (e.g., you are 100 times richer with $100 than with $1).</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ph type="title"/>
          </p:nvPr>
        </p:nvSpPr>
        <p:spPr>
          <a:xfrm>
            <a:off x="838200" y="19685"/>
            <a:ext cx="10515600" cy="81343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Properties of Attribute Values </a:t>
            </a:r>
            <a:endParaRPr/>
          </a:p>
        </p:txBody>
      </p:sp>
      <p:sp>
        <p:nvSpPr>
          <p:cNvPr id="159" name="Google Shape;159;p11"/>
          <p:cNvSpPr txBox="1"/>
          <p:nvPr>
            <p:ph idx="1" type="body"/>
          </p:nvPr>
        </p:nvSpPr>
        <p:spPr>
          <a:xfrm>
            <a:off x="838200" y="833120"/>
            <a:ext cx="10866120" cy="591312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The type of an attribute depends on which of the following properties/operations it possesses:</a:t>
            </a:r>
            <a:endParaRPr/>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127000" lvl="4" marL="2057400" rtl="0" algn="l">
              <a:lnSpc>
                <a:spcPct val="90000"/>
              </a:lnSpc>
              <a:spcBef>
                <a:spcPts val="500"/>
              </a:spcBef>
              <a:spcAft>
                <a:spcPts val="0"/>
              </a:spcAft>
              <a:buClr>
                <a:schemeClr val="dk1"/>
              </a:buClr>
              <a:buSzPts val="1600"/>
              <a:buNone/>
            </a:pPr>
            <a:r>
              <a:t/>
            </a:r>
            <a:endParaRPr sz="1600"/>
          </a:p>
          <a:p>
            <a:pPr indent="-228600" lvl="1" marL="685800" rtl="0" algn="l">
              <a:lnSpc>
                <a:spcPct val="90000"/>
              </a:lnSpc>
              <a:spcBef>
                <a:spcPts val="500"/>
              </a:spcBef>
              <a:spcAft>
                <a:spcPts val="0"/>
              </a:spcAft>
              <a:buClr>
                <a:schemeClr val="dk1"/>
              </a:buClr>
              <a:buSzPts val="2800"/>
              <a:buFont typeface="Noto Sans Symbols"/>
              <a:buChar char="✔"/>
            </a:pPr>
            <a:r>
              <a:rPr b="1" lang="en-US" sz="2800"/>
              <a:t>Nominal attribute: </a:t>
            </a:r>
            <a:r>
              <a:rPr lang="en-US" sz="2800"/>
              <a:t>distinctness</a:t>
            </a:r>
            <a:endParaRPr/>
          </a:p>
          <a:p>
            <a:pPr indent="-228600" lvl="1" marL="685800" rtl="0" algn="l">
              <a:lnSpc>
                <a:spcPct val="90000"/>
              </a:lnSpc>
              <a:spcBef>
                <a:spcPts val="500"/>
              </a:spcBef>
              <a:spcAft>
                <a:spcPts val="0"/>
              </a:spcAft>
              <a:buClr>
                <a:schemeClr val="dk1"/>
              </a:buClr>
              <a:buSzPts val="2800"/>
              <a:buFont typeface="Noto Sans Symbols"/>
              <a:buChar char="✔"/>
            </a:pPr>
            <a:r>
              <a:rPr b="1" lang="en-US" sz="2800"/>
              <a:t>Ordinal attribute: </a:t>
            </a:r>
            <a:r>
              <a:rPr lang="en-US" sz="2800"/>
              <a:t>distinctness &amp; order</a:t>
            </a:r>
            <a:endParaRPr/>
          </a:p>
          <a:p>
            <a:pPr indent="-228600" lvl="1" marL="685800" rtl="0" algn="l">
              <a:lnSpc>
                <a:spcPct val="90000"/>
              </a:lnSpc>
              <a:spcBef>
                <a:spcPts val="500"/>
              </a:spcBef>
              <a:spcAft>
                <a:spcPts val="0"/>
              </a:spcAft>
              <a:buClr>
                <a:schemeClr val="dk1"/>
              </a:buClr>
              <a:buSzPts val="2800"/>
              <a:buFont typeface="Noto Sans Symbols"/>
              <a:buChar char="✔"/>
            </a:pPr>
            <a:r>
              <a:rPr b="1" lang="en-US" sz="2800"/>
              <a:t>Interval attribute: </a:t>
            </a:r>
            <a:r>
              <a:rPr lang="en-US" sz="2800"/>
              <a:t>distinctness, order &amp; meaningful differences</a:t>
            </a:r>
            <a:endParaRPr/>
          </a:p>
          <a:p>
            <a:pPr indent="-228600" lvl="1" marL="685800" rtl="0" algn="l">
              <a:lnSpc>
                <a:spcPct val="90000"/>
              </a:lnSpc>
              <a:spcBef>
                <a:spcPts val="500"/>
              </a:spcBef>
              <a:spcAft>
                <a:spcPts val="0"/>
              </a:spcAft>
              <a:buClr>
                <a:schemeClr val="dk1"/>
              </a:buClr>
              <a:buSzPts val="2800"/>
              <a:buFont typeface="Noto Sans Symbols"/>
              <a:buChar char="✔"/>
            </a:pPr>
            <a:r>
              <a:rPr b="1" lang="en-US" sz="2800"/>
              <a:t>Ratio attribute: </a:t>
            </a:r>
            <a:r>
              <a:rPr lang="en-US" sz="2800"/>
              <a:t>all 4 properties/operations</a:t>
            </a:r>
            <a:endParaRPr/>
          </a:p>
        </p:txBody>
      </p:sp>
      <p:pic>
        <p:nvPicPr>
          <p:cNvPr id="160" name="Google Shape;160;p11"/>
          <p:cNvPicPr preferRelativeResize="0"/>
          <p:nvPr/>
        </p:nvPicPr>
        <p:blipFill rotWithShape="1">
          <a:blip r:embed="rId3">
            <a:alphaModFix/>
          </a:blip>
          <a:srcRect b="0" l="0" r="0" t="0"/>
          <a:stretch/>
        </p:blipFill>
        <p:spPr>
          <a:xfrm>
            <a:off x="3267075" y="2028825"/>
            <a:ext cx="3516591" cy="174053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Discrete versus Continuous Attributes</a:t>
            </a:r>
            <a:endParaRPr sz="4000"/>
          </a:p>
        </p:txBody>
      </p:sp>
      <p:sp>
        <p:nvSpPr>
          <p:cNvPr id="166" name="Google Shape;166;p12"/>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chemeClr val="dk1"/>
              </a:buClr>
              <a:buSzPts val="2800"/>
              <a:buChar char="•"/>
            </a:pPr>
            <a:r>
              <a:rPr lang="en-US"/>
              <a:t>A discrete attribute has a </a:t>
            </a:r>
            <a:r>
              <a:rPr b="1" lang="en-US"/>
              <a:t>finite </a:t>
            </a:r>
            <a:r>
              <a:rPr lang="en-US"/>
              <a:t>or</a:t>
            </a:r>
            <a:r>
              <a:rPr b="1" lang="en-US"/>
              <a:t> countably infinite set of values</a:t>
            </a:r>
            <a:r>
              <a:rPr lang="en-US"/>
              <a:t>, which may or may not be represented as </a:t>
            </a:r>
            <a:r>
              <a:rPr b="1" lang="en-US"/>
              <a:t>integers</a:t>
            </a:r>
            <a:r>
              <a:rPr lang="en-US"/>
              <a:t>. </a:t>
            </a:r>
            <a:endParaRPr/>
          </a:p>
          <a:p>
            <a:pPr indent="-228600" lvl="0" marL="228600" rtl="0" algn="just">
              <a:lnSpc>
                <a:spcPct val="150000"/>
              </a:lnSpc>
              <a:spcBef>
                <a:spcPts val="0"/>
              </a:spcBef>
              <a:spcAft>
                <a:spcPts val="0"/>
              </a:spcAft>
              <a:buClr>
                <a:schemeClr val="dk1"/>
              </a:buClr>
              <a:buSzPts val="2800"/>
              <a:buChar char="•"/>
            </a:pPr>
            <a:r>
              <a:rPr lang="en-US"/>
              <a:t>The attributes hair color, smoker, medical test, and drink size each have a finite number of values, and so are discrete.</a:t>
            </a:r>
            <a:endParaRPr/>
          </a:p>
          <a:p>
            <a:pPr indent="-228600" lvl="0" marL="228600" rtl="0" algn="just">
              <a:lnSpc>
                <a:spcPct val="150000"/>
              </a:lnSpc>
              <a:spcBef>
                <a:spcPts val="0"/>
              </a:spcBef>
              <a:spcAft>
                <a:spcPts val="0"/>
              </a:spcAft>
              <a:buClr>
                <a:schemeClr val="dk1"/>
              </a:buClr>
              <a:buSzPts val="2800"/>
              <a:buChar char="•"/>
            </a:pPr>
            <a:r>
              <a:rPr lang="en-US"/>
              <a:t>Discrete attributes may have numeric values, such as 0 and 1 for binary attributes or, the values 0 to 110 for the attribute age. </a:t>
            </a:r>
            <a:endParaRPr/>
          </a:p>
          <a:p>
            <a:pPr indent="-228600" lvl="0" marL="228600" rtl="0" algn="just">
              <a:lnSpc>
                <a:spcPct val="150000"/>
              </a:lnSpc>
              <a:spcBef>
                <a:spcPts val="0"/>
              </a:spcBef>
              <a:spcAft>
                <a:spcPts val="0"/>
              </a:spcAft>
              <a:buClr>
                <a:schemeClr val="dk1"/>
              </a:buClr>
              <a:buSzPts val="2800"/>
              <a:buChar char="•"/>
            </a:pPr>
            <a:r>
              <a:rPr lang="en-US"/>
              <a:t>Note: Binary attributes are a special case of discrete attributes </a:t>
            </a:r>
            <a:endParaRPr/>
          </a:p>
          <a:p>
            <a:pPr indent="0" lvl="0" marL="0" rtl="0" algn="just">
              <a:lnSpc>
                <a:spcPct val="100000"/>
              </a:lnSpc>
              <a:spcBef>
                <a:spcPts val="0"/>
              </a:spcBef>
              <a:spcAft>
                <a:spcPts val="0"/>
              </a:spcAft>
              <a:buClr>
                <a:schemeClr val="dk1"/>
              </a:buClr>
              <a:buSzPts val="2800"/>
              <a:buNone/>
            </a:pPr>
            <a:r>
              <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3"/>
          <p:cNvSpPr txBox="1"/>
          <p:nvPr>
            <p:ph type="title"/>
          </p:nvPr>
        </p:nvSpPr>
        <p:spPr>
          <a:xfrm>
            <a:off x="838200" y="121280"/>
            <a:ext cx="1051560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Discrete versus Continuous Attributes</a:t>
            </a:r>
            <a:endParaRPr sz="4000"/>
          </a:p>
        </p:txBody>
      </p:sp>
      <p:sp>
        <p:nvSpPr>
          <p:cNvPr id="172" name="Google Shape;172;p13"/>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chemeClr val="dk1"/>
              </a:buClr>
              <a:buSzPts val="2800"/>
              <a:buChar char="•"/>
            </a:pPr>
            <a:r>
              <a:rPr lang="en-US"/>
              <a:t>If an attribute is not discrete, it is continuous. In practice, real values are represented using a finite number of digits. </a:t>
            </a:r>
            <a:endParaRPr/>
          </a:p>
          <a:p>
            <a:pPr indent="-228600" lvl="0" marL="228600" rtl="0" algn="just">
              <a:lnSpc>
                <a:spcPct val="150000"/>
              </a:lnSpc>
              <a:spcBef>
                <a:spcPts val="0"/>
              </a:spcBef>
              <a:spcAft>
                <a:spcPts val="0"/>
              </a:spcAft>
              <a:buClr>
                <a:schemeClr val="dk1"/>
              </a:buClr>
              <a:buSzPts val="2800"/>
              <a:buChar char="•"/>
            </a:pPr>
            <a:r>
              <a:rPr lang="en-US"/>
              <a:t>Continuous attributes are typically represented as </a:t>
            </a:r>
            <a:r>
              <a:rPr b="1" lang="en-US"/>
              <a:t>floating-point variables</a:t>
            </a:r>
            <a:r>
              <a:rPr lang="en-US"/>
              <a:t>.</a:t>
            </a:r>
            <a:endParaRPr/>
          </a:p>
          <a:p>
            <a:pPr indent="-228600" lvl="0" marL="228600" rtl="0" algn="just">
              <a:lnSpc>
                <a:spcPct val="150000"/>
              </a:lnSpc>
              <a:spcBef>
                <a:spcPts val="0"/>
              </a:spcBef>
              <a:spcAft>
                <a:spcPts val="0"/>
              </a:spcAft>
              <a:buClr>
                <a:schemeClr val="dk1"/>
              </a:buClr>
              <a:buSzPts val="2800"/>
              <a:buChar char="•"/>
            </a:pPr>
            <a:r>
              <a:rPr lang="en-US"/>
              <a:t>In literature, the terms numeric attribute and continuous attribute are often used interchangeably.</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1752600" y="0"/>
            <a:ext cx="8585200" cy="685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Important Characteristics of Data</a:t>
            </a:r>
            <a:endParaRPr/>
          </a:p>
        </p:txBody>
      </p:sp>
      <p:sp>
        <p:nvSpPr>
          <p:cNvPr id="178" name="Google Shape;178;p14"/>
          <p:cNvSpPr txBox="1"/>
          <p:nvPr>
            <p:ph idx="1" type="body"/>
          </p:nvPr>
        </p:nvSpPr>
        <p:spPr>
          <a:xfrm>
            <a:off x="955040" y="685800"/>
            <a:ext cx="9814560" cy="5948680"/>
          </a:xfrm>
          <a:prstGeom prst="rect">
            <a:avLst/>
          </a:prstGeom>
          <a:noFill/>
          <a:ln>
            <a:noFill/>
          </a:ln>
        </p:spPr>
        <p:txBody>
          <a:bodyPr anchorCtr="0" anchor="t" bIns="45700" lIns="91425" spcFirstLastPara="1" rIns="91425" wrap="square" tIns="45700">
            <a:normAutofit/>
          </a:bodyPr>
          <a:lstStyle/>
          <a:p>
            <a:pPr indent="-228600" lvl="1" marL="685800" rtl="0" algn="l">
              <a:lnSpc>
                <a:spcPct val="95000"/>
              </a:lnSpc>
              <a:spcBef>
                <a:spcPts val="0"/>
              </a:spcBef>
              <a:spcAft>
                <a:spcPts val="0"/>
              </a:spcAft>
              <a:buClr>
                <a:schemeClr val="dk1"/>
              </a:buClr>
              <a:buSzPts val="2800"/>
              <a:buChar char="•"/>
            </a:pPr>
            <a:r>
              <a:rPr lang="en-US" sz="2800"/>
              <a:t>Dimensionality (number of attributes)</a:t>
            </a:r>
            <a:endParaRPr/>
          </a:p>
          <a:p>
            <a:pPr indent="-228600" lvl="2" marL="1143000" rtl="0" algn="l">
              <a:lnSpc>
                <a:spcPct val="95000"/>
              </a:lnSpc>
              <a:spcBef>
                <a:spcPts val="560"/>
              </a:spcBef>
              <a:spcAft>
                <a:spcPts val="0"/>
              </a:spcAft>
              <a:buClr>
                <a:schemeClr val="dk1"/>
              </a:buClr>
              <a:buSzPts val="2800"/>
              <a:buFont typeface="Noto Sans Symbols"/>
              <a:buChar char="✔"/>
            </a:pPr>
            <a:r>
              <a:rPr lang="en-US" sz="2800"/>
              <a:t> High dimensional data brings a number of challenges</a:t>
            </a:r>
            <a:endParaRPr/>
          </a:p>
          <a:p>
            <a:pPr indent="-228600" lvl="1" marL="685800" rtl="0" algn="l">
              <a:lnSpc>
                <a:spcPct val="95000"/>
              </a:lnSpc>
              <a:spcBef>
                <a:spcPts val="560"/>
              </a:spcBef>
              <a:spcAft>
                <a:spcPts val="0"/>
              </a:spcAft>
              <a:buClr>
                <a:schemeClr val="dk1"/>
              </a:buClr>
              <a:buSzPts val="2800"/>
              <a:buChar char="•"/>
            </a:pPr>
            <a:r>
              <a:rPr lang="en-US" sz="2800"/>
              <a:t>Sparsity</a:t>
            </a:r>
            <a:endParaRPr/>
          </a:p>
          <a:p>
            <a:pPr indent="-228600" lvl="2" marL="1143000" rtl="0" algn="l">
              <a:lnSpc>
                <a:spcPct val="95000"/>
              </a:lnSpc>
              <a:spcBef>
                <a:spcPts val="560"/>
              </a:spcBef>
              <a:spcAft>
                <a:spcPts val="0"/>
              </a:spcAft>
              <a:buClr>
                <a:schemeClr val="dk1"/>
              </a:buClr>
              <a:buSzPts val="2800"/>
              <a:buFont typeface="Noto Sans Symbols"/>
              <a:buChar char="⮚"/>
            </a:pPr>
            <a:r>
              <a:rPr lang="en-US" sz="2800"/>
              <a:t> Only presence counts</a:t>
            </a:r>
            <a:endParaRPr/>
          </a:p>
          <a:p>
            <a:pPr indent="-228600" lvl="1" marL="685800" rtl="0" algn="l">
              <a:lnSpc>
                <a:spcPct val="95000"/>
              </a:lnSpc>
              <a:spcBef>
                <a:spcPts val="560"/>
              </a:spcBef>
              <a:spcAft>
                <a:spcPts val="0"/>
              </a:spcAft>
              <a:buClr>
                <a:schemeClr val="dk1"/>
              </a:buClr>
              <a:buSzPts val="2800"/>
              <a:buChar char="•"/>
            </a:pPr>
            <a:r>
              <a:rPr lang="en-US" sz="2800"/>
              <a:t>Resolution</a:t>
            </a:r>
            <a:endParaRPr/>
          </a:p>
          <a:p>
            <a:pPr indent="-457200" lvl="2" marL="1257300" rtl="0" algn="l">
              <a:lnSpc>
                <a:spcPct val="105000"/>
              </a:lnSpc>
              <a:spcBef>
                <a:spcPts val="560"/>
              </a:spcBef>
              <a:spcAft>
                <a:spcPts val="0"/>
              </a:spcAft>
              <a:buClr>
                <a:schemeClr val="dk1"/>
              </a:buClr>
              <a:buSzPts val="2800"/>
              <a:buFont typeface="Courier New"/>
              <a:buChar char="o"/>
            </a:pPr>
            <a:r>
              <a:rPr lang="en-US" sz="2800"/>
              <a:t> Patterns depend on the scale </a:t>
            </a:r>
            <a:endParaRPr/>
          </a:p>
          <a:p>
            <a:pPr indent="-228600" lvl="1" marL="685800" rtl="0" algn="l">
              <a:lnSpc>
                <a:spcPct val="95000"/>
              </a:lnSpc>
              <a:spcBef>
                <a:spcPts val="560"/>
              </a:spcBef>
              <a:spcAft>
                <a:spcPts val="0"/>
              </a:spcAft>
              <a:buClr>
                <a:schemeClr val="dk1"/>
              </a:buClr>
              <a:buSzPts val="2800"/>
              <a:buChar char="•"/>
            </a:pPr>
            <a:r>
              <a:rPr lang="en-US" sz="2800"/>
              <a:t>Size</a:t>
            </a:r>
            <a:endParaRPr/>
          </a:p>
          <a:p>
            <a:pPr indent="-457200" lvl="2" marL="1257300" rtl="0" algn="l">
              <a:lnSpc>
                <a:spcPct val="115000"/>
              </a:lnSpc>
              <a:spcBef>
                <a:spcPts val="560"/>
              </a:spcBef>
              <a:spcAft>
                <a:spcPts val="0"/>
              </a:spcAft>
              <a:buClr>
                <a:schemeClr val="dk1"/>
              </a:buClr>
              <a:buSzPts val="2800"/>
              <a:buFont typeface="Noto Sans Symbols"/>
              <a:buChar char="▪"/>
            </a:pPr>
            <a:r>
              <a:rPr lang="en-US" sz="2800"/>
              <a:t>Type of analysis may depend on size of data</a:t>
            </a:r>
            <a:endParaRPr/>
          </a:p>
          <a:p>
            <a:pPr indent="-50800" lvl="1" marL="685800" rtl="0" algn="l">
              <a:lnSpc>
                <a:spcPct val="95000"/>
              </a:lnSpc>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1" marL="685800" rtl="0" algn="l">
              <a:lnSpc>
                <a:spcPct val="95000"/>
              </a:lnSpc>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1" marL="685800" rtl="0" algn="l">
              <a:lnSpc>
                <a:spcPct val="95000"/>
              </a:lnSpc>
              <a:spcBef>
                <a:spcPts val="560"/>
              </a:spcBef>
              <a:spcAft>
                <a:spcPts val="0"/>
              </a:spcAft>
              <a:buClr>
                <a:schemeClr val="dk1"/>
              </a:buClr>
              <a:buSzPts val="2800"/>
              <a:buNone/>
            </a:pPr>
            <a:r>
              <a:t/>
            </a:r>
            <a:endParaRPr b="1" sz="2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1752600" y="0"/>
            <a:ext cx="8585200" cy="6858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Types of data sets </a:t>
            </a:r>
            <a:endParaRPr/>
          </a:p>
        </p:txBody>
      </p:sp>
      <p:sp>
        <p:nvSpPr>
          <p:cNvPr id="184" name="Google Shape;184;p15"/>
          <p:cNvSpPr txBox="1"/>
          <p:nvPr>
            <p:ph idx="1" type="body"/>
          </p:nvPr>
        </p:nvSpPr>
        <p:spPr>
          <a:xfrm>
            <a:off x="1137920" y="685800"/>
            <a:ext cx="9301480" cy="5918200"/>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Char char="•"/>
            </a:pPr>
            <a:r>
              <a:rPr lang="en-US"/>
              <a:t>Record</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Data Matrix</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Document Data</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Transaction Data</a:t>
            </a:r>
            <a:endParaRPr sz="2800"/>
          </a:p>
          <a:p>
            <a:pPr indent="-285750" lvl="0" marL="285750" rtl="0" algn="just">
              <a:lnSpc>
                <a:spcPct val="90000"/>
              </a:lnSpc>
              <a:spcBef>
                <a:spcPts val="1000"/>
              </a:spcBef>
              <a:spcAft>
                <a:spcPts val="0"/>
              </a:spcAft>
              <a:buClr>
                <a:schemeClr val="dk1"/>
              </a:buClr>
              <a:buSzPts val="2800"/>
              <a:buChar char="•"/>
            </a:pPr>
            <a:r>
              <a:rPr lang="en-US"/>
              <a:t>Graph</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World Wide Web</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Molecular Structures</a:t>
            </a:r>
            <a:endParaRPr/>
          </a:p>
          <a:p>
            <a:pPr indent="-285750" lvl="0" marL="285750" rtl="0" algn="just">
              <a:lnSpc>
                <a:spcPct val="90000"/>
              </a:lnSpc>
              <a:spcBef>
                <a:spcPts val="1000"/>
              </a:spcBef>
              <a:spcAft>
                <a:spcPts val="0"/>
              </a:spcAft>
              <a:buClr>
                <a:schemeClr val="dk1"/>
              </a:buClr>
              <a:buSzPts val="2800"/>
              <a:buChar char="•"/>
            </a:pPr>
            <a:r>
              <a:rPr lang="en-US"/>
              <a:t>Ordered</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Spatial Data</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Temporal Data</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Sequential Data</a:t>
            </a:r>
            <a:endParaRPr/>
          </a:p>
          <a:p>
            <a:pPr indent="-228600" lvl="1" marL="685800" rtl="0" algn="just">
              <a:lnSpc>
                <a:spcPct val="90000"/>
              </a:lnSpc>
              <a:spcBef>
                <a:spcPts val="500"/>
              </a:spcBef>
              <a:spcAft>
                <a:spcPts val="0"/>
              </a:spcAft>
              <a:buClr>
                <a:schemeClr val="dk1"/>
              </a:buClr>
              <a:buSzPts val="2800"/>
              <a:buFont typeface="Noto Sans Symbols"/>
              <a:buChar char="❑"/>
            </a:pPr>
            <a:r>
              <a:rPr lang="en-US" sz="2800"/>
              <a:t>Genetic Sequence Data</a:t>
            </a:r>
            <a:endParaRPr/>
          </a:p>
          <a:p>
            <a:pPr indent="-228600" lvl="1" marL="685800" rtl="0" algn="just">
              <a:lnSpc>
                <a:spcPct val="95000"/>
              </a:lnSpc>
              <a:spcBef>
                <a:spcPts val="560"/>
              </a:spcBef>
              <a:spcAft>
                <a:spcPts val="0"/>
              </a:spcAft>
              <a:buClr>
                <a:schemeClr val="dk1"/>
              </a:buClr>
              <a:buSzPts val="2800"/>
              <a:buFont typeface="Arial"/>
              <a:buNone/>
            </a:pPr>
            <a:r>
              <a:t/>
            </a:r>
            <a:endParaRPr b="1" sz="2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txBox="1"/>
          <p:nvPr>
            <p:ph type="title"/>
          </p:nvPr>
        </p:nvSpPr>
        <p:spPr>
          <a:xfrm>
            <a:off x="838200" y="71597"/>
            <a:ext cx="10515600" cy="68024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Record Data </a:t>
            </a:r>
            <a:endParaRPr/>
          </a:p>
        </p:txBody>
      </p:sp>
      <p:sp>
        <p:nvSpPr>
          <p:cNvPr id="190" name="Google Shape;190;p16"/>
          <p:cNvSpPr txBox="1"/>
          <p:nvPr>
            <p:ph idx="1" type="body"/>
          </p:nvPr>
        </p:nvSpPr>
        <p:spPr>
          <a:xfrm>
            <a:off x="1173480" y="878840"/>
            <a:ext cx="9845040" cy="9906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Data that consists of a collection of records, each of which consists of a fixed set of attributes </a:t>
            </a:r>
            <a:endParaRPr/>
          </a:p>
          <a:p>
            <a:pPr indent="-50800" lvl="1" marL="685800" rtl="0" algn="l">
              <a:lnSpc>
                <a:spcPct val="90000"/>
              </a:lnSpc>
              <a:spcBef>
                <a:spcPts val="500"/>
              </a:spcBef>
              <a:spcAft>
                <a:spcPts val="0"/>
              </a:spcAft>
              <a:buClr>
                <a:schemeClr val="dk1"/>
              </a:buClr>
              <a:buSzPts val="2800"/>
              <a:buNone/>
            </a:pPr>
            <a:r>
              <a:t/>
            </a:r>
            <a:endParaRPr sz="2800"/>
          </a:p>
          <a:p>
            <a:pPr indent="-50800" lvl="1" marL="685800" rtl="0" algn="l">
              <a:lnSpc>
                <a:spcPct val="90000"/>
              </a:lnSpc>
              <a:spcBef>
                <a:spcPts val="500"/>
              </a:spcBef>
              <a:spcAft>
                <a:spcPts val="0"/>
              </a:spcAft>
              <a:buClr>
                <a:schemeClr val="dk1"/>
              </a:buClr>
              <a:buSzPts val="2800"/>
              <a:buNone/>
            </a:pPr>
            <a:r>
              <a:t/>
            </a:r>
            <a:endParaRPr sz="2800"/>
          </a:p>
        </p:txBody>
      </p:sp>
      <p:graphicFrame>
        <p:nvGraphicFramePr>
          <p:cNvPr id="191" name="Google Shape;191;p16"/>
          <p:cNvGraphicFramePr/>
          <p:nvPr/>
        </p:nvGraphicFramePr>
        <p:xfrm>
          <a:off x="3733800" y="1803399"/>
          <a:ext cx="4800600" cy="5133315"/>
        </p:xfrm>
        <a:graphic>
          <a:graphicData uri="http://schemas.openxmlformats.org/presentationml/2006/ole">
            <mc:AlternateContent>
              <mc:Choice Requires="v">
                <p:oleObj r:id="rId4" imgH="5133315" imgW="4800600" progId="Word.Document.8" spid="_x0000_s1">
                  <p:embed/>
                </p:oleObj>
              </mc:Choice>
              <mc:Fallback>
                <p:oleObj r:id="rId5" imgH="5133315" imgW="4800600" progId="Word.Document.8">
                  <p:embed/>
                  <p:pic>
                    <p:nvPicPr>
                      <p:cNvPr id="191" name="Google Shape;191;p16"/>
                      <p:cNvPicPr preferRelativeResize="0"/>
                      <p:nvPr/>
                    </p:nvPicPr>
                    <p:blipFill rotWithShape="1">
                      <a:blip r:embed="rId6">
                        <a:alphaModFix/>
                      </a:blip>
                      <a:srcRect b="0" l="0" r="0" t="0"/>
                      <a:stretch/>
                    </p:blipFill>
                    <p:spPr>
                      <a:xfrm>
                        <a:off x="3733800" y="1803399"/>
                        <a:ext cx="4800600" cy="5133315"/>
                      </a:xfrm>
                      <a:prstGeom prst="rect">
                        <a:avLst/>
                      </a:prstGeom>
                      <a:noFill/>
                      <a:ln>
                        <a:noFill/>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ph type="title"/>
          </p:nvPr>
        </p:nvSpPr>
        <p:spPr>
          <a:xfrm>
            <a:off x="838200" y="106044"/>
            <a:ext cx="10515600" cy="42735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sz="4000"/>
              <a:t>Data Matrix </a:t>
            </a:r>
            <a:endParaRPr/>
          </a:p>
        </p:txBody>
      </p:sp>
      <p:sp>
        <p:nvSpPr>
          <p:cNvPr id="197" name="Google Shape;197;p17"/>
          <p:cNvSpPr txBox="1"/>
          <p:nvPr>
            <p:ph idx="1" type="body"/>
          </p:nvPr>
        </p:nvSpPr>
        <p:spPr>
          <a:xfrm>
            <a:off x="955040" y="533399"/>
            <a:ext cx="10398760" cy="373380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data objects have the same fixed set of numeric attributes, then the data objects can be thought of as points in a multi-dimensional space, where each dimension represents a distinct attribute.</a:t>
            </a:r>
            <a:endParaRPr sz="2000"/>
          </a:p>
          <a:p>
            <a:pPr indent="-228600" lvl="0" marL="228600" rtl="0" algn="l">
              <a:lnSpc>
                <a:spcPct val="90000"/>
              </a:lnSpc>
              <a:spcBef>
                <a:spcPts val="1000"/>
              </a:spcBef>
              <a:spcAft>
                <a:spcPts val="0"/>
              </a:spcAft>
              <a:buClr>
                <a:schemeClr val="dk1"/>
              </a:buClr>
              <a:buSzPts val="2800"/>
              <a:buChar char="•"/>
            </a:pPr>
            <a:r>
              <a:rPr lang="en-US"/>
              <a:t>Such a data set can be represented by an </a:t>
            </a:r>
            <a:r>
              <a:rPr i="1" lang="en-US"/>
              <a:t>m</a:t>
            </a:r>
            <a:r>
              <a:rPr lang="en-US"/>
              <a:t> by </a:t>
            </a:r>
            <a:r>
              <a:rPr i="1" lang="en-US"/>
              <a:t>n</a:t>
            </a:r>
            <a:r>
              <a:rPr lang="en-US"/>
              <a:t> matrix, where there are </a:t>
            </a:r>
            <a:r>
              <a:rPr i="1" lang="en-US"/>
              <a:t>m</a:t>
            </a:r>
            <a:r>
              <a:rPr lang="en-US"/>
              <a:t> rows, one for each object, and </a:t>
            </a:r>
            <a:r>
              <a:rPr i="1" lang="en-US"/>
              <a:t>n</a:t>
            </a:r>
            <a:r>
              <a:rPr lang="en-US"/>
              <a:t> columns, one for each attribute</a:t>
            </a:r>
            <a:endParaRPr/>
          </a:p>
        </p:txBody>
      </p:sp>
      <p:graphicFrame>
        <p:nvGraphicFramePr>
          <p:cNvPr id="198" name="Google Shape;198;p17"/>
          <p:cNvGraphicFramePr/>
          <p:nvPr/>
        </p:nvGraphicFramePr>
        <p:xfrm>
          <a:off x="853233" y="3566160"/>
          <a:ext cx="10652463" cy="2758441"/>
        </p:xfrm>
        <a:graphic>
          <a:graphicData uri="http://schemas.openxmlformats.org/presentationml/2006/ole">
            <mc:AlternateContent>
              <mc:Choice Requires="v">
                <p:oleObj r:id="rId4" imgH="2758441" imgW="10652463" progId="Visio.Drawing.6" spid="_x0000_s1">
                  <p:embed/>
                </p:oleObj>
              </mc:Choice>
              <mc:Fallback>
                <p:oleObj r:id="rId5" imgH="2758441" imgW="10652463" progId="Visio.Drawing.6">
                  <p:embed/>
                  <p:pic>
                    <p:nvPicPr>
                      <p:cNvPr id="198" name="Google Shape;198;p17"/>
                      <p:cNvPicPr preferRelativeResize="0"/>
                      <p:nvPr/>
                    </p:nvPicPr>
                    <p:blipFill rotWithShape="1">
                      <a:blip r:embed="rId6">
                        <a:alphaModFix/>
                      </a:blip>
                      <a:srcRect b="0" l="0" r="0" t="0"/>
                      <a:stretch/>
                    </p:blipFill>
                    <p:spPr>
                      <a:xfrm>
                        <a:off x="853233" y="3566160"/>
                        <a:ext cx="10652463" cy="2758441"/>
                      </a:xfrm>
                      <a:prstGeom prst="rect">
                        <a:avLst/>
                      </a:prstGeom>
                      <a:noFill/>
                      <a:ln>
                        <a:noFill/>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8"/>
          <p:cNvSpPr txBox="1"/>
          <p:nvPr>
            <p:ph type="title"/>
          </p:nvPr>
        </p:nvSpPr>
        <p:spPr>
          <a:xfrm>
            <a:off x="980440" y="18256"/>
            <a:ext cx="10515600" cy="66278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Document Data</a:t>
            </a:r>
            <a:endParaRPr/>
          </a:p>
        </p:txBody>
      </p:sp>
      <p:sp>
        <p:nvSpPr>
          <p:cNvPr id="204" name="Google Shape;204;p18"/>
          <p:cNvSpPr txBox="1"/>
          <p:nvPr>
            <p:ph idx="1" type="body"/>
          </p:nvPr>
        </p:nvSpPr>
        <p:spPr>
          <a:xfrm>
            <a:off x="838200" y="681038"/>
            <a:ext cx="10515600" cy="54959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Each document becomes a ‘term’ vector </a:t>
            </a:r>
            <a:endParaRPr/>
          </a:p>
          <a:p>
            <a:pPr indent="-228600" lvl="1" marL="685800" rtl="0" algn="l">
              <a:lnSpc>
                <a:spcPct val="90000"/>
              </a:lnSpc>
              <a:spcBef>
                <a:spcPts val="500"/>
              </a:spcBef>
              <a:spcAft>
                <a:spcPts val="0"/>
              </a:spcAft>
              <a:buClr>
                <a:schemeClr val="dk1"/>
              </a:buClr>
              <a:buSzPts val="2800"/>
              <a:buChar char="•"/>
            </a:pPr>
            <a:r>
              <a:rPr lang="en-US" sz="2800"/>
              <a:t>Each term is a component (attribute) of the vector</a:t>
            </a:r>
            <a:endParaRPr/>
          </a:p>
          <a:p>
            <a:pPr indent="-228600" lvl="1" marL="685800" rtl="0" algn="l">
              <a:lnSpc>
                <a:spcPct val="90000"/>
              </a:lnSpc>
              <a:spcBef>
                <a:spcPts val="500"/>
              </a:spcBef>
              <a:spcAft>
                <a:spcPts val="0"/>
              </a:spcAft>
              <a:buClr>
                <a:schemeClr val="dk1"/>
              </a:buClr>
              <a:buSzPts val="2800"/>
              <a:buChar char="•"/>
            </a:pPr>
            <a:r>
              <a:rPr lang="en-US" sz="2800"/>
              <a:t>The value of each component is the number of times the corresponding term occurs in the document. </a:t>
            </a:r>
            <a:endParaRPr/>
          </a:p>
          <a:p>
            <a:pPr indent="-50800" lvl="1" marL="685800" rtl="0" algn="l">
              <a:lnSpc>
                <a:spcPct val="90000"/>
              </a:lnSpc>
              <a:spcBef>
                <a:spcPts val="500"/>
              </a:spcBef>
              <a:spcAft>
                <a:spcPts val="0"/>
              </a:spcAft>
              <a:buClr>
                <a:schemeClr val="dk1"/>
              </a:buClr>
              <a:buSzPts val="2800"/>
              <a:buNone/>
            </a:pPr>
            <a:r>
              <a:t/>
            </a:r>
            <a:endParaRPr sz="2800"/>
          </a:p>
          <a:p>
            <a:pPr indent="-50800" lvl="1" marL="685800" rtl="0" algn="l">
              <a:lnSpc>
                <a:spcPct val="90000"/>
              </a:lnSpc>
              <a:spcBef>
                <a:spcPts val="500"/>
              </a:spcBef>
              <a:spcAft>
                <a:spcPts val="0"/>
              </a:spcAft>
              <a:buClr>
                <a:schemeClr val="dk1"/>
              </a:buClr>
              <a:buSzPts val="2800"/>
              <a:buNone/>
            </a:pPr>
            <a:r>
              <a:t/>
            </a:r>
            <a:endParaRPr sz="2800"/>
          </a:p>
        </p:txBody>
      </p:sp>
      <p:graphicFrame>
        <p:nvGraphicFramePr>
          <p:cNvPr id="205" name="Google Shape;205;p18"/>
          <p:cNvGraphicFramePr/>
          <p:nvPr/>
        </p:nvGraphicFramePr>
        <p:xfrm>
          <a:off x="1117600" y="2551658"/>
          <a:ext cx="9276079" cy="4215449"/>
        </p:xfrm>
        <a:graphic>
          <a:graphicData uri="http://schemas.openxmlformats.org/presentationml/2006/ole">
            <mc:AlternateContent>
              <mc:Choice Requires="v">
                <p:oleObj r:id="rId4" imgH="4215449" imgW="9276079" progId="Visio.Drawing.6" spid="_x0000_s1">
                  <p:embed/>
                </p:oleObj>
              </mc:Choice>
              <mc:Fallback>
                <p:oleObj r:id="rId5" imgH="4215449" imgW="9276079" progId="Visio.Drawing.6">
                  <p:embed/>
                  <p:pic>
                    <p:nvPicPr>
                      <p:cNvPr id="205" name="Google Shape;205;p18"/>
                      <p:cNvPicPr preferRelativeResize="0"/>
                      <p:nvPr/>
                    </p:nvPicPr>
                    <p:blipFill rotWithShape="1">
                      <a:blip r:embed="rId6">
                        <a:alphaModFix/>
                      </a:blip>
                      <a:srcRect b="0" l="0" r="0" t="0"/>
                      <a:stretch/>
                    </p:blipFill>
                    <p:spPr>
                      <a:xfrm>
                        <a:off x="1117600" y="2551658"/>
                        <a:ext cx="9276079" cy="4215449"/>
                      </a:xfrm>
                      <a:prstGeom prst="rect">
                        <a:avLst/>
                      </a:prstGeom>
                      <a:noFill/>
                      <a:ln>
                        <a:noFill/>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ph type="title"/>
          </p:nvPr>
        </p:nvSpPr>
        <p:spPr>
          <a:xfrm>
            <a:off x="838200" y="60324"/>
            <a:ext cx="10515600" cy="64134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Transaction Data</a:t>
            </a:r>
            <a:endParaRPr/>
          </a:p>
        </p:txBody>
      </p:sp>
      <p:sp>
        <p:nvSpPr>
          <p:cNvPr id="211" name="Google Shape;211;p19"/>
          <p:cNvSpPr txBox="1"/>
          <p:nvPr>
            <p:ph idx="1" type="body"/>
          </p:nvPr>
        </p:nvSpPr>
        <p:spPr>
          <a:xfrm>
            <a:off x="1117600" y="669925"/>
            <a:ext cx="10236200" cy="28352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A special type of data, where </a:t>
            </a:r>
            <a:endParaRPr/>
          </a:p>
          <a:p>
            <a:pPr indent="-228600" lvl="1" marL="685800" rtl="0" algn="l">
              <a:lnSpc>
                <a:spcPct val="90000"/>
              </a:lnSpc>
              <a:spcBef>
                <a:spcPts val="500"/>
              </a:spcBef>
              <a:spcAft>
                <a:spcPts val="0"/>
              </a:spcAft>
              <a:buClr>
                <a:schemeClr val="dk1"/>
              </a:buClr>
              <a:buSzPts val="2800"/>
              <a:buChar char="•"/>
            </a:pPr>
            <a:r>
              <a:rPr lang="en-US" sz="2800"/>
              <a:t>Each transaction involves a set of items.  </a:t>
            </a:r>
            <a:endParaRPr/>
          </a:p>
          <a:p>
            <a:pPr indent="-228600" lvl="1" marL="685800" rtl="0" algn="l">
              <a:lnSpc>
                <a:spcPct val="90000"/>
              </a:lnSpc>
              <a:spcBef>
                <a:spcPts val="500"/>
              </a:spcBef>
              <a:spcAft>
                <a:spcPts val="0"/>
              </a:spcAft>
              <a:buClr>
                <a:schemeClr val="dk1"/>
              </a:buClr>
              <a:buSzPts val="2800"/>
              <a:buChar char="•"/>
            </a:pPr>
            <a:r>
              <a:rPr lang="en-US" sz="2800"/>
              <a:t>For example, consider a grocery store.  The set of products purchased by a customer during one shopping trip constitute a transaction, while the individual products that were purchased are the items.</a:t>
            </a:r>
            <a:endParaRPr/>
          </a:p>
          <a:p>
            <a:pPr indent="-228600" lvl="1" marL="685800" rtl="0" algn="l">
              <a:lnSpc>
                <a:spcPct val="90000"/>
              </a:lnSpc>
              <a:spcBef>
                <a:spcPts val="500"/>
              </a:spcBef>
              <a:spcAft>
                <a:spcPts val="0"/>
              </a:spcAft>
              <a:buClr>
                <a:schemeClr val="dk1"/>
              </a:buClr>
              <a:buSzPts val="2800"/>
              <a:buChar char="•"/>
            </a:pPr>
            <a:r>
              <a:rPr lang="en-US" sz="2800"/>
              <a:t>Can represent transaction data as record data.</a:t>
            </a:r>
            <a:endParaRPr/>
          </a:p>
          <a:p>
            <a:pPr indent="-50800" lvl="1" marL="685800" rtl="0" algn="l">
              <a:lnSpc>
                <a:spcPct val="90000"/>
              </a:lnSpc>
              <a:spcBef>
                <a:spcPts val="500"/>
              </a:spcBef>
              <a:spcAft>
                <a:spcPts val="0"/>
              </a:spcAft>
              <a:buClr>
                <a:schemeClr val="dk1"/>
              </a:buClr>
              <a:buSzPts val="2800"/>
              <a:buNone/>
            </a:pPr>
            <a:r>
              <a:t/>
            </a:r>
            <a:endParaRPr sz="2800"/>
          </a:p>
          <a:p>
            <a:pPr indent="-50800" lvl="1" marL="685800" rtl="0" algn="l">
              <a:lnSpc>
                <a:spcPct val="90000"/>
              </a:lnSpc>
              <a:spcBef>
                <a:spcPts val="500"/>
              </a:spcBef>
              <a:spcAft>
                <a:spcPts val="0"/>
              </a:spcAft>
              <a:buClr>
                <a:schemeClr val="dk1"/>
              </a:buClr>
              <a:buSzPts val="2800"/>
              <a:buNone/>
            </a:pPr>
            <a:r>
              <a:t/>
            </a:r>
            <a:endParaRPr sz="2800"/>
          </a:p>
        </p:txBody>
      </p:sp>
      <p:graphicFrame>
        <p:nvGraphicFramePr>
          <p:cNvPr id="212" name="Google Shape;212;p19"/>
          <p:cNvGraphicFramePr/>
          <p:nvPr/>
        </p:nvGraphicFramePr>
        <p:xfrm>
          <a:off x="2926081" y="3641726"/>
          <a:ext cx="6451600" cy="3374102"/>
        </p:xfrm>
        <a:graphic>
          <a:graphicData uri="http://schemas.openxmlformats.org/presentationml/2006/ole">
            <mc:AlternateContent>
              <mc:Choice Requires="v">
                <p:oleObj r:id="rId4" imgH="3374102" imgW="6451600" progId="Word.Document.8" spid="_x0000_s1">
                  <p:embed/>
                </p:oleObj>
              </mc:Choice>
              <mc:Fallback>
                <p:oleObj r:id="rId5" imgH="3374102" imgW="6451600" progId="Word.Document.8">
                  <p:embed/>
                  <p:pic>
                    <p:nvPicPr>
                      <p:cNvPr id="212" name="Google Shape;212;p19"/>
                      <p:cNvPicPr preferRelativeResize="0"/>
                      <p:nvPr/>
                    </p:nvPicPr>
                    <p:blipFill rotWithShape="1">
                      <a:blip r:embed="rId6">
                        <a:alphaModFix/>
                      </a:blip>
                      <a:srcRect b="0" l="0" r="0" t="0"/>
                      <a:stretch/>
                    </p:blipFill>
                    <p:spPr>
                      <a:xfrm>
                        <a:off x="2926081" y="3641726"/>
                        <a:ext cx="6451600" cy="3374102"/>
                      </a:xfrm>
                      <a:prstGeom prst="rect">
                        <a:avLst/>
                      </a:prstGeom>
                      <a:noFill/>
                      <a:ln>
                        <a:noFill/>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title"/>
          </p:nvPr>
        </p:nvSpPr>
        <p:spPr>
          <a:xfrm>
            <a:off x="919480" y="126939"/>
            <a:ext cx="10515600" cy="32384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Graph Data </a:t>
            </a:r>
            <a:endParaRPr/>
          </a:p>
        </p:txBody>
      </p:sp>
      <p:sp>
        <p:nvSpPr>
          <p:cNvPr id="218" name="Google Shape;218;p20"/>
          <p:cNvSpPr txBox="1"/>
          <p:nvPr>
            <p:ph idx="1" type="body"/>
          </p:nvPr>
        </p:nvSpPr>
        <p:spPr>
          <a:xfrm>
            <a:off x="995680" y="688974"/>
            <a:ext cx="10027920" cy="55594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Examples: Generic graph, a molecule, and webpages </a:t>
            </a:r>
            <a:endParaRPr/>
          </a:p>
        </p:txBody>
      </p:sp>
      <p:graphicFrame>
        <p:nvGraphicFramePr>
          <p:cNvPr id="219" name="Google Shape;219;p20"/>
          <p:cNvGraphicFramePr/>
          <p:nvPr/>
        </p:nvGraphicFramePr>
        <p:xfrm>
          <a:off x="1676400" y="1676401"/>
          <a:ext cx="2979738" cy="2289175"/>
        </p:xfrm>
        <a:graphic>
          <a:graphicData uri="http://schemas.openxmlformats.org/presentationml/2006/ole">
            <mc:AlternateContent>
              <mc:Choice Requires="v">
                <p:oleObj r:id="rId4" imgH="2289175" imgW="2979738" progId="Visio.Drawing.6" spid="_x0000_s1">
                  <p:embed/>
                </p:oleObj>
              </mc:Choice>
              <mc:Fallback>
                <p:oleObj r:id="rId5" imgH="2289175" imgW="2979738" progId="Visio.Drawing.6">
                  <p:embed/>
                  <p:pic>
                    <p:nvPicPr>
                      <p:cNvPr id="219" name="Google Shape;219;p20"/>
                      <p:cNvPicPr preferRelativeResize="0"/>
                      <p:nvPr/>
                    </p:nvPicPr>
                    <p:blipFill rotWithShape="1">
                      <a:blip r:embed="rId6">
                        <a:alphaModFix/>
                      </a:blip>
                      <a:srcRect b="0" l="0" r="0" t="0"/>
                      <a:stretch/>
                    </p:blipFill>
                    <p:spPr>
                      <a:xfrm>
                        <a:off x="1676400" y="1676401"/>
                        <a:ext cx="2979738" cy="2289175"/>
                      </a:xfrm>
                      <a:prstGeom prst="rect">
                        <a:avLst/>
                      </a:prstGeom>
                      <a:noFill/>
                      <a:ln>
                        <a:noFill/>
                      </a:ln>
                    </p:spPr>
                  </p:pic>
                </p:oleObj>
              </mc:Fallback>
            </mc:AlternateContent>
          </a:graphicData>
        </a:graphic>
      </p:graphicFrame>
      <p:pic>
        <p:nvPicPr>
          <p:cNvPr id="220" name="Google Shape;220;p20"/>
          <p:cNvPicPr preferRelativeResize="0"/>
          <p:nvPr/>
        </p:nvPicPr>
        <p:blipFill rotWithShape="1">
          <a:blip r:embed="rId7">
            <a:alphaModFix/>
          </a:blip>
          <a:srcRect b="0" l="0" r="0" t="0"/>
          <a:stretch/>
        </p:blipFill>
        <p:spPr>
          <a:xfrm>
            <a:off x="4648201" y="1600201"/>
            <a:ext cx="5959475" cy="4568825"/>
          </a:xfrm>
          <a:prstGeom prst="rect">
            <a:avLst/>
          </a:prstGeom>
          <a:noFill/>
          <a:ln>
            <a:noFill/>
          </a:ln>
        </p:spPr>
      </p:pic>
      <p:graphicFrame>
        <p:nvGraphicFramePr>
          <p:cNvPr id="221" name="Google Shape;221;p20"/>
          <p:cNvGraphicFramePr/>
          <p:nvPr/>
        </p:nvGraphicFramePr>
        <p:xfrm>
          <a:off x="1905001" y="4191001"/>
          <a:ext cx="1965325" cy="1831975"/>
        </p:xfrm>
        <a:graphic>
          <a:graphicData uri="http://schemas.openxmlformats.org/presentationml/2006/ole">
            <mc:AlternateContent>
              <mc:Choice Requires="v">
                <p:oleObj r:id="rId8" imgH="1831975" imgW="1965325" progId="Visio.Drawing.6" spid="_x0000_s2">
                  <p:embed/>
                </p:oleObj>
              </mc:Choice>
              <mc:Fallback>
                <p:oleObj r:id="rId9" imgH="1831975" imgW="1965325" progId="Visio.Drawing.6">
                  <p:embed/>
                  <p:pic>
                    <p:nvPicPr>
                      <p:cNvPr id="221" name="Google Shape;221;p20"/>
                      <p:cNvPicPr preferRelativeResize="0"/>
                      <p:nvPr/>
                    </p:nvPicPr>
                    <p:blipFill rotWithShape="1">
                      <a:blip r:embed="rId10">
                        <a:alphaModFix/>
                      </a:blip>
                      <a:srcRect b="0" l="0" r="0" t="0"/>
                      <a:stretch/>
                    </p:blipFill>
                    <p:spPr>
                      <a:xfrm>
                        <a:off x="1905001" y="4191001"/>
                        <a:ext cx="1965325" cy="1831975"/>
                      </a:xfrm>
                      <a:prstGeom prst="rect">
                        <a:avLst/>
                      </a:prstGeom>
                      <a:noFill/>
                      <a:ln>
                        <a:noFill/>
                      </a:ln>
                    </p:spPr>
                  </p:pic>
                </p:oleObj>
              </mc:Fallback>
            </mc:AlternateContent>
          </a:graphicData>
        </a:graphic>
      </p:graphicFrame>
      <p:sp>
        <p:nvSpPr>
          <p:cNvPr id="222" name="Google Shape;222;p20"/>
          <p:cNvSpPr/>
          <p:nvPr/>
        </p:nvSpPr>
        <p:spPr>
          <a:xfrm>
            <a:off x="1524001" y="5943600"/>
            <a:ext cx="278698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Benzene Molecule: C6H6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type="title"/>
          </p:nvPr>
        </p:nvSpPr>
        <p:spPr>
          <a:xfrm>
            <a:off x="838200" y="73025"/>
            <a:ext cx="10515600" cy="62039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Ordered Data </a:t>
            </a:r>
            <a:endParaRPr/>
          </a:p>
        </p:txBody>
      </p:sp>
      <p:sp>
        <p:nvSpPr>
          <p:cNvPr id="228" name="Google Shape;228;p21"/>
          <p:cNvSpPr txBox="1"/>
          <p:nvPr>
            <p:ph idx="1" type="body"/>
          </p:nvPr>
        </p:nvSpPr>
        <p:spPr>
          <a:xfrm>
            <a:off x="838200" y="815658"/>
            <a:ext cx="10515600" cy="53613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Sequences of transactions</a:t>
            </a:r>
            <a:endParaRPr/>
          </a:p>
        </p:txBody>
      </p:sp>
      <p:pic>
        <p:nvPicPr>
          <p:cNvPr id="229" name="Google Shape;229;p21"/>
          <p:cNvPicPr preferRelativeResize="0"/>
          <p:nvPr/>
        </p:nvPicPr>
        <p:blipFill rotWithShape="1">
          <a:blip r:embed="rId3">
            <a:alphaModFix/>
          </a:blip>
          <a:srcRect b="0" l="0" r="0" t="0"/>
          <a:stretch/>
        </p:blipFill>
        <p:spPr>
          <a:xfrm>
            <a:off x="3641726" y="2408238"/>
            <a:ext cx="5121275" cy="3840162"/>
          </a:xfrm>
          <a:prstGeom prst="rect">
            <a:avLst/>
          </a:prstGeom>
          <a:noFill/>
          <a:ln>
            <a:noFill/>
          </a:ln>
        </p:spPr>
      </p:pic>
      <p:sp>
        <p:nvSpPr>
          <p:cNvPr id="230" name="Google Shape;230;p21"/>
          <p:cNvSpPr txBox="1"/>
          <p:nvPr/>
        </p:nvSpPr>
        <p:spPr>
          <a:xfrm>
            <a:off x="3946526" y="5486401"/>
            <a:ext cx="268287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An element of the sequence</a:t>
            </a:r>
            <a:endParaRPr/>
          </a:p>
        </p:txBody>
      </p:sp>
      <p:sp>
        <p:nvSpPr>
          <p:cNvPr id="231" name="Google Shape;231;p21"/>
          <p:cNvSpPr/>
          <p:nvPr/>
        </p:nvSpPr>
        <p:spPr>
          <a:xfrm rot="-5400000">
            <a:off x="4518025" y="4457700"/>
            <a:ext cx="533400" cy="1371600"/>
          </a:xfrm>
          <a:prstGeom prst="leftBrace">
            <a:avLst>
              <a:gd fmla="val 21429" name="adj1"/>
              <a:gd fmla="val 50000" name="adj2"/>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21"/>
          <p:cNvSpPr txBox="1"/>
          <p:nvPr/>
        </p:nvSpPr>
        <p:spPr>
          <a:xfrm>
            <a:off x="4038600" y="182880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Items/Events</a:t>
            </a:r>
            <a:endParaRPr/>
          </a:p>
        </p:txBody>
      </p:sp>
      <p:cxnSp>
        <p:nvCxnSpPr>
          <p:cNvPr id="233" name="Google Shape;233;p21"/>
          <p:cNvCxnSpPr/>
          <p:nvPr/>
        </p:nvCxnSpPr>
        <p:spPr>
          <a:xfrm>
            <a:off x="4648200" y="2286000"/>
            <a:ext cx="0" cy="838200"/>
          </a:xfrm>
          <a:prstGeom prst="straightConnector1">
            <a:avLst/>
          </a:prstGeom>
          <a:noFill/>
          <a:ln cap="flat" cmpd="sng" w="25400">
            <a:solidFill>
              <a:srgbClr val="FF0000"/>
            </a:solidFill>
            <a:prstDash val="solid"/>
            <a:round/>
            <a:headEnd len="med" w="med" type="none"/>
            <a:tailEnd len="med" w="med" type="triangle"/>
          </a:ln>
        </p:spPr>
      </p:cxnSp>
      <p:cxnSp>
        <p:nvCxnSpPr>
          <p:cNvPr id="234" name="Google Shape;234;p21"/>
          <p:cNvCxnSpPr/>
          <p:nvPr/>
        </p:nvCxnSpPr>
        <p:spPr>
          <a:xfrm>
            <a:off x="5105400" y="2286000"/>
            <a:ext cx="0" cy="838200"/>
          </a:xfrm>
          <a:prstGeom prst="straightConnector1">
            <a:avLst/>
          </a:prstGeom>
          <a:noFill/>
          <a:ln cap="flat" cmpd="sng" w="25400">
            <a:solidFill>
              <a:srgbClr val="FF0000"/>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936625" y="9842"/>
            <a:ext cx="10515600" cy="67119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Ordered Data </a:t>
            </a:r>
            <a:endParaRPr/>
          </a:p>
        </p:txBody>
      </p:sp>
      <p:sp>
        <p:nvSpPr>
          <p:cNvPr id="240" name="Google Shape;240;p22"/>
          <p:cNvSpPr txBox="1"/>
          <p:nvPr>
            <p:ph idx="1" type="body"/>
          </p:nvPr>
        </p:nvSpPr>
        <p:spPr>
          <a:xfrm>
            <a:off x="838200" y="681037"/>
            <a:ext cx="10515600" cy="54959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Genomic sequence data</a:t>
            </a:r>
            <a:endParaRPr/>
          </a:p>
        </p:txBody>
      </p:sp>
      <p:graphicFrame>
        <p:nvGraphicFramePr>
          <p:cNvPr id="241" name="Google Shape;241;p22"/>
          <p:cNvGraphicFramePr/>
          <p:nvPr/>
        </p:nvGraphicFramePr>
        <p:xfrm>
          <a:off x="3119120" y="1246595"/>
          <a:ext cx="6339839" cy="5409721"/>
        </p:xfrm>
        <a:graphic>
          <a:graphicData uri="http://schemas.openxmlformats.org/presentationml/2006/ole">
            <mc:AlternateContent>
              <mc:Choice Requires="v">
                <p:oleObj r:id="rId4" imgH="5409721" imgW="6339839" progId="Visio.Drawing.6" spid="_x0000_s1">
                  <p:embed/>
                </p:oleObj>
              </mc:Choice>
              <mc:Fallback>
                <p:oleObj r:id="rId5" imgH="5409721" imgW="6339839" progId="Visio.Drawing.6">
                  <p:embed/>
                  <p:pic>
                    <p:nvPicPr>
                      <p:cNvPr id="241" name="Google Shape;241;p22"/>
                      <p:cNvPicPr preferRelativeResize="0"/>
                      <p:nvPr/>
                    </p:nvPicPr>
                    <p:blipFill rotWithShape="1">
                      <a:blip r:embed="rId6">
                        <a:alphaModFix/>
                      </a:blip>
                      <a:srcRect b="0" l="0" r="0" t="0"/>
                      <a:stretch/>
                    </p:blipFill>
                    <p:spPr>
                      <a:xfrm>
                        <a:off x="3119120" y="1246595"/>
                        <a:ext cx="6339839" cy="5409721"/>
                      </a:xfrm>
                      <a:prstGeom prst="rect">
                        <a:avLst/>
                      </a:prstGeom>
                      <a:noFill/>
                      <a:ln>
                        <a:noFill/>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909320" y="100965"/>
            <a:ext cx="10515600" cy="47815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Data Quality</a:t>
            </a:r>
            <a:endParaRPr/>
          </a:p>
        </p:txBody>
      </p:sp>
      <p:sp>
        <p:nvSpPr>
          <p:cNvPr id="247" name="Google Shape;247;p23"/>
          <p:cNvSpPr txBox="1"/>
          <p:nvPr>
            <p:ph idx="1" type="body"/>
          </p:nvPr>
        </p:nvSpPr>
        <p:spPr>
          <a:xfrm>
            <a:off x="838200" y="731520"/>
            <a:ext cx="10515600" cy="544544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Poor data quality negatively affects many data processing efforts</a:t>
            </a:r>
            <a:endParaRPr/>
          </a:p>
          <a:p>
            <a:pPr indent="-228600" lvl="0" marL="228600" rtl="0" algn="l">
              <a:lnSpc>
                <a:spcPct val="90000"/>
              </a:lnSpc>
              <a:spcBef>
                <a:spcPts val="1000"/>
              </a:spcBef>
              <a:spcAft>
                <a:spcPts val="0"/>
              </a:spcAft>
              <a:buClr>
                <a:schemeClr val="dk1"/>
              </a:buClr>
              <a:buSzPts val="2800"/>
              <a:buChar char="•"/>
            </a:pPr>
            <a:r>
              <a:rPr lang="en-US"/>
              <a:t>What kinds of data quality problems? Examples of data quality problems: </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Noise and outliers </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Wrong data </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Fake data </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Missing values </a:t>
            </a:r>
            <a:endParaRPr/>
          </a:p>
          <a:p>
            <a:pPr indent="-228600" lvl="1" marL="685800" rtl="0" algn="l">
              <a:lnSpc>
                <a:spcPct val="90000"/>
              </a:lnSpc>
              <a:spcBef>
                <a:spcPts val="500"/>
              </a:spcBef>
              <a:spcAft>
                <a:spcPts val="0"/>
              </a:spcAft>
              <a:buClr>
                <a:schemeClr val="dk1"/>
              </a:buClr>
              <a:buSzPts val="2800"/>
              <a:buFont typeface="Noto Sans Symbols"/>
              <a:buChar char="✔"/>
            </a:pPr>
            <a:r>
              <a:rPr lang="en-US" sz="2800"/>
              <a:t>Duplicate data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836613" y="60325"/>
            <a:ext cx="10515600" cy="6000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Noise</a:t>
            </a:r>
            <a:endParaRPr/>
          </a:p>
        </p:txBody>
      </p:sp>
      <p:sp>
        <p:nvSpPr>
          <p:cNvPr id="253" name="Google Shape;253;p24"/>
          <p:cNvSpPr txBox="1"/>
          <p:nvPr>
            <p:ph idx="1" type="body"/>
          </p:nvPr>
        </p:nvSpPr>
        <p:spPr>
          <a:xfrm>
            <a:off x="1127760" y="660400"/>
            <a:ext cx="10139680" cy="3556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objects, noise is an extraneous object</a:t>
            </a:r>
            <a:endParaRPr/>
          </a:p>
          <a:p>
            <a:pPr indent="-228600" lvl="0" marL="228600" rtl="0" algn="l">
              <a:lnSpc>
                <a:spcPct val="90000"/>
              </a:lnSpc>
              <a:spcBef>
                <a:spcPts val="1000"/>
              </a:spcBef>
              <a:spcAft>
                <a:spcPts val="0"/>
              </a:spcAft>
              <a:buClr>
                <a:schemeClr val="dk1"/>
              </a:buClr>
              <a:buSzPts val="2800"/>
              <a:buChar char="•"/>
            </a:pPr>
            <a:r>
              <a:rPr lang="en-US"/>
              <a:t>For attributes, noise refers to modification of original values</a:t>
            </a:r>
            <a:endParaRPr/>
          </a:p>
          <a:p>
            <a:pPr indent="-228600" lvl="1" marL="685800" rtl="0" algn="l">
              <a:lnSpc>
                <a:spcPct val="90000"/>
              </a:lnSpc>
              <a:spcBef>
                <a:spcPts val="500"/>
              </a:spcBef>
              <a:spcAft>
                <a:spcPts val="0"/>
              </a:spcAft>
              <a:buClr>
                <a:schemeClr val="dk1"/>
              </a:buClr>
              <a:buSzPts val="2800"/>
              <a:buChar char="•"/>
            </a:pPr>
            <a:r>
              <a:rPr lang="en-US" sz="2800"/>
              <a:t>Examples: distortion of a person’s voice when talking on a poor phone and “snow” on television screen</a:t>
            </a:r>
            <a:endParaRPr/>
          </a:p>
          <a:p>
            <a:pPr indent="-228600" lvl="1" marL="685800" rtl="0" algn="l">
              <a:lnSpc>
                <a:spcPct val="90000"/>
              </a:lnSpc>
              <a:spcBef>
                <a:spcPts val="500"/>
              </a:spcBef>
              <a:spcAft>
                <a:spcPts val="0"/>
              </a:spcAft>
              <a:buClr>
                <a:schemeClr val="dk1"/>
              </a:buClr>
              <a:buSzPts val="2800"/>
              <a:buChar char="•"/>
            </a:pPr>
            <a:r>
              <a:rPr lang="en-US" sz="2800"/>
              <a:t>The figures below show two sine waves of the same magnitude and different frequencies, the waves combined, and the two sine waves with random noise</a:t>
            </a:r>
            <a:endParaRPr/>
          </a:p>
          <a:p>
            <a:pPr indent="-228600" lvl="2" marL="1143000" rtl="0" algn="l">
              <a:lnSpc>
                <a:spcPct val="90000"/>
              </a:lnSpc>
              <a:spcBef>
                <a:spcPts val="500"/>
              </a:spcBef>
              <a:spcAft>
                <a:spcPts val="0"/>
              </a:spcAft>
              <a:buClr>
                <a:schemeClr val="dk1"/>
              </a:buClr>
              <a:buSzPts val="2800"/>
              <a:buChar char="•"/>
            </a:pPr>
            <a:r>
              <a:rPr lang="en-US" sz="2800"/>
              <a:t> The magnitude and shape of the original signal is distorted </a:t>
            </a:r>
            <a:endParaRPr/>
          </a:p>
          <a:p>
            <a:pPr indent="-76200" lvl="1" marL="685800" rtl="0" algn="l">
              <a:lnSpc>
                <a:spcPct val="90000"/>
              </a:lnSpc>
              <a:spcBef>
                <a:spcPts val="500"/>
              </a:spcBef>
              <a:spcAft>
                <a:spcPts val="0"/>
              </a:spcAft>
              <a:buClr>
                <a:schemeClr val="dk1"/>
              </a:buClr>
              <a:buSzPts val="2400"/>
              <a:buNone/>
            </a:pPr>
            <a:r>
              <a:t/>
            </a:r>
            <a:endParaRPr/>
          </a:p>
          <a:p>
            <a:pPr indent="-76200" lvl="1" marL="685800" rtl="0" algn="l">
              <a:lnSpc>
                <a:spcPct val="90000"/>
              </a:lnSpc>
              <a:spcBef>
                <a:spcPts val="500"/>
              </a:spcBef>
              <a:spcAft>
                <a:spcPts val="0"/>
              </a:spcAft>
              <a:buClr>
                <a:schemeClr val="dk1"/>
              </a:buClr>
              <a:buSzPts val="2400"/>
              <a:buNone/>
            </a:pPr>
            <a:r>
              <a:t/>
            </a:r>
            <a:endParaRPr/>
          </a:p>
        </p:txBody>
      </p:sp>
      <p:pic>
        <p:nvPicPr>
          <p:cNvPr id="254" name="Google Shape;254;p24"/>
          <p:cNvPicPr preferRelativeResize="0"/>
          <p:nvPr/>
        </p:nvPicPr>
        <p:blipFill rotWithShape="1">
          <a:blip r:embed="rId3">
            <a:alphaModFix/>
          </a:blip>
          <a:srcRect b="0" l="0" r="0" t="0"/>
          <a:stretch/>
        </p:blipFill>
        <p:spPr>
          <a:xfrm>
            <a:off x="1524001" y="4404360"/>
            <a:ext cx="3045649" cy="2286000"/>
          </a:xfrm>
          <a:prstGeom prst="rect">
            <a:avLst/>
          </a:prstGeom>
          <a:noFill/>
          <a:ln>
            <a:noFill/>
          </a:ln>
        </p:spPr>
      </p:pic>
      <p:pic>
        <p:nvPicPr>
          <p:cNvPr id="255" name="Google Shape;255;p24"/>
          <p:cNvPicPr preferRelativeResize="0"/>
          <p:nvPr/>
        </p:nvPicPr>
        <p:blipFill rotWithShape="1">
          <a:blip r:embed="rId4">
            <a:alphaModFix/>
          </a:blip>
          <a:srcRect b="0" l="0" r="0" t="0"/>
          <a:stretch/>
        </p:blipFill>
        <p:spPr>
          <a:xfrm>
            <a:off x="7545682" y="4404360"/>
            <a:ext cx="3045649" cy="2286000"/>
          </a:xfrm>
          <a:prstGeom prst="rect">
            <a:avLst/>
          </a:prstGeom>
          <a:noFill/>
          <a:ln>
            <a:noFill/>
          </a:ln>
        </p:spPr>
      </p:pic>
      <p:pic>
        <p:nvPicPr>
          <p:cNvPr id="256" name="Google Shape;256;p24"/>
          <p:cNvPicPr preferRelativeResize="0"/>
          <p:nvPr/>
        </p:nvPicPr>
        <p:blipFill rotWithShape="1">
          <a:blip r:embed="rId5">
            <a:alphaModFix/>
          </a:blip>
          <a:srcRect b="0" l="0" r="0" t="0"/>
          <a:stretch/>
        </p:blipFill>
        <p:spPr>
          <a:xfrm>
            <a:off x="4573882" y="4404360"/>
            <a:ext cx="3045649" cy="2286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ph idx="1" type="body"/>
          </p:nvPr>
        </p:nvSpPr>
        <p:spPr>
          <a:xfrm>
            <a:off x="838200" y="669814"/>
            <a:ext cx="10515600" cy="550714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b="1" i="1" lang="en-US"/>
              <a:t>Outliers</a:t>
            </a:r>
            <a:r>
              <a:rPr lang="en-US"/>
              <a:t> are data objects with characteristics that are considerably different than most of the other data objects in the data set</a:t>
            </a:r>
            <a:endParaRPr/>
          </a:p>
          <a:p>
            <a:pPr indent="-228600" lvl="1" marL="685800" rtl="0" algn="l">
              <a:lnSpc>
                <a:spcPct val="90000"/>
              </a:lnSpc>
              <a:spcBef>
                <a:spcPts val="500"/>
              </a:spcBef>
              <a:spcAft>
                <a:spcPts val="0"/>
              </a:spcAft>
              <a:buClr>
                <a:schemeClr val="dk1"/>
              </a:buClr>
              <a:buSzPts val="2800"/>
              <a:buChar char="•"/>
            </a:pPr>
            <a:r>
              <a:rPr b="1" lang="en-US" sz="2800"/>
              <a:t>Case 1:</a:t>
            </a:r>
            <a:r>
              <a:rPr lang="en-US" sz="2800"/>
              <a:t> Outliers are </a:t>
            </a:r>
            <a:br>
              <a:rPr lang="en-US" sz="2800"/>
            </a:br>
            <a:r>
              <a:rPr lang="en-US" sz="2800"/>
              <a:t>noise that interferes</a:t>
            </a:r>
            <a:br>
              <a:rPr lang="en-US" sz="2800"/>
            </a:br>
            <a:r>
              <a:rPr lang="en-US" sz="2800"/>
              <a:t>with data analysis </a:t>
            </a:r>
            <a:br>
              <a:rPr lang="en-US" sz="2800"/>
            </a:br>
            <a:endParaRPr sz="2800"/>
          </a:p>
          <a:p>
            <a:pPr indent="-228600" lvl="1" marL="685800" rtl="0" algn="l">
              <a:lnSpc>
                <a:spcPct val="90000"/>
              </a:lnSpc>
              <a:spcBef>
                <a:spcPts val="500"/>
              </a:spcBef>
              <a:spcAft>
                <a:spcPts val="0"/>
              </a:spcAft>
              <a:buClr>
                <a:schemeClr val="dk1"/>
              </a:buClr>
              <a:buSzPts val="2800"/>
              <a:buChar char="•"/>
            </a:pPr>
            <a:r>
              <a:rPr b="1" lang="en-US" sz="2800"/>
              <a:t>Case 2: </a:t>
            </a:r>
            <a:r>
              <a:rPr lang="en-US" sz="2800"/>
              <a:t>Outliers are </a:t>
            </a:r>
            <a:br>
              <a:rPr lang="en-US" sz="2800"/>
            </a:br>
            <a:r>
              <a:rPr lang="en-US" sz="2800"/>
              <a:t>the goal of our analysis</a:t>
            </a:r>
            <a:endParaRPr/>
          </a:p>
          <a:p>
            <a:pPr indent="-228600" lvl="2" marL="1143000" rtl="0" algn="l">
              <a:lnSpc>
                <a:spcPct val="90000"/>
              </a:lnSpc>
              <a:spcBef>
                <a:spcPts val="500"/>
              </a:spcBef>
              <a:spcAft>
                <a:spcPts val="0"/>
              </a:spcAft>
              <a:buClr>
                <a:schemeClr val="dk1"/>
              </a:buClr>
              <a:buSzPts val="2800"/>
              <a:buChar char="•"/>
            </a:pPr>
            <a:r>
              <a:rPr lang="en-US" sz="2800"/>
              <a:t> Credit card fraud</a:t>
            </a:r>
            <a:endParaRPr/>
          </a:p>
          <a:p>
            <a:pPr indent="-228600" lvl="2" marL="1143000" rtl="0" algn="l">
              <a:lnSpc>
                <a:spcPct val="90000"/>
              </a:lnSpc>
              <a:spcBef>
                <a:spcPts val="500"/>
              </a:spcBef>
              <a:spcAft>
                <a:spcPts val="0"/>
              </a:spcAft>
              <a:buClr>
                <a:schemeClr val="dk1"/>
              </a:buClr>
              <a:buSzPts val="2800"/>
              <a:buChar char="•"/>
            </a:pPr>
            <a:r>
              <a:rPr lang="en-US" sz="2800"/>
              <a:t> Intrusion detection </a:t>
            </a:r>
            <a:endParaRPr/>
          </a:p>
          <a:p>
            <a:pPr indent="-50800" lvl="2" marL="1143000" rtl="0" algn="l">
              <a:lnSpc>
                <a:spcPct val="90000"/>
              </a:lnSpc>
              <a:spcBef>
                <a:spcPts val="5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a:t>Causes?</a:t>
            </a:r>
            <a:endParaRPr/>
          </a:p>
        </p:txBody>
      </p:sp>
      <p:grpSp>
        <p:nvGrpSpPr>
          <p:cNvPr id="262" name="Google Shape;262;p25"/>
          <p:cNvGrpSpPr/>
          <p:nvPr/>
        </p:nvGrpSpPr>
        <p:grpSpPr>
          <a:xfrm>
            <a:off x="6019800" y="2439988"/>
            <a:ext cx="4267200" cy="3884612"/>
            <a:chOff x="3648" y="2448"/>
            <a:chExt cx="2112" cy="1872"/>
          </a:xfrm>
        </p:grpSpPr>
        <p:pic>
          <p:nvPicPr>
            <p:cNvPr id="263" name="Google Shape;263;p25"/>
            <p:cNvPicPr preferRelativeResize="0"/>
            <p:nvPr/>
          </p:nvPicPr>
          <p:blipFill rotWithShape="1">
            <a:blip r:embed="rId3">
              <a:alphaModFix/>
            </a:blip>
            <a:srcRect b="0" l="0" r="0" t="0"/>
            <a:stretch/>
          </p:blipFill>
          <p:spPr>
            <a:xfrm>
              <a:off x="3648" y="2448"/>
              <a:ext cx="2112" cy="1872"/>
            </a:xfrm>
            <a:prstGeom prst="rect">
              <a:avLst/>
            </a:prstGeom>
            <a:noFill/>
            <a:ln>
              <a:noFill/>
            </a:ln>
          </p:spPr>
        </p:pic>
        <p:sp>
          <p:nvSpPr>
            <p:cNvPr id="264" name="Google Shape;264;p25"/>
            <p:cNvSpPr/>
            <p:nvPr/>
          </p:nvSpPr>
          <p:spPr>
            <a:xfrm>
              <a:off x="3766" y="2961"/>
              <a:ext cx="86" cy="84"/>
            </a:xfrm>
            <a:prstGeom prst="ellipse">
              <a:avLst/>
            </a:prstGeom>
            <a:noFill/>
            <a:ln cap="flat" cmpd="sng" w="1905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25"/>
            <p:cNvSpPr/>
            <p:nvPr/>
          </p:nvSpPr>
          <p:spPr>
            <a:xfrm>
              <a:off x="3907" y="3224"/>
              <a:ext cx="86" cy="84"/>
            </a:xfrm>
            <a:prstGeom prst="ellipse">
              <a:avLst/>
            </a:prstGeom>
            <a:noFill/>
            <a:ln cap="flat" cmpd="sng" w="1905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25"/>
            <p:cNvSpPr/>
            <p:nvPr/>
          </p:nvSpPr>
          <p:spPr>
            <a:xfrm>
              <a:off x="5612" y="3871"/>
              <a:ext cx="86" cy="85"/>
            </a:xfrm>
            <a:prstGeom prst="ellipse">
              <a:avLst/>
            </a:prstGeom>
            <a:noFill/>
            <a:ln cap="flat" cmpd="sng" w="1905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25"/>
            <p:cNvSpPr/>
            <p:nvPr/>
          </p:nvSpPr>
          <p:spPr>
            <a:xfrm>
              <a:off x="4319" y="3937"/>
              <a:ext cx="86" cy="84"/>
            </a:xfrm>
            <a:prstGeom prst="ellipse">
              <a:avLst/>
            </a:prstGeom>
            <a:noFill/>
            <a:ln cap="flat" cmpd="sng" w="19050">
              <a:solidFill>
                <a:srgbClr val="FF33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25"/>
            <p:cNvSpPr/>
            <p:nvPr/>
          </p:nvSpPr>
          <p:spPr>
            <a:xfrm>
              <a:off x="4944" y="3072"/>
              <a:ext cx="192" cy="24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5"/>
            <p:cNvSpPr/>
            <p:nvPr/>
          </p:nvSpPr>
          <p:spPr>
            <a:xfrm>
              <a:off x="3888" y="3120"/>
              <a:ext cx="192" cy="24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25"/>
          <p:cNvSpPr txBox="1"/>
          <p:nvPr>
            <p:ph type="title"/>
          </p:nvPr>
        </p:nvSpPr>
        <p:spPr>
          <a:xfrm>
            <a:off x="838200" y="28550"/>
            <a:ext cx="10515600" cy="64126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Outliers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6"/>
          <p:cNvSpPr txBox="1"/>
          <p:nvPr>
            <p:ph type="title"/>
          </p:nvPr>
        </p:nvSpPr>
        <p:spPr>
          <a:xfrm>
            <a:off x="960120" y="30162"/>
            <a:ext cx="10515600" cy="6508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Missing Values</a:t>
            </a:r>
            <a:endParaRPr/>
          </a:p>
        </p:txBody>
      </p:sp>
      <p:sp>
        <p:nvSpPr>
          <p:cNvPr id="276" name="Google Shape;276;p26"/>
          <p:cNvSpPr txBox="1"/>
          <p:nvPr>
            <p:ph idx="1" type="body"/>
          </p:nvPr>
        </p:nvSpPr>
        <p:spPr>
          <a:xfrm>
            <a:off x="838200" y="681036"/>
            <a:ext cx="10515600" cy="596360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Reasons for missing values</a:t>
            </a:r>
            <a:endParaRPr/>
          </a:p>
          <a:p>
            <a:pPr indent="-228600" lvl="1" marL="685800" rtl="0" algn="l">
              <a:lnSpc>
                <a:spcPct val="90000"/>
              </a:lnSpc>
              <a:spcBef>
                <a:spcPts val="500"/>
              </a:spcBef>
              <a:spcAft>
                <a:spcPts val="0"/>
              </a:spcAft>
              <a:buClr>
                <a:schemeClr val="dk1"/>
              </a:buClr>
              <a:buSzPts val="2800"/>
              <a:buChar char="•"/>
            </a:pPr>
            <a:r>
              <a:rPr lang="en-US" sz="2800"/>
              <a:t>Information is not collected </a:t>
            </a:r>
            <a:br>
              <a:rPr lang="en-US" sz="2800"/>
            </a:br>
            <a:r>
              <a:rPr lang="en-US" sz="2800"/>
              <a:t>(e.g., people decline to give their age and weight)</a:t>
            </a:r>
            <a:endParaRPr/>
          </a:p>
          <a:p>
            <a:pPr indent="-228600" lvl="1" marL="685800" rtl="0" algn="l">
              <a:lnSpc>
                <a:spcPct val="90000"/>
              </a:lnSpc>
              <a:spcBef>
                <a:spcPts val="500"/>
              </a:spcBef>
              <a:spcAft>
                <a:spcPts val="0"/>
              </a:spcAft>
              <a:buClr>
                <a:schemeClr val="dk1"/>
              </a:buClr>
              <a:buSzPts val="2800"/>
              <a:buChar char="•"/>
            </a:pPr>
            <a:r>
              <a:rPr lang="en-US" sz="2800"/>
              <a:t>Attributes may not be applicable to all cases </a:t>
            </a:r>
            <a:br>
              <a:rPr lang="en-US" sz="2800"/>
            </a:br>
            <a:r>
              <a:rPr lang="en-US" sz="2800"/>
              <a:t>(e.g., annual income is not applicable to children)</a:t>
            </a:r>
            <a:endParaRPr/>
          </a:p>
          <a:p>
            <a:pPr indent="-50800" lvl="1" marL="685800" rtl="0" algn="l">
              <a:lnSpc>
                <a:spcPct val="90000"/>
              </a:lnSpc>
              <a:spcBef>
                <a:spcPts val="5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a:t>Handling missing values</a:t>
            </a:r>
            <a:endParaRPr/>
          </a:p>
          <a:p>
            <a:pPr indent="-228600" lvl="1" marL="685800" rtl="0" algn="l">
              <a:lnSpc>
                <a:spcPct val="90000"/>
              </a:lnSpc>
              <a:spcBef>
                <a:spcPts val="500"/>
              </a:spcBef>
              <a:spcAft>
                <a:spcPts val="0"/>
              </a:spcAft>
              <a:buClr>
                <a:schemeClr val="dk1"/>
              </a:buClr>
              <a:buSzPts val="2800"/>
              <a:buChar char="•"/>
            </a:pPr>
            <a:r>
              <a:rPr lang="en-US" sz="2800"/>
              <a:t>Eliminate data objects or variables</a:t>
            </a:r>
            <a:endParaRPr/>
          </a:p>
          <a:p>
            <a:pPr indent="-228600" lvl="1" marL="685800" rtl="0" algn="l">
              <a:lnSpc>
                <a:spcPct val="90000"/>
              </a:lnSpc>
              <a:spcBef>
                <a:spcPts val="500"/>
              </a:spcBef>
              <a:spcAft>
                <a:spcPts val="0"/>
              </a:spcAft>
              <a:buClr>
                <a:schemeClr val="dk1"/>
              </a:buClr>
              <a:buSzPts val="2800"/>
              <a:buChar char="•"/>
            </a:pPr>
            <a:r>
              <a:rPr lang="en-US" sz="2800"/>
              <a:t>Estimate missing values</a:t>
            </a:r>
            <a:endParaRPr/>
          </a:p>
          <a:p>
            <a:pPr indent="-233362" lvl="2" marL="1147763" rtl="0" algn="l">
              <a:lnSpc>
                <a:spcPct val="90000"/>
              </a:lnSpc>
              <a:spcBef>
                <a:spcPts val="500"/>
              </a:spcBef>
              <a:spcAft>
                <a:spcPts val="0"/>
              </a:spcAft>
              <a:buClr>
                <a:schemeClr val="dk1"/>
              </a:buClr>
              <a:buSzPts val="2800"/>
              <a:buChar char="•"/>
            </a:pPr>
            <a:r>
              <a:rPr lang="en-US" sz="2800"/>
              <a:t>Example: time series of temperature</a:t>
            </a:r>
            <a:endParaRPr/>
          </a:p>
          <a:p>
            <a:pPr indent="-233362" lvl="2" marL="1147763" rtl="0" algn="l">
              <a:lnSpc>
                <a:spcPct val="90000"/>
              </a:lnSpc>
              <a:spcBef>
                <a:spcPts val="500"/>
              </a:spcBef>
              <a:spcAft>
                <a:spcPts val="0"/>
              </a:spcAft>
              <a:buClr>
                <a:schemeClr val="dk1"/>
              </a:buClr>
              <a:buSzPts val="2800"/>
              <a:buChar char="•"/>
            </a:pPr>
            <a:r>
              <a:rPr lang="en-US" sz="2800"/>
              <a:t>Example: census results </a:t>
            </a:r>
            <a:endParaRPr/>
          </a:p>
          <a:p>
            <a:pPr indent="-228600" lvl="1" marL="685800" rtl="0" algn="l">
              <a:lnSpc>
                <a:spcPct val="90000"/>
              </a:lnSpc>
              <a:spcBef>
                <a:spcPts val="500"/>
              </a:spcBef>
              <a:spcAft>
                <a:spcPts val="0"/>
              </a:spcAft>
              <a:buClr>
                <a:schemeClr val="dk1"/>
              </a:buClr>
              <a:buSzPts val="2800"/>
              <a:buChar char="•"/>
            </a:pPr>
            <a:r>
              <a:rPr lang="en-US" sz="2800"/>
              <a:t>Ignore the missing value during analysis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7"/>
          <p:cNvSpPr txBox="1"/>
          <p:nvPr>
            <p:ph type="title"/>
          </p:nvPr>
        </p:nvSpPr>
        <p:spPr>
          <a:xfrm>
            <a:off x="919480" y="121285"/>
            <a:ext cx="10515600" cy="42735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Duplicate Data</a:t>
            </a:r>
            <a:endParaRPr/>
          </a:p>
        </p:txBody>
      </p:sp>
      <p:sp>
        <p:nvSpPr>
          <p:cNvPr id="282" name="Google Shape;282;p27"/>
          <p:cNvSpPr txBox="1"/>
          <p:nvPr>
            <p:ph idx="1" type="body"/>
          </p:nvPr>
        </p:nvSpPr>
        <p:spPr>
          <a:xfrm>
            <a:off x="838200" y="640080"/>
            <a:ext cx="10515600" cy="579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set may include data objects that are duplicates, or almost duplicates of one another</a:t>
            </a:r>
            <a:endParaRPr/>
          </a:p>
          <a:p>
            <a:pPr indent="-228600" lvl="1" marL="685800" rtl="0" algn="l">
              <a:lnSpc>
                <a:spcPct val="90000"/>
              </a:lnSpc>
              <a:spcBef>
                <a:spcPts val="500"/>
              </a:spcBef>
              <a:spcAft>
                <a:spcPts val="0"/>
              </a:spcAft>
              <a:buClr>
                <a:schemeClr val="dk1"/>
              </a:buClr>
              <a:buSzPts val="2800"/>
              <a:buChar char="•"/>
            </a:pPr>
            <a:r>
              <a:rPr lang="en-US" sz="2800"/>
              <a:t>Major issue when merging data from heterogeneous sources</a:t>
            </a:r>
            <a:endParaRPr/>
          </a:p>
          <a:p>
            <a:pPr indent="-50800" lvl="1" marL="685800" rtl="0" algn="l">
              <a:lnSpc>
                <a:spcPct val="90000"/>
              </a:lnSpc>
              <a:spcBef>
                <a:spcPts val="5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a:t>Examples:</a:t>
            </a:r>
            <a:endParaRPr/>
          </a:p>
          <a:p>
            <a:pPr indent="-228600" lvl="1" marL="685800" rtl="0" algn="l">
              <a:lnSpc>
                <a:spcPct val="90000"/>
              </a:lnSpc>
              <a:spcBef>
                <a:spcPts val="500"/>
              </a:spcBef>
              <a:spcAft>
                <a:spcPts val="0"/>
              </a:spcAft>
              <a:buClr>
                <a:schemeClr val="dk1"/>
              </a:buClr>
              <a:buSzPts val="2800"/>
              <a:buChar char="•"/>
            </a:pPr>
            <a:r>
              <a:rPr lang="en-US" sz="2800"/>
              <a:t>Same person with multiple email addresses</a:t>
            </a:r>
            <a:endParaRPr/>
          </a:p>
          <a:p>
            <a:pPr indent="-50800" lvl="1" marL="685800" rtl="0" algn="l">
              <a:lnSpc>
                <a:spcPct val="90000"/>
              </a:lnSpc>
              <a:spcBef>
                <a:spcPts val="5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a:t>Data cleaning</a:t>
            </a:r>
            <a:endParaRPr/>
          </a:p>
          <a:p>
            <a:pPr indent="-228600" lvl="1" marL="685800" rtl="0" algn="l">
              <a:lnSpc>
                <a:spcPct val="90000"/>
              </a:lnSpc>
              <a:spcBef>
                <a:spcPts val="500"/>
              </a:spcBef>
              <a:spcAft>
                <a:spcPts val="0"/>
              </a:spcAft>
              <a:buClr>
                <a:schemeClr val="dk1"/>
              </a:buClr>
              <a:buSzPts val="2800"/>
              <a:buChar char="•"/>
            </a:pPr>
            <a:r>
              <a:rPr lang="en-US" sz="2800"/>
              <a:t>Process of dealing with duplicate data issues</a:t>
            </a:r>
            <a:endParaRPr/>
          </a:p>
          <a:p>
            <a:pPr indent="-50800" lvl="1" marL="685800" rtl="0" algn="l">
              <a:lnSpc>
                <a:spcPct val="90000"/>
              </a:lnSpc>
              <a:spcBef>
                <a:spcPts val="5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a:t>When should duplicate data not be removed?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Measuring Data Similarity and Dissimilarity</a:t>
            </a:r>
            <a:endParaRPr sz="4000"/>
          </a:p>
        </p:txBody>
      </p:sp>
      <p:sp>
        <p:nvSpPr>
          <p:cNvPr id="288" name="Google Shape;288;p28"/>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800"/>
              <a:buNone/>
            </a:pPr>
            <a:r>
              <a:rPr lang="en-US"/>
              <a:t>In data mining applications, such as clustering, outlier analysis, and nearest-neighbor classification, we need ways to assess how alike or unalike objects are in comparison to one another.</a:t>
            </a:r>
            <a:endParaRPr/>
          </a:p>
          <a:p>
            <a:pPr indent="-228600" lvl="0" marL="228600" rtl="0" algn="just">
              <a:lnSpc>
                <a:spcPct val="100000"/>
              </a:lnSpc>
              <a:spcBef>
                <a:spcPts val="0"/>
              </a:spcBef>
              <a:spcAft>
                <a:spcPts val="0"/>
              </a:spcAft>
              <a:buClr>
                <a:schemeClr val="dk1"/>
              </a:buClr>
              <a:buSzPts val="2800"/>
              <a:buChar char="•"/>
            </a:pPr>
            <a:r>
              <a:rPr b="1" lang="en-US"/>
              <a:t>Similarity</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Numerical measure of how alike two data objects are</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Value is higher when objects are more alike</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Often falls in the range [0,1]</a:t>
            </a:r>
            <a:endParaRPr/>
          </a:p>
          <a:p>
            <a:pPr indent="-228600" lvl="0" marL="228600" rtl="0" algn="just">
              <a:lnSpc>
                <a:spcPct val="100000"/>
              </a:lnSpc>
              <a:spcBef>
                <a:spcPts val="0"/>
              </a:spcBef>
              <a:spcAft>
                <a:spcPts val="0"/>
              </a:spcAft>
              <a:buClr>
                <a:schemeClr val="dk1"/>
              </a:buClr>
              <a:buSzPts val="2800"/>
              <a:buChar char="•"/>
            </a:pPr>
            <a:r>
              <a:rPr b="1" lang="en-US"/>
              <a:t>Dissimilarity</a:t>
            </a:r>
            <a:r>
              <a:rPr lang="en-US"/>
              <a:t> (e.g., distance)</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Numerical measure of how different two data objects are</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Lower when objects are more alike</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Minimum dissimilarity is often 0</a:t>
            </a:r>
            <a:endParaRPr/>
          </a:p>
          <a:p>
            <a:pPr indent="-228600" lvl="1" marL="685800" rtl="0" algn="just">
              <a:lnSpc>
                <a:spcPct val="100000"/>
              </a:lnSpc>
              <a:spcBef>
                <a:spcPts val="0"/>
              </a:spcBef>
              <a:spcAft>
                <a:spcPts val="0"/>
              </a:spcAft>
              <a:buClr>
                <a:schemeClr val="dk1"/>
              </a:buClr>
              <a:buSzPts val="2800"/>
              <a:buFont typeface="Noto Sans Symbols"/>
              <a:buChar char="▪"/>
            </a:pPr>
            <a:r>
              <a:rPr lang="en-US" sz="2800"/>
              <a:t>Upper limit varies</a:t>
            </a:r>
            <a:endParaRPr/>
          </a:p>
          <a:p>
            <a:pPr indent="-228600" lvl="0" marL="228600" rtl="0" algn="just">
              <a:lnSpc>
                <a:spcPct val="100000"/>
              </a:lnSpc>
              <a:spcBef>
                <a:spcPts val="0"/>
              </a:spcBef>
              <a:spcAft>
                <a:spcPts val="0"/>
              </a:spcAft>
              <a:buClr>
                <a:schemeClr val="dk1"/>
              </a:buClr>
              <a:buSzPts val="2800"/>
              <a:buChar char="•"/>
            </a:pPr>
            <a:r>
              <a:rPr b="1" lang="en-US"/>
              <a:t>Proximity</a:t>
            </a:r>
            <a:r>
              <a:rPr lang="en-US"/>
              <a:t> refers to a similarity or dissimilarity</a:t>
            </a:r>
            <a:endParaRPr/>
          </a:p>
          <a:p>
            <a:pPr indent="-50800" lvl="0" marL="228600" rtl="0" algn="just">
              <a:lnSpc>
                <a:spcPct val="100000"/>
              </a:lnSpc>
              <a:spcBef>
                <a:spcPts val="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9"/>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Measuring Data Similarity and Dissimilarity</a:t>
            </a:r>
            <a:endParaRPr sz="4000"/>
          </a:p>
        </p:txBody>
      </p:sp>
      <p:sp>
        <p:nvSpPr>
          <p:cNvPr id="294" name="Google Shape;294;p29"/>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800"/>
              <a:buNone/>
            </a:pPr>
            <a:r>
              <a:rPr lang="en-US"/>
              <a:t>In data mining applications, such as clustering, outlier analysis, and nearest-neighbor classification, we need ways to assess how alike or unalike objects are in comparison to one another.</a:t>
            </a:r>
            <a:endParaRPr/>
          </a:p>
          <a:p>
            <a:pPr indent="-228600" lvl="0" marL="228600" rtl="0" algn="just">
              <a:lnSpc>
                <a:spcPct val="100000"/>
              </a:lnSpc>
              <a:spcBef>
                <a:spcPts val="0"/>
              </a:spcBef>
              <a:spcAft>
                <a:spcPts val="0"/>
              </a:spcAft>
              <a:buClr>
                <a:schemeClr val="dk1"/>
              </a:buClr>
              <a:buSzPts val="2800"/>
              <a:buChar char="•"/>
            </a:pPr>
            <a:r>
              <a:rPr lang="en-US"/>
              <a:t>A cluster is a collection of data objects such that the </a:t>
            </a:r>
            <a:r>
              <a:rPr b="1" lang="en-US"/>
              <a:t>objects within a cluster are similar</a:t>
            </a:r>
            <a:r>
              <a:rPr lang="en-US"/>
              <a:t> to one another and </a:t>
            </a:r>
            <a:r>
              <a:rPr b="1" lang="en-US"/>
              <a:t>dissimilar</a:t>
            </a:r>
            <a:r>
              <a:rPr lang="en-US"/>
              <a:t> to the objects in </a:t>
            </a:r>
            <a:r>
              <a:rPr b="1" lang="en-US"/>
              <a:t>other clusters</a:t>
            </a:r>
            <a:r>
              <a:rPr lang="en-US"/>
              <a:t>. </a:t>
            </a:r>
            <a:endParaRPr/>
          </a:p>
          <a:p>
            <a:pPr indent="-228600" lvl="0" marL="228600" rtl="0" algn="just">
              <a:lnSpc>
                <a:spcPct val="100000"/>
              </a:lnSpc>
              <a:spcBef>
                <a:spcPts val="0"/>
              </a:spcBef>
              <a:spcAft>
                <a:spcPts val="0"/>
              </a:spcAft>
              <a:buClr>
                <a:schemeClr val="dk1"/>
              </a:buClr>
              <a:buSzPts val="2800"/>
              <a:buChar char="•"/>
            </a:pPr>
            <a:r>
              <a:rPr b="1" lang="en-US"/>
              <a:t>Outlier analysis </a:t>
            </a:r>
            <a:r>
              <a:rPr lang="en-US"/>
              <a:t>also employs clustering-based techniques to identify potential outliers as objects that are highly dissimilar to others. </a:t>
            </a:r>
            <a:endParaRPr/>
          </a:p>
          <a:p>
            <a:pPr indent="-228600" lvl="0" marL="228600" rtl="0" algn="just">
              <a:lnSpc>
                <a:spcPct val="100000"/>
              </a:lnSpc>
              <a:spcBef>
                <a:spcPts val="0"/>
              </a:spcBef>
              <a:spcAft>
                <a:spcPts val="0"/>
              </a:spcAft>
              <a:buClr>
                <a:schemeClr val="dk1"/>
              </a:buClr>
              <a:buSzPts val="2800"/>
              <a:buChar char="•"/>
            </a:pPr>
            <a:r>
              <a:rPr lang="en-US"/>
              <a:t>Knowledge of object similarities can also be used in nearest-neighbor </a:t>
            </a:r>
            <a:r>
              <a:rPr b="1" lang="en-US"/>
              <a:t>classification</a:t>
            </a:r>
            <a:r>
              <a:rPr lang="en-US"/>
              <a:t> schemes where a given object (e.g., a patient) is assigned a class label (relating to, say, a diagnosis) based on its similarity toward other objects in the model.</a:t>
            </a:r>
            <a:endParaRPr sz="2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Measuring Data Similarity and Dissimilarity</a:t>
            </a:r>
            <a:endParaRPr sz="4000"/>
          </a:p>
        </p:txBody>
      </p:sp>
      <p:sp>
        <p:nvSpPr>
          <p:cNvPr id="300" name="Google Shape;300;p30"/>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Two data structures that are commonly used in clustering, outlier analysis, and nearest-neighbor classification applications: </a:t>
            </a:r>
            <a:endParaRPr/>
          </a:p>
          <a:p>
            <a:pPr indent="-228600" lvl="0" marL="228600" rtl="0" algn="just">
              <a:lnSpc>
                <a:spcPct val="100000"/>
              </a:lnSpc>
              <a:spcBef>
                <a:spcPts val="0"/>
              </a:spcBef>
              <a:spcAft>
                <a:spcPts val="0"/>
              </a:spcAft>
              <a:buClr>
                <a:schemeClr val="dk1"/>
              </a:buClr>
              <a:buSzPts val="2800"/>
              <a:buChar char="•"/>
            </a:pPr>
            <a:r>
              <a:rPr b="1" lang="en-US"/>
              <a:t>data matrix </a:t>
            </a:r>
            <a:r>
              <a:rPr lang="en-US"/>
              <a:t>(used to store the data objects) and </a:t>
            </a:r>
            <a:endParaRPr/>
          </a:p>
          <a:p>
            <a:pPr indent="-228600" lvl="0" marL="228600" rtl="0" algn="just">
              <a:lnSpc>
                <a:spcPct val="100000"/>
              </a:lnSpc>
              <a:spcBef>
                <a:spcPts val="0"/>
              </a:spcBef>
              <a:spcAft>
                <a:spcPts val="0"/>
              </a:spcAft>
              <a:buClr>
                <a:schemeClr val="dk1"/>
              </a:buClr>
              <a:buSzPts val="2800"/>
              <a:buChar char="•"/>
            </a:pPr>
            <a:r>
              <a:rPr b="1" lang="en-US"/>
              <a:t>dissimilarity matrix </a:t>
            </a:r>
            <a:r>
              <a:rPr lang="en-US"/>
              <a:t>(used to store dissimilarity values for pairs of objects). </a:t>
            </a:r>
            <a:endParaRPr/>
          </a:p>
          <a:p>
            <a:pPr indent="-228600" lvl="0" marL="228600" rtl="0" algn="just">
              <a:lnSpc>
                <a:spcPct val="100000"/>
              </a:lnSpc>
              <a:spcBef>
                <a:spcPts val="0"/>
              </a:spcBef>
              <a:spcAft>
                <a:spcPts val="0"/>
              </a:spcAft>
              <a:buClr>
                <a:schemeClr val="dk1"/>
              </a:buClr>
              <a:buSzPts val="2800"/>
              <a:buChar char="•"/>
            </a:pPr>
            <a:r>
              <a:rPr lang="en-US"/>
              <a:t>How object dissimilarity can be computed for objects:</a:t>
            </a:r>
            <a:endParaRPr/>
          </a:p>
          <a:p>
            <a:pPr indent="-228600" lvl="1" marL="685800" rtl="0" algn="just">
              <a:lnSpc>
                <a:spcPct val="150000"/>
              </a:lnSpc>
              <a:spcBef>
                <a:spcPts val="0"/>
              </a:spcBef>
              <a:spcAft>
                <a:spcPts val="0"/>
              </a:spcAft>
              <a:buClr>
                <a:schemeClr val="dk1"/>
              </a:buClr>
              <a:buSzPts val="2800"/>
              <a:buFont typeface="Noto Sans Symbols"/>
              <a:buChar char="▪"/>
            </a:pPr>
            <a:r>
              <a:rPr lang="en-US" sz="2800"/>
              <a:t>Proximity Measures for </a:t>
            </a:r>
            <a:r>
              <a:rPr b="1" lang="en-US" sz="2800"/>
              <a:t>nominal </a:t>
            </a:r>
            <a:r>
              <a:rPr lang="en-US" sz="2800"/>
              <a:t>attributes</a:t>
            </a:r>
            <a:endParaRPr/>
          </a:p>
          <a:p>
            <a:pPr indent="-228600" lvl="1" marL="685800" rtl="0" algn="just">
              <a:lnSpc>
                <a:spcPct val="150000"/>
              </a:lnSpc>
              <a:spcBef>
                <a:spcPts val="0"/>
              </a:spcBef>
              <a:spcAft>
                <a:spcPts val="0"/>
              </a:spcAft>
              <a:buClr>
                <a:schemeClr val="dk1"/>
              </a:buClr>
              <a:buSzPts val="2800"/>
              <a:buFont typeface="Noto Sans Symbols"/>
              <a:buChar char="▪"/>
            </a:pPr>
            <a:r>
              <a:rPr lang="en-US" sz="2800"/>
              <a:t>Proximity Measures for </a:t>
            </a:r>
            <a:r>
              <a:rPr b="1" lang="en-US" sz="2800"/>
              <a:t>binary</a:t>
            </a:r>
            <a:r>
              <a:rPr lang="en-US" sz="2800"/>
              <a:t> attributes </a:t>
            </a:r>
            <a:endParaRPr/>
          </a:p>
          <a:p>
            <a:pPr indent="-228600" lvl="1" marL="685800" rtl="0" algn="just">
              <a:lnSpc>
                <a:spcPct val="150000"/>
              </a:lnSpc>
              <a:spcBef>
                <a:spcPts val="0"/>
              </a:spcBef>
              <a:spcAft>
                <a:spcPts val="0"/>
              </a:spcAft>
              <a:buClr>
                <a:schemeClr val="dk1"/>
              </a:buClr>
              <a:buSzPts val="2800"/>
              <a:buFont typeface="Noto Sans Symbols"/>
              <a:buChar char="▪"/>
            </a:pPr>
            <a:r>
              <a:rPr lang="en-US" sz="2800"/>
              <a:t>Proximity Measures for </a:t>
            </a:r>
            <a:r>
              <a:rPr b="1" lang="en-US" sz="2800"/>
              <a:t>numeric</a:t>
            </a:r>
            <a:r>
              <a:rPr lang="en-US" sz="2800"/>
              <a:t> attributes</a:t>
            </a:r>
            <a:endParaRPr/>
          </a:p>
          <a:p>
            <a:pPr indent="-228600" lvl="1" marL="685800" rtl="0" algn="just">
              <a:lnSpc>
                <a:spcPct val="150000"/>
              </a:lnSpc>
              <a:spcBef>
                <a:spcPts val="0"/>
              </a:spcBef>
              <a:spcAft>
                <a:spcPts val="0"/>
              </a:spcAft>
              <a:buClr>
                <a:schemeClr val="dk1"/>
              </a:buClr>
              <a:buSzPts val="2800"/>
              <a:buFont typeface="Noto Sans Symbols"/>
              <a:buChar char="▪"/>
            </a:pPr>
            <a:r>
              <a:rPr lang="en-US" sz="2800"/>
              <a:t>Proximity Measures for </a:t>
            </a:r>
            <a:r>
              <a:rPr b="1" lang="en-US" sz="2800"/>
              <a:t>ordinal</a:t>
            </a:r>
            <a:r>
              <a:rPr lang="en-US" sz="2800"/>
              <a:t> attributes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Measuring Data Similarity and Dissimilarity</a:t>
            </a:r>
            <a:endParaRPr sz="4000"/>
          </a:p>
        </p:txBody>
      </p:sp>
      <p:sp>
        <p:nvSpPr>
          <p:cNvPr id="306" name="Google Shape;306;p31"/>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800"/>
              <a:buNone/>
            </a:pPr>
            <a:r>
              <a:rPr lang="en-US"/>
              <a:t>Data Matrix versus Dissimilarity Matrix:</a:t>
            </a:r>
            <a:endParaRPr/>
          </a:p>
          <a:p>
            <a:pPr indent="-228600" lvl="0" marL="228600" rtl="0" algn="just">
              <a:lnSpc>
                <a:spcPct val="100000"/>
              </a:lnSpc>
              <a:spcBef>
                <a:spcPts val="600"/>
              </a:spcBef>
              <a:spcAft>
                <a:spcPts val="0"/>
              </a:spcAft>
              <a:buClr>
                <a:schemeClr val="dk1"/>
              </a:buClr>
              <a:buSzPts val="2800"/>
              <a:buChar char="•"/>
            </a:pPr>
            <a:r>
              <a:rPr lang="en-US"/>
              <a:t>Objects described by </a:t>
            </a:r>
            <a:r>
              <a:rPr b="1" lang="en-US"/>
              <a:t>multiple attributes</a:t>
            </a:r>
            <a:r>
              <a:rPr lang="en-US"/>
              <a:t>.  </a:t>
            </a:r>
            <a:endParaRPr/>
          </a:p>
          <a:p>
            <a:pPr indent="-228600" lvl="0" marL="228600" rtl="0" algn="just">
              <a:lnSpc>
                <a:spcPct val="100000"/>
              </a:lnSpc>
              <a:spcBef>
                <a:spcPts val="600"/>
              </a:spcBef>
              <a:spcAft>
                <a:spcPts val="0"/>
              </a:spcAft>
              <a:buClr>
                <a:schemeClr val="dk1"/>
              </a:buClr>
              <a:buSzPts val="2800"/>
              <a:buChar char="•"/>
            </a:pPr>
            <a:r>
              <a:rPr lang="en-US"/>
              <a:t>Suppose that we have </a:t>
            </a:r>
            <a:r>
              <a:rPr b="1" lang="en-US"/>
              <a:t>n objects </a:t>
            </a:r>
            <a:r>
              <a:rPr lang="en-US"/>
              <a:t>(e.g., persons, items, or courses) described by </a:t>
            </a:r>
            <a:r>
              <a:rPr b="1" lang="en-US"/>
              <a:t>p attributes </a:t>
            </a:r>
            <a:r>
              <a:rPr lang="en-US"/>
              <a:t>(also called measurements or features, such as age, height, weight, or gender). </a:t>
            </a:r>
            <a:endParaRPr/>
          </a:p>
          <a:p>
            <a:pPr indent="-228600" lvl="0" marL="228600" rtl="0" algn="just">
              <a:lnSpc>
                <a:spcPct val="100000"/>
              </a:lnSpc>
              <a:spcBef>
                <a:spcPts val="600"/>
              </a:spcBef>
              <a:spcAft>
                <a:spcPts val="0"/>
              </a:spcAft>
              <a:buClr>
                <a:schemeClr val="dk1"/>
              </a:buClr>
              <a:buSzPts val="2800"/>
              <a:buChar char="•"/>
            </a:pPr>
            <a:r>
              <a:rPr lang="en-US"/>
              <a:t>The objects are x</a:t>
            </a:r>
            <a:r>
              <a:rPr baseline="-25000" lang="en-US"/>
              <a:t>1</a:t>
            </a:r>
            <a:r>
              <a:rPr lang="en-US"/>
              <a:t>=(x</a:t>
            </a:r>
            <a:r>
              <a:rPr baseline="-25000" lang="en-US"/>
              <a:t>11</a:t>
            </a:r>
            <a:r>
              <a:rPr lang="en-US"/>
              <a:t>,x</a:t>
            </a:r>
            <a:r>
              <a:rPr baseline="-25000" lang="en-US"/>
              <a:t>12</a:t>
            </a:r>
            <a:r>
              <a:rPr lang="en-US"/>
              <a:t>,…,x</a:t>
            </a:r>
            <a:r>
              <a:rPr baseline="-25000" lang="en-US"/>
              <a:t>1p</a:t>
            </a:r>
            <a:r>
              <a:rPr lang="en-US"/>
              <a:t>), x</a:t>
            </a:r>
            <a:r>
              <a:rPr baseline="-25000" lang="en-US"/>
              <a:t>2</a:t>
            </a:r>
            <a:r>
              <a:rPr lang="en-US"/>
              <a:t> =(x</a:t>
            </a:r>
            <a:r>
              <a:rPr baseline="-25000" lang="en-US"/>
              <a:t>21</a:t>
            </a:r>
            <a:r>
              <a:rPr lang="en-US"/>
              <a:t>,x</a:t>
            </a:r>
            <a:r>
              <a:rPr baseline="-25000" lang="en-US"/>
              <a:t>22</a:t>
            </a:r>
            <a:r>
              <a:rPr lang="en-US"/>
              <a:t>,…,x</a:t>
            </a:r>
            <a:r>
              <a:rPr baseline="-25000" lang="en-US"/>
              <a:t>2p</a:t>
            </a:r>
            <a:r>
              <a:rPr lang="en-US"/>
              <a:t>), and so on, where x</a:t>
            </a:r>
            <a:r>
              <a:rPr baseline="-25000" lang="en-US"/>
              <a:t>ij</a:t>
            </a:r>
            <a:r>
              <a:rPr lang="en-US"/>
              <a:t> is the value for object x</a:t>
            </a:r>
            <a:r>
              <a:rPr baseline="-25000" lang="en-US"/>
              <a:t>i</a:t>
            </a:r>
            <a:r>
              <a:rPr lang="en-US"/>
              <a:t> of the j</a:t>
            </a:r>
            <a:r>
              <a:rPr baseline="30000" lang="en-US"/>
              <a:t>th</a:t>
            </a:r>
            <a:r>
              <a:rPr lang="en-US"/>
              <a:t> attribute.</a:t>
            </a:r>
            <a:endParaRPr/>
          </a:p>
          <a:p>
            <a:pPr indent="-228600" lvl="0" marL="228600" rtl="0" algn="just">
              <a:lnSpc>
                <a:spcPct val="100000"/>
              </a:lnSpc>
              <a:spcBef>
                <a:spcPts val="600"/>
              </a:spcBef>
              <a:spcAft>
                <a:spcPts val="0"/>
              </a:spcAft>
              <a:buClr>
                <a:schemeClr val="dk1"/>
              </a:buClr>
              <a:buSzPts val="2800"/>
              <a:buChar char="•"/>
            </a:pPr>
            <a:r>
              <a:rPr lang="en-US"/>
              <a:t>Main memory-based </a:t>
            </a:r>
            <a:r>
              <a:rPr b="1" lang="en-US"/>
              <a:t>clustering</a:t>
            </a:r>
            <a:r>
              <a:rPr lang="en-US"/>
              <a:t> and nearest-neighbor </a:t>
            </a:r>
            <a:r>
              <a:rPr b="1" lang="en-US"/>
              <a:t>classification</a:t>
            </a:r>
            <a:r>
              <a:rPr lang="en-US"/>
              <a:t> algorithms typically operate on </a:t>
            </a:r>
            <a:r>
              <a:rPr b="1" lang="en-US"/>
              <a:t>Data matrix </a:t>
            </a:r>
            <a:r>
              <a:rPr lang="en-US"/>
              <a:t>or</a:t>
            </a:r>
            <a:r>
              <a:rPr b="1" lang="en-US"/>
              <a:t> Dissimilarity matrix</a:t>
            </a:r>
            <a:r>
              <a:rPr lang="en-US"/>
              <a:t>.</a:t>
            </a:r>
            <a:endParaRPr/>
          </a:p>
          <a:p>
            <a:pPr indent="-50800" lvl="0" marL="228600" rtl="0" algn="just">
              <a:lnSpc>
                <a:spcPct val="100000"/>
              </a:lnSpc>
              <a:spcBef>
                <a:spcPts val="0"/>
              </a:spcBef>
              <a:spcAft>
                <a:spcPts val="0"/>
              </a:spcAft>
              <a:buClr>
                <a:schemeClr val="dk1"/>
              </a:buClr>
              <a:buSzPts val="2800"/>
              <a:buNone/>
            </a:pPr>
            <a:r>
              <a:t/>
            </a:r>
            <a:endParaRPr sz="2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2"/>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Measuring Data Similarity and Dissimilarity</a:t>
            </a:r>
            <a:endParaRPr sz="4000"/>
          </a:p>
        </p:txBody>
      </p:sp>
      <p:sp>
        <p:nvSpPr>
          <p:cNvPr id="312" name="Google Shape;312;p32"/>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800"/>
              <a:buNone/>
            </a:pPr>
            <a:r>
              <a:rPr b="1" lang="en-US"/>
              <a:t>Data Matrix </a:t>
            </a:r>
            <a:r>
              <a:rPr lang="en-US"/>
              <a:t>(or object-by-attribute structure): </a:t>
            </a:r>
            <a:endParaRPr/>
          </a:p>
          <a:p>
            <a:pPr indent="-228600" lvl="0" marL="228600" rtl="0" algn="just">
              <a:lnSpc>
                <a:spcPct val="100000"/>
              </a:lnSpc>
              <a:spcBef>
                <a:spcPts val="0"/>
              </a:spcBef>
              <a:spcAft>
                <a:spcPts val="0"/>
              </a:spcAft>
              <a:buClr>
                <a:schemeClr val="dk1"/>
              </a:buClr>
              <a:buSzPts val="2800"/>
              <a:buChar char="•"/>
            </a:pPr>
            <a:r>
              <a:rPr lang="en-US"/>
              <a:t>This structure stores the n data objects in the form of a relational table, or n-by-p matrix (n objects × p attributes).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Each row corresponds to an object. As part of our notation, we may use </a:t>
            </a:r>
            <a:r>
              <a:rPr i="1" lang="en-US"/>
              <a:t>f</a:t>
            </a:r>
            <a:r>
              <a:rPr lang="en-US"/>
              <a:t> to index through the </a:t>
            </a:r>
            <a:r>
              <a:rPr i="1" lang="en-US"/>
              <a:t>p</a:t>
            </a:r>
            <a:r>
              <a:rPr lang="en-US"/>
              <a:t> attributes.</a:t>
            </a:r>
            <a:endParaRPr/>
          </a:p>
          <a:p>
            <a:pPr indent="-50800" lvl="0" marL="228600" rtl="0" algn="just">
              <a:lnSpc>
                <a:spcPct val="100000"/>
              </a:lnSpc>
              <a:spcBef>
                <a:spcPts val="0"/>
              </a:spcBef>
              <a:spcAft>
                <a:spcPts val="0"/>
              </a:spcAft>
              <a:buClr>
                <a:schemeClr val="dk1"/>
              </a:buClr>
              <a:buSzPts val="2800"/>
              <a:buNone/>
            </a:pPr>
            <a:r>
              <a:t/>
            </a:r>
            <a:endParaRPr sz="2800"/>
          </a:p>
        </p:txBody>
      </p:sp>
      <p:pic>
        <p:nvPicPr>
          <p:cNvPr id="313" name="Google Shape;313;p32"/>
          <p:cNvPicPr preferRelativeResize="0"/>
          <p:nvPr/>
        </p:nvPicPr>
        <p:blipFill rotWithShape="1">
          <a:blip r:embed="rId3">
            <a:alphaModFix/>
          </a:blip>
          <a:srcRect b="0" l="0" r="0" t="0"/>
          <a:stretch/>
        </p:blipFill>
        <p:spPr>
          <a:xfrm>
            <a:off x="3759200" y="2368496"/>
            <a:ext cx="3992880" cy="2447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3"/>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Measuring Data Similarity and Dissimilarity</a:t>
            </a:r>
            <a:endParaRPr sz="4000"/>
          </a:p>
        </p:txBody>
      </p:sp>
      <p:sp>
        <p:nvSpPr>
          <p:cNvPr id="319" name="Google Shape;319;p33"/>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Dissimilarity matrix (or object-by-object structure): This structure stores a collection of proximities that are available for all pairs of n objects. It is often represented by an n-by-n table:</a:t>
            </a:r>
            <a:endParaRPr/>
          </a:p>
          <a:p>
            <a:pPr indent="-228600" lvl="0" marL="228600" rtl="0" algn="just">
              <a:lnSpc>
                <a:spcPct val="100000"/>
              </a:lnSpc>
              <a:spcBef>
                <a:spcPts val="0"/>
              </a:spcBef>
              <a:spcAft>
                <a:spcPts val="0"/>
              </a:spcAft>
              <a:buClr>
                <a:schemeClr val="dk1"/>
              </a:buClr>
              <a:buSzPts val="2800"/>
              <a:buChar char="•"/>
            </a:pPr>
            <a:r>
              <a:rPr lang="en-US"/>
              <a:t>where d(i, j) is the measured dissimilarity or “difference” between objects i and j. </a:t>
            </a:r>
            <a:endParaRPr/>
          </a:p>
          <a:p>
            <a:pPr indent="-228600" lvl="0" marL="228600" rtl="0" algn="just">
              <a:lnSpc>
                <a:spcPct val="100000"/>
              </a:lnSpc>
              <a:spcBef>
                <a:spcPts val="0"/>
              </a:spcBef>
              <a:spcAft>
                <a:spcPts val="0"/>
              </a:spcAft>
              <a:buClr>
                <a:schemeClr val="dk1"/>
              </a:buClr>
              <a:buSzPts val="2800"/>
              <a:buChar char="•"/>
            </a:pPr>
            <a:r>
              <a:rPr lang="en-US"/>
              <a:t>In general, d(i, j) is a non-negative number that is close to 0 when objects i and j are highly similar or “near” each other, and becomes larger the more they differ. </a:t>
            </a:r>
            <a:endParaRPr/>
          </a:p>
          <a:p>
            <a:pPr indent="-228600" lvl="0" marL="228600" rtl="0" algn="just">
              <a:lnSpc>
                <a:spcPct val="100000"/>
              </a:lnSpc>
              <a:spcBef>
                <a:spcPts val="0"/>
              </a:spcBef>
              <a:spcAft>
                <a:spcPts val="0"/>
              </a:spcAft>
              <a:buClr>
                <a:schemeClr val="dk1"/>
              </a:buClr>
              <a:buSzPts val="2800"/>
              <a:buChar char="•"/>
            </a:pPr>
            <a:r>
              <a:rPr lang="en-US"/>
              <a:t>Note that d(i, i) = 0 is the difference between an object and itself is 0. </a:t>
            </a:r>
            <a:endParaRPr/>
          </a:p>
          <a:p>
            <a:pPr indent="-228600" lvl="0" marL="228600" rtl="0" algn="just">
              <a:lnSpc>
                <a:spcPct val="100000"/>
              </a:lnSpc>
              <a:spcBef>
                <a:spcPts val="0"/>
              </a:spcBef>
              <a:spcAft>
                <a:spcPts val="0"/>
              </a:spcAft>
              <a:buClr>
                <a:schemeClr val="dk1"/>
              </a:buClr>
              <a:buSzPts val="2800"/>
              <a:buChar char="•"/>
            </a:pPr>
            <a:r>
              <a:rPr lang="en-US"/>
              <a:t>Furthermore, d(i, j) = d(j, i). </a:t>
            </a:r>
            <a:endParaRPr/>
          </a:p>
          <a:p>
            <a:pPr indent="-228600" lvl="0" marL="228600" rtl="0" algn="just">
              <a:lnSpc>
                <a:spcPct val="100000"/>
              </a:lnSpc>
              <a:spcBef>
                <a:spcPts val="0"/>
              </a:spcBef>
              <a:spcAft>
                <a:spcPts val="0"/>
              </a:spcAft>
              <a:buClr>
                <a:schemeClr val="dk1"/>
              </a:buClr>
              <a:buSzPts val="2800"/>
              <a:buChar char="•"/>
            </a:pPr>
            <a:r>
              <a:rPr lang="en-US"/>
              <a:t>Measures of </a:t>
            </a:r>
            <a:r>
              <a:rPr b="1" lang="en-US"/>
              <a:t>similarity</a:t>
            </a:r>
            <a:r>
              <a:rPr lang="en-US"/>
              <a:t> can often be expressed as a function of measures of dissimilarity. For example, for nominal data,</a:t>
            </a:r>
            <a:endParaRPr/>
          </a:p>
          <a:p>
            <a:pPr indent="0" lvl="0" marL="0" rtl="0" algn="just">
              <a:lnSpc>
                <a:spcPct val="100000"/>
              </a:lnSpc>
              <a:spcBef>
                <a:spcPts val="0"/>
              </a:spcBef>
              <a:spcAft>
                <a:spcPts val="0"/>
              </a:spcAft>
              <a:buClr>
                <a:schemeClr val="dk1"/>
              </a:buClr>
              <a:buSzPts val="2800"/>
              <a:buNone/>
            </a:pPr>
            <a:r>
              <a:rPr lang="en-US"/>
              <a:t>		sim(i, j) = 1 − d(i, j)</a:t>
            </a:r>
            <a:endParaRPr/>
          </a:p>
          <a:p>
            <a:pPr indent="-228600" lvl="0" marL="228600" rtl="0" algn="just">
              <a:lnSpc>
                <a:spcPct val="100000"/>
              </a:lnSpc>
              <a:spcBef>
                <a:spcPts val="0"/>
              </a:spcBef>
              <a:spcAft>
                <a:spcPts val="0"/>
              </a:spcAft>
              <a:buClr>
                <a:schemeClr val="dk1"/>
              </a:buClr>
              <a:buSzPts val="2800"/>
              <a:buChar char="•"/>
            </a:pPr>
            <a:r>
              <a:rPr lang="en-US"/>
              <a:t>where sim(i, j) is the similarity between objects i and j.</a:t>
            </a:r>
            <a:endParaRPr sz="2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Nominal Attributes</a:t>
            </a:r>
            <a:endParaRPr sz="4000"/>
          </a:p>
        </p:txBody>
      </p:sp>
      <p:sp>
        <p:nvSpPr>
          <p:cNvPr id="325" name="Google Shape;325;p34"/>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nominal attribute can take on two or more states. </a:t>
            </a:r>
            <a:endParaRPr/>
          </a:p>
          <a:p>
            <a:pPr indent="-228600" lvl="0" marL="228600" rtl="0" algn="just">
              <a:lnSpc>
                <a:spcPct val="100000"/>
              </a:lnSpc>
              <a:spcBef>
                <a:spcPts val="0"/>
              </a:spcBef>
              <a:spcAft>
                <a:spcPts val="0"/>
              </a:spcAft>
              <a:buClr>
                <a:schemeClr val="dk1"/>
              </a:buClr>
              <a:buSzPts val="2800"/>
              <a:buChar char="•"/>
            </a:pPr>
            <a:r>
              <a:rPr lang="en-US"/>
              <a:t>For example, map color is a nominal attribute that may have, five states: red, yellow, green, pink, and blue.</a:t>
            </a:r>
            <a:endParaRPr/>
          </a:p>
          <a:p>
            <a:pPr indent="-228600" lvl="0" marL="228600" rtl="0" algn="just">
              <a:lnSpc>
                <a:spcPct val="100000"/>
              </a:lnSpc>
              <a:spcBef>
                <a:spcPts val="0"/>
              </a:spcBef>
              <a:spcAft>
                <a:spcPts val="0"/>
              </a:spcAft>
              <a:buClr>
                <a:schemeClr val="dk1"/>
              </a:buClr>
              <a:buSzPts val="2800"/>
              <a:buChar char="•"/>
            </a:pPr>
            <a:r>
              <a:rPr lang="en-US"/>
              <a:t>Let the number of states of a nominal attribute be M. The states can be denoted by letters, symbols, or a set of integers, such as 1, 2,…, M. Notice that such integers are used just for data handling and do not represent any specific ordering. </a:t>
            </a:r>
            <a:endParaRPr/>
          </a:p>
          <a:p>
            <a:pPr indent="-228600" lvl="0" marL="228600" rtl="0" algn="just">
              <a:lnSpc>
                <a:spcPct val="100000"/>
              </a:lnSpc>
              <a:spcBef>
                <a:spcPts val="0"/>
              </a:spcBef>
              <a:spcAft>
                <a:spcPts val="0"/>
              </a:spcAft>
              <a:buClr>
                <a:schemeClr val="dk1"/>
              </a:buClr>
              <a:buSzPts val="2800"/>
              <a:buChar char="•"/>
            </a:pPr>
            <a:r>
              <a:rPr lang="en-US"/>
              <a:t>The </a:t>
            </a:r>
            <a:r>
              <a:rPr b="1" lang="en-US"/>
              <a:t>dissimilarity between two objects </a:t>
            </a:r>
            <a:r>
              <a:rPr i="1" lang="en-US"/>
              <a:t>i</a:t>
            </a:r>
            <a:r>
              <a:rPr lang="en-US"/>
              <a:t> and </a:t>
            </a:r>
            <a:r>
              <a:rPr i="1" lang="en-US"/>
              <a:t>j</a:t>
            </a:r>
            <a:r>
              <a:rPr lang="en-US"/>
              <a:t> can be computed based on the ratio of mismatches:</a:t>
            </a:r>
            <a:endParaRPr/>
          </a:p>
          <a:p>
            <a:pPr indent="-50800" lvl="0" marL="228600" rtl="0" algn="just">
              <a:lnSpc>
                <a:spcPct val="100000"/>
              </a:lnSpc>
              <a:spcBef>
                <a:spcPts val="0"/>
              </a:spcBef>
              <a:spcAft>
                <a:spcPts val="0"/>
              </a:spcAft>
              <a:buClr>
                <a:schemeClr val="dk1"/>
              </a:buClr>
              <a:buSzPts val="2800"/>
              <a:buNone/>
            </a:pPr>
            <a:r>
              <a:t/>
            </a:r>
            <a:endParaRPr/>
          </a:p>
          <a:p>
            <a:pPr indent="-101600" lvl="0" marL="228600" rtl="0" algn="just">
              <a:lnSpc>
                <a:spcPct val="100000"/>
              </a:lnSpc>
              <a:spcBef>
                <a:spcPts val="0"/>
              </a:spcBef>
              <a:spcAft>
                <a:spcPts val="0"/>
              </a:spcAft>
              <a:buClr>
                <a:schemeClr val="dk1"/>
              </a:buClr>
              <a:buSzPts val="2000"/>
              <a:buNone/>
            </a:pPr>
            <a:r>
              <a:t/>
            </a:r>
            <a:endParaRPr sz="2000"/>
          </a:p>
          <a:p>
            <a:pPr indent="-228600" lvl="0" marL="228600" rtl="0" algn="just">
              <a:lnSpc>
                <a:spcPct val="100000"/>
              </a:lnSpc>
              <a:spcBef>
                <a:spcPts val="0"/>
              </a:spcBef>
              <a:spcAft>
                <a:spcPts val="0"/>
              </a:spcAft>
              <a:buClr>
                <a:schemeClr val="dk1"/>
              </a:buClr>
              <a:buSzPts val="2800"/>
              <a:buChar char="•"/>
            </a:pPr>
            <a:r>
              <a:rPr lang="en-US"/>
              <a:t>where </a:t>
            </a:r>
            <a:r>
              <a:rPr i="1" lang="en-US"/>
              <a:t>m</a:t>
            </a:r>
            <a:r>
              <a:rPr lang="en-US"/>
              <a:t> is the number of matches (i.e., the number of attributes for which </a:t>
            </a:r>
            <a:r>
              <a:rPr i="1" lang="en-US"/>
              <a:t>i</a:t>
            </a:r>
            <a:r>
              <a:rPr lang="en-US"/>
              <a:t> and </a:t>
            </a:r>
            <a:r>
              <a:rPr i="1" lang="en-US"/>
              <a:t>j</a:t>
            </a:r>
            <a:r>
              <a:rPr lang="en-US"/>
              <a:t> are in the same state).</a:t>
            </a:r>
            <a:endParaRPr/>
          </a:p>
          <a:p>
            <a:pPr indent="-228600" lvl="0" marL="228600" rtl="0" algn="just">
              <a:lnSpc>
                <a:spcPct val="100000"/>
              </a:lnSpc>
              <a:spcBef>
                <a:spcPts val="0"/>
              </a:spcBef>
              <a:spcAft>
                <a:spcPts val="0"/>
              </a:spcAft>
              <a:buClr>
                <a:schemeClr val="dk1"/>
              </a:buClr>
              <a:buSzPts val="2800"/>
              <a:buChar char="•"/>
            </a:pPr>
            <a:r>
              <a:rPr i="1" lang="en-US"/>
              <a:t>p</a:t>
            </a:r>
            <a:r>
              <a:rPr lang="en-US"/>
              <a:t> is the total number of attributes describing the objects.</a:t>
            </a:r>
            <a:endParaRPr/>
          </a:p>
        </p:txBody>
      </p:sp>
      <p:pic>
        <p:nvPicPr>
          <p:cNvPr id="326" name="Google Shape;326;p34"/>
          <p:cNvPicPr preferRelativeResize="0"/>
          <p:nvPr/>
        </p:nvPicPr>
        <p:blipFill rotWithShape="1">
          <a:blip r:embed="rId3">
            <a:alphaModFix/>
          </a:blip>
          <a:srcRect b="0" l="0" r="0" t="0"/>
          <a:stretch/>
        </p:blipFill>
        <p:spPr>
          <a:xfrm>
            <a:off x="5313679" y="4259580"/>
            <a:ext cx="2748597" cy="11902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5"/>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Nominal Attributes</a:t>
            </a:r>
            <a:endParaRPr sz="4000"/>
          </a:p>
        </p:txBody>
      </p:sp>
      <p:sp>
        <p:nvSpPr>
          <p:cNvPr id="332" name="Google Shape;332;p35"/>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The </a:t>
            </a:r>
            <a:r>
              <a:rPr b="1" lang="en-US"/>
              <a:t>dissimilarity between two objects </a:t>
            </a:r>
            <a:r>
              <a:rPr i="1" lang="en-US"/>
              <a:t>i</a:t>
            </a:r>
            <a:r>
              <a:rPr lang="en-US"/>
              <a:t> and </a:t>
            </a:r>
            <a:r>
              <a:rPr i="1" lang="en-US"/>
              <a:t>j</a:t>
            </a:r>
            <a:r>
              <a:rPr lang="en-US"/>
              <a:t> can be computed based on the ratio of mismatches:</a:t>
            </a:r>
            <a:endParaRPr/>
          </a:p>
          <a:p>
            <a:pPr indent="-50800" lvl="0" marL="228600" rtl="0" algn="just">
              <a:lnSpc>
                <a:spcPct val="100000"/>
              </a:lnSpc>
              <a:spcBef>
                <a:spcPts val="0"/>
              </a:spcBef>
              <a:spcAft>
                <a:spcPts val="0"/>
              </a:spcAft>
              <a:buClr>
                <a:schemeClr val="dk1"/>
              </a:buClr>
              <a:buSzPts val="2800"/>
              <a:buNone/>
            </a:pPr>
            <a:r>
              <a:t/>
            </a:r>
            <a:endParaRPr/>
          </a:p>
          <a:p>
            <a:pPr indent="-101600" lvl="0" marL="228600" rtl="0" algn="just">
              <a:lnSpc>
                <a:spcPct val="100000"/>
              </a:lnSpc>
              <a:spcBef>
                <a:spcPts val="0"/>
              </a:spcBef>
              <a:spcAft>
                <a:spcPts val="0"/>
              </a:spcAft>
              <a:buClr>
                <a:schemeClr val="dk1"/>
              </a:buClr>
              <a:buSzPts val="2000"/>
              <a:buNone/>
            </a:pPr>
            <a:r>
              <a:t/>
            </a:r>
            <a:endParaRPr sz="2000"/>
          </a:p>
          <a:p>
            <a:pPr indent="-228600" lvl="0" marL="228600" rtl="0" algn="just">
              <a:lnSpc>
                <a:spcPct val="100000"/>
              </a:lnSpc>
              <a:spcBef>
                <a:spcPts val="0"/>
              </a:spcBef>
              <a:spcAft>
                <a:spcPts val="0"/>
              </a:spcAft>
              <a:buClr>
                <a:schemeClr val="dk1"/>
              </a:buClr>
              <a:buSzPts val="2800"/>
              <a:buChar char="•"/>
            </a:pPr>
            <a:r>
              <a:rPr lang="en-US"/>
              <a:t>where m is the number of matches (i.e., the number of attributes for which </a:t>
            </a:r>
            <a:r>
              <a:rPr i="1" lang="en-US"/>
              <a:t>i</a:t>
            </a:r>
            <a:r>
              <a:rPr lang="en-US"/>
              <a:t> and </a:t>
            </a:r>
            <a:r>
              <a:rPr i="1" lang="en-US"/>
              <a:t>j</a:t>
            </a:r>
            <a:r>
              <a:rPr lang="en-US"/>
              <a:t> are in the same state).</a:t>
            </a:r>
            <a:endParaRPr/>
          </a:p>
          <a:p>
            <a:pPr indent="-228600" lvl="0" marL="228600" rtl="0" algn="just">
              <a:lnSpc>
                <a:spcPct val="100000"/>
              </a:lnSpc>
              <a:spcBef>
                <a:spcPts val="0"/>
              </a:spcBef>
              <a:spcAft>
                <a:spcPts val="0"/>
              </a:spcAft>
              <a:buClr>
                <a:schemeClr val="dk1"/>
              </a:buClr>
              <a:buSzPts val="2800"/>
              <a:buChar char="•"/>
            </a:pPr>
            <a:r>
              <a:rPr i="1" lang="en-US"/>
              <a:t>p</a:t>
            </a:r>
            <a:r>
              <a:rPr lang="en-US"/>
              <a:t> is the total number of attributes describing the objects.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we set p = 1;</a:t>
            </a:r>
            <a:endParaRPr/>
          </a:p>
        </p:txBody>
      </p:sp>
      <p:pic>
        <p:nvPicPr>
          <p:cNvPr id="333" name="Google Shape;333;p35"/>
          <p:cNvPicPr preferRelativeResize="0"/>
          <p:nvPr/>
        </p:nvPicPr>
        <p:blipFill rotWithShape="1">
          <a:blip r:embed="rId3">
            <a:alphaModFix/>
          </a:blip>
          <a:srcRect b="0" l="0" r="0" t="0"/>
          <a:stretch/>
        </p:blipFill>
        <p:spPr>
          <a:xfrm>
            <a:off x="5750559" y="1303020"/>
            <a:ext cx="2748597" cy="1190276"/>
          </a:xfrm>
          <a:prstGeom prst="rect">
            <a:avLst/>
          </a:prstGeom>
          <a:noFill/>
          <a:ln>
            <a:noFill/>
          </a:ln>
        </p:spPr>
      </p:pic>
      <p:pic>
        <p:nvPicPr>
          <p:cNvPr id="334" name="Google Shape;334;p35"/>
          <p:cNvPicPr preferRelativeResize="0"/>
          <p:nvPr/>
        </p:nvPicPr>
        <p:blipFill rotWithShape="1">
          <a:blip r:embed="rId4">
            <a:alphaModFix/>
          </a:blip>
          <a:srcRect b="0" l="0" r="0" t="0"/>
          <a:stretch/>
        </p:blipFill>
        <p:spPr>
          <a:xfrm>
            <a:off x="6965874" y="3806160"/>
            <a:ext cx="5110012" cy="2259360"/>
          </a:xfrm>
          <a:prstGeom prst="rect">
            <a:avLst/>
          </a:prstGeom>
          <a:noFill/>
          <a:ln>
            <a:noFill/>
          </a:ln>
        </p:spPr>
      </p:pic>
      <p:pic>
        <p:nvPicPr>
          <p:cNvPr id="335" name="Google Shape;335;p35"/>
          <p:cNvPicPr preferRelativeResize="0"/>
          <p:nvPr/>
        </p:nvPicPr>
        <p:blipFill rotWithShape="1">
          <a:blip r:embed="rId5">
            <a:alphaModFix/>
          </a:blip>
          <a:srcRect b="0" l="0" r="0" t="0"/>
          <a:stretch/>
        </p:blipFill>
        <p:spPr>
          <a:xfrm>
            <a:off x="203200" y="3747182"/>
            <a:ext cx="4256320" cy="198305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6"/>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Nominal Attributes</a:t>
            </a:r>
            <a:endParaRPr sz="4000"/>
          </a:p>
        </p:txBody>
      </p:sp>
      <p:sp>
        <p:nvSpPr>
          <p:cNvPr id="341" name="Google Shape;341;p36"/>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The </a:t>
            </a:r>
            <a:r>
              <a:rPr b="1" lang="en-US"/>
              <a:t>dissimilarity between two objects </a:t>
            </a:r>
            <a:r>
              <a:rPr lang="en-US"/>
              <a:t>i and j can be computed based on the ratio of mismatches:</a:t>
            </a:r>
            <a:endParaRPr/>
          </a:p>
          <a:p>
            <a:pPr indent="-50800" lvl="0" marL="228600" rtl="0" algn="just">
              <a:lnSpc>
                <a:spcPct val="100000"/>
              </a:lnSpc>
              <a:spcBef>
                <a:spcPts val="0"/>
              </a:spcBef>
              <a:spcAft>
                <a:spcPts val="0"/>
              </a:spcAft>
              <a:buClr>
                <a:schemeClr val="dk1"/>
              </a:buClr>
              <a:buSzPts val="2800"/>
              <a:buNone/>
            </a:pPr>
            <a:r>
              <a:t/>
            </a:r>
            <a:endParaRPr/>
          </a:p>
          <a:p>
            <a:pPr indent="-101600" lvl="0" marL="228600" rtl="0" algn="just">
              <a:lnSpc>
                <a:spcPct val="100000"/>
              </a:lnSpc>
              <a:spcBef>
                <a:spcPts val="0"/>
              </a:spcBef>
              <a:spcAft>
                <a:spcPts val="0"/>
              </a:spcAft>
              <a:buClr>
                <a:schemeClr val="dk1"/>
              </a:buClr>
              <a:buSzPts val="2000"/>
              <a:buNone/>
            </a:pPr>
            <a:r>
              <a:t/>
            </a:r>
            <a:endParaRPr sz="2000"/>
          </a:p>
          <a:p>
            <a:pPr indent="-228600" lvl="0" marL="228600" rtl="0" algn="just">
              <a:lnSpc>
                <a:spcPct val="100000"/>
              </a:lnSpc>
              <a:spcBef>
                <a:spcPts val="0"/>
              </a:spcBef>
              <a:spcAft>
                <a:spcPts val="0"/>
              </a:spcAft>
              <a:buClr>
                <a:schemeClr val="dk1"/>
              </a:buClr>
              <a:buSzPts val="2800"/>
              <a:buChar char="•"/>
            </a:pPr>
            <a:r>
              <a:rPr lang="en-US"/>
              <a:t>where m is the number of matches (i.e., the number of attributes for which i and j are in the same state).</a:t>
            </a:r>
            <a:endParaRPr/>
          </a:p>
          <a:p>
            <a:pPr indent="-228600" lvl="0" marL="228600" rtl="0" algn="just">
              <a:lnSpc>
                <a:spcPct val="100000"/>
              </a:lnSpc>
              <a:spcBef>
                <a:spcPts val="0"/>
              </a:spcBef>
              <a:spcAft>
                <a:spcPts val="0"/>
              </a:spcAft>
              <a:buClr>
                <a:schemeClr val="dk1"/>
              </a:buClr>
              <a:buSzPts val="2800"/>
              <a:buChar char="•"/>
            </a:pPr>
            <a:r>
              <a:rPr lang="en-US"/>
              <a:t>p is the total number of attributes describing the objects.</a:t>
            </a:r>
            <a:endParaRPr/>
          </a:p>
        </p:txBody>
      </p:sp>
      <p:pic>
        <p:nvPicPr>
          <p:cNvPr id="342" name="Google Shape;342;p36"/>
          <p:cNvPicPr preferRelativeResize="0"/>
          <p:nvPr/>
        </p:nvPicPr>
        <p:blipFill rotWithShape="1">
          <a:blip r:embed="rId3">
            <a:alphaModFix/>
          </a:blip>
          <a:srcRect b="0" l="0" r="0" t="0"/>
          <a:stretch/>
        </p:blipFill>
        <p:spPr>
          <a:xfrm>
            <a:off x="5750559" y="1303020"/>
            <a:ext cx="2748597" cy="1190276"/>
          </a:xfrm>
          <a:prstGeom prst="rect">
            <a:avLst/>
          </a:prstGeom>
          <a:noFill/>
          <a:ln>
            <a:noFill/>
          </a:ln>
        </p:spPr>
      </p:pic>
      <p:pic>
        <p:nvPicPr>
          <p:cNvPr id="343" name="Google Shape;343;p36"/>
          <p:cNvPicPr preferRelativeResize="0"/>
          <p:nvPr/>
        </p:nvPicPr>
        <p:blipFill rotWithShape="1">
          <a:blip r:embed="rId4">
            <a:alphaModFix/>
          </a:blip>
          <a:srcRect b="0" l="0" r="0" t="0"/>
          <a:stretch/>
        </p:blipFill>
        <p:spPr>
          <a:xfrm>
            <a:off x="6965874" y="3806160"/>
            <a:ext cx="5110012" cy="2259360"/>
          </a:xfrm>
          <a:prstGeom prst="rect">
            <a:avLst/>
          </a:prstGeom>
          <a:noFill/>
          <a:ln>
            <a:noFill/>
          </a:ln>
        </p:spPr>
      </p:pic>
      <p:pic>
        <p:nvPicPr>
          <p:cNvPr id="344" name="Google Shape;344;p36"/>
          <p:cNvPicPr preferRelativeResize="0"/>
          <p:nvPr/>
        </p:nvPicPr>
        <p:blipFill rotWithShape="1">
          <a:blip r:embed="rId5">
            <a:alphaModFix/>
          </a:blip>
          <a:srcRect b="0" l="0" r="0" t="0"/>
          <a:stretch/>
        </p:blipFill>
        <p:spPr>
          <a:xfrm>
            <a:off x="203200" y="3747182"/>
            <a:ext cx="4256320" cy="1983058"/>
          </a:xfrm>
          <a:prstGeom prst="rect">
            <a:avLst/>
          </a:prstGeom>
          <a:noFill/>
          <a:ln>
            <a:noFill/>
          </a:ln>
        </p:spPr>
      </p:pic>
      <p:pic>
        <p:nvPicPr>
          <p:cNvPr id="345" name="Google Shape;345;p36"/>
          <p:cNvPicPr preferRelativeResize="0"/>
          <p:nvPr/>
        </p:nvPicPr>
        <p:blipFill rotWithShape="1">
          <a:blip r:embed="rId6">
            <a:alphaModFix/>
          </a:blip>
          <a:srcRect b="0" l="0" r="0" t="0"/>
          <a:stretch/>
        </p:blipFill>
        <p:spPr>
          <a:xfrm>
            <a:off x="4591800" y="3806160"/>
            <a:ext cx="2317517" cy="216301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7"/>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Nominal Attributes</a:t>
            </a:r>
            <a:endParaRPr sz="4000"/>
          </a:p>
        </p:txBody>
      </p:sp>
      <p:sp>
        <p:nvSpPr>
          <p:cNvPr id="351" name="Google Shape;351;p37"/>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The similarity can be computed as:</a:t>
            </a:r>
            <a:endParaRPr/>
          </a:p>
          <a:p>
            <a:pPr indent="-50800" lvl="0" marL="228600" rtl="0" algn="just">
              <a:lnSpc>
                <a:spcPct val="100000"/>
              </a:lnSpc>
              <a:spcBef>
                <a:spcPts val="0"/>
              </a:spcBef>
              <a:spcAft>
                <a:spcPts val="0"/>
              </a:spcAft>
              <a:buClr>
                <a:schemeClr val="dk1"/>
              </a:buClr>
              <a:buSzPts val="2800"/>
              <a:buNone/>
            </a:pPr>
            <a:r>
              <a:t/>
            </a:r>
            <a:endParaRPr/>
          </a:p>
          <a:p>
            <a:pPr indent="-101600" lvl="0" marL="228600" rtl="0" algn="just">
              <a:lnSpc>
                <a:spcPct val="100000"/>
              </a:lnSpc>
              <a:spcBef>
                <a:spcPts val="0"/>
              </a:spcBef>
              <a:spcAft>
                <a:spcPts val="0"/>
              </a:spcAft>
              <a:buClr>
                <a:schemeClr val="dk1"/>
              </a:buClr>
              <a:buSzPts val="2000"/>
              <a:buNone/>
            </a:pPr>
            <a:r>
              <a:t/>
            </a:r>
            <a:endParaRPr sz="2000"/>
          </a:p>
          <a:p>
            <a:pPr indent="-228600" lvl="0" marL="228600" rtl="0" algn="just">
              <a:lnSpc>
                <a:spcPct val="100000"/>
              </a:lnSpc>
              <a:spcBef>
                <a:spcPts val="0"/>
              </a:spcBef>
              <a:spcAft>
                <a:spcPts val="0"/>
              </a:spcAft>
              <a:buClr>
                <a:schemeClr val="dk1"/>
              </a:buClr>
              <a:buSzPts val="2800"/>
              <a:buChar char="•"/>
            </a:pPr>
            <a:r>
              <a:rPr lang="en-US"/>
              <a:t>where m is the number of matches (i.e., the number of attributes for which i and j are in the same state).</a:t>
            </a:r>
            <a:endParaRPr/>
          </a:p>
          <a:p>
            <a:pPr indent="-228600" lvl="0" marL="228600" rtl="0" algn="just">
              <a:lnSpc>
                <a:spcPct val="100000"/>
              </a:lnSpc>
              <a:spcBef>
                <a:spcPts val="0"/>
              </a:spcBef>
              <a:spcAft>
                <a:spcPts val="0"/>
              </a:spcAft>
              <a:buClr>
                <a:schemeClr val="dk1"/>
              </a:buClr>
              <a:buSzPts val="2800"/>
              <a:buChar char="•"/>
            </a:pPr>
            <a:r>
              <a:rPr lang="en-US"/>
              <a:t>p is the total number of attributes describing the objects.</a:t>
            </a:r>
            <a:endParaRPr/>
          </a:p>
        </p:txBody>
      </p:sp>
      <p:pic>
        <p:nvPicPr>
          <p:cNvPr id="352" name="Google Shape;352;p37"/>
          <p:cNvPicPr preferRelativeResize="0"/>
          <p:nvPr/>
        </p:nvPicPr>
        <p:blipFill rotWithShape="1">
          <a:blip r:embed="rId3">
            <a:alphaModFix/>
          </a:blip>
          <a:srcRect b="0" l="0" r="0" t="0"/>
          <a:stretch/>
        </p:blipFill>
        <p:spPr>
          <a:xfrm>
            <a:off x="6965874" y="3806160"/>
            <a:ext cx="5110012" cy="2259360"/>
          </a:xfrm>
          <a:prstGeom prst="rect">
            <a:avLst/>
          </a:prstGeom>
          <a:noFill/>
          <a:ln>
            <a:noFill/>
          </a:ln>
        </p:spPr>
      </p:pic>
      <p:pic>
        <p:nvPicPr>
          <p:cNvPr id="353" name="Google Shape;353;p37"/>
          <p:cNvPicPr preferRelativeResize="0"/>
          <p:nvPr/>
        </p:nvPicPr>
        <p:blipFill rotWithShape="1">
          <a:blip r:embed="rId4">
            <a:alphaModFix/>
          </a:blip>
          <a:srcRect b="0" l="0" r="0" t="0"/>
          <a:stretch/>
        </p:blipFill>
        <p:spPr>
          <a:xfrm>
            <a:off x="203200" y="3747182"/>
            <a:ext cx="4256320" cy="1983058"/>
          </a:xfrm>
          <a:prstGeom prst="rect">
            <a:avLst/>
          </a:prstGeom>
          <a:noFill/>
          <a:ln>
            <a:noFill/>
          </a:ln>
        </p:spPr>
      </p:pic>
      <p:pic>
        <p:nvPicPr>
          <p:cNvPr id="354" name="Google Shape;354;p37"/>
          <p:cNvPicPr preferRelativeResize="0"/>
          <p:nvPr/>
        </p:nvPicPr>
        <p:blipFill rotWithShape="1">
          <a:blip r:embed="rId5">
            <a:alphaModFix/>
          </a:blip>
          <a:srcRect b="0" l="0" r="0" t="0"/>
          <a:stretch/>
        </p:blipFill>
        <p:spPr>
          <a:xfrm>
            <a:off x="4591800" y="3806160"/>
            <a:ext cx="2317517" cy="2163016"/>
          </a:xfrm>
          <a:prstGeom prst="rect">
            <a:avLst/>
          </a:prstGeom>
          <a:noFill/>
          <a:ln>
            <a:noFill/>
          </a:ln>
        </p:spPr>
      </p:pic>
      <p:pic>
        <p:nvPicPr>
          <p:cNvPr id="355" name="Google Shape;355;p37"/>
          <p:cNvPicPr preferRelativeResize="0"/>
          <p:nvPr/>
        </p:nvPicPr>
        <p:blipFill rotWithShape="1">
          <a:blip r:embed="rId6">
            <a:alphaModFix/>
          </a:blip>
          <a:srcRect b="0" l="0" r="0" t="0"/>
          <a:stretch/>
        </p:blipFill>
        <p:spPr>
          <a:xfrm>
            <a:off x="5750558" y="1178877"/>
            <a:ext cx="4200525" cy="9239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8"/>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Binary Attributes</a:t>
            </a:r>
            <a:endParaRPr sz="4000"/>
          </a:p>
        </p:txBody>
      </p:sp>
      <p:sp>
        <p:nvSpPr>
          <p:cNvPr id="361" name="Google Shape;361;p38"/>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For symmetric binary attributes, each state is equally valuable. </a:t>
            </a:r>
            <a:endParaRPr/>
          </a:p>
          <a:p>
            <a:pPr indent="-228600" lvl="0" marL="228600" rtl="0" algn="just">
              <a:lnSpc>
                <a:spcPct val="100000"/>
              </a:lnSpc>
              <a:spcBef>
                <a:spcPts val="0"/>
              </a:spcBef>
              <a:spcAft>
                <a:spcPts val="0"/>
              </a:spcAft>
              <a:buClr>
                <a:schemeClr val="dk1"/>
              </a:buClr>
              <a:buSzPts val="2800"/>
              <a:buChar char="•"/>
            </a:pPr>
            <a:r>
              <a:rPr lang="en-US"/>
              <a:t>Symmetric binary attributes are thought of as having the same weight, we have the 2 × 2 contingency table:</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Dissimilarity that is based on symmetric binary attributes is called </a:t>
            </a:r>
            <a:r>
              <a:rPr b="1" lang="en-US"/>
              <a:t>symmetric binary dissimilarity</a:t>
            </a:r>
            <a:r>
              <a:rPr lang="en-US"/>
              <a:t>.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p:txBody>
      </p:sp>
      <p:pic>
        <p:nvPicPr>
          <p:cNvPr id="362" name="Google Shape;362;p38"/>
          <p:cNvPicPr preferRelativeResize="0"/>
          <p:nvPr/>
        </p:nvPicPr>
        <p:blipFill rotWithShape="1">
          <a:blip r:embed="rId3">
            <a:alphaModFix/>
          </a:blip>
          <a:srcRect b="0" l="1357" r="1940" t="0"/>
          <a:stretch/>
        </p:blipFill>
        <p:spPr>
          <a:xfrm>
            <a:off x="3246120" y="2182754"/>
            <a:ext cx="6192520" cy="233924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9"/>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Binary Attributes</a:t>
            </a:r>
            <a:endParaRPr sz="4000"/>
          </a:p>
        </p:txBody>
      </p:sp>
      <p:sp>
        <p:nvSpPr>
          <p:cNvPr id="368" name="Google Shape;368;p39"/>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If objects i and j are described by </a:t>
            </a:r>
            <a:r>
              <a:rPr b="1" lang="en-US"/>
              <a:t>symmetric binary attributes</a:t>
            </a:r>
            <a:r>
              <a:rPr lang="en-US"/>
              <a:t>, then the dissimilarity between i and j is: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The dissimilarity based on asymmetric binary attributes is called </a:t>
            </a:r>
            <a:r>
              <a:rPr b="1" lang="en-US"/>
              <a:t>asymmetric binary dissimilarity, </a:t>
            </a:r>
            <a:r>
              <a:rPr lang="en-US"/>
              <a:t>where the number of negative matches, t, is considered unimportant and is thus ignored in the following computation:</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p:txBody>
      </p:sp>
      <p:pic>
        <p:nvPicPr>
          <p:cNvPr id="369" name="Google Shape;369;p39"/>
          <p:cNvPicPr preferRelativeResize="0"/>
          <p:nvPr/>
        </p:nvPicPr>
        <p:blipFill rotWithShape="1">
          <a:blip r:embed="rId3">
            <a:alphaModFix/>
          </a:blip>
          <a:srcRect b="0" l="0" r="0" t="0"/>
          <a:stretch/>
        </p:blipFill>
        <p:spPr>
          <a:xfrm>
            <a:off x="5667079" y="1507218"/>
            <a:ext cx="3757612" cy="1105651"/>
          </a:xfrm>
          <a:prstGeom prst="rect">
            <a:avLst/>
          </a:prstGeom>
          <a:noFill/>
          <a:ln>
            <a:noFill/>
          </a:ln>
        </p:spPr>
      </p:pic>
      <p:pic>
        <p:nvPicPr>
          <p:cNvPr id="370" name="Google Shape;370;p39"/>
          <p:cNvPicPr preferRelativeResize="0"/>
          <p:nvPr/>
        </p:nvPicPr>
        <p:blipFill rotWithShape="1">
          <a:blip r:embed="rId4">
            <a:alphaModFix/>
          </a:blip>
          <a:srcRect b="0" l="0" r="0" t="0"/>
          <a:stretch/>
        </p:blipFill>
        <p:spPr>
          <a:xfrm>
            <a:off x="5667079" y="4564951"/>
            <a:ext cx="2981053" cy="104336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0"/>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Binary Attributes</a:t>
            </a:r>
            <a:endParaRPr sz="4000"/>
          </a:p>
        </p:txBody>
      </p:sp>
      <p:sp>
        <p:nvSpPr>
          <p:cNvPr id="376" name="Google Shape;376;p40"/>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Complementarily, we can measure the difference between two binary attributes based on the notion of similarity instead of dissimilarity. </a:t>
            </a:r>
            <a:endParaRPr/>
          </a:p>
          <a:p>
            <a:pPr indent="-228600" lvl="0" marL="228600" rtl="0" algn="just">
              <a:lnSpc>
                <a:spcPct val="100000"/>
              </a:lnSpc>
              <a:spcBef>
                <a:spcPts val="0"/>
              </a:spcBef>
              <a:spcAft>
                <a:spcPts val="0"/>
              </a:spcAft>
              <a:buClr>
                <a:schemeClr val="dk1"/>
              </a:buClr>
              <a:buSzPts val="2800"/>
              <a:buChar char="•"/>
            </a:pPr>
            <a:r>
              <a:rPr lang="en-US"/>
              <a:t>For example, the asymmetric binary similarity between the objects i and j can be computed as: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The coefficient sim(i, j) is called the Jaccard coefficient.</a:t>
            </a:r>
            <a:endParaRPr/>
          </a:p>
        </p:txBody>
      </p:sp>
      <p:pic>
        <p:nvPicPr>
          <p:cNvPr id="377" name="Google Shape;377;p40"/>
          <p:cNvPicPr preferRelativeResize="0"/>
          <p:nvPr/>
        </p:nvPicPr>
        <p:blipFill rotWithShape="1">
          <a:blip r:embed="rId3">
            <a:alphaModFix/>
          </a:blip>
          <a:srcRect b="0" l="0" r="0" t="0"/>
          <a:stretch/>
        </p:blipFill>
        <p:spPr>
          <a:xfrm>
            <a:off x="4244465" y="2767013"/>
            <a:ext cx="5156710" cy="103282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1"/>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Binary Attributes</a:t>
            </a:r>
            <a:endParaRPr sz="4000"/>
          </a:p>
        </p:txBody>
      </p:sp>
      <p:sp>
        <p:nvSpPr>
          <p:cNvPr id="383" name="Google Shape;383;p41"/>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The dissimilarity based on asymmetric binary attributes is called </a:t>
            </a:r>
            <a:r>
              <a:rPr b="1" lang="en-US"/>
              <a:t>asymmetric binary dissimilarity, </a:t>
            </a:r>
            <a:r>
              <a:rPr lang="en-US"/>
              <a:t>where the number of negative matches, t, is considered unimportant and is thus ignored in the following computation:</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p:txBody>
      </p:sp>
      <p:pic>
        <p:nvPicPr>
          <p:cNvPr id="384" name="Google Shape;384;p41"/>
          <p:cNvPicPr preferRelativeResize="0"/>
          <p:nvPr/>
        </p:nvPicPr>
        <p:blipFill rotWithShape="1">
          <a:blip r:embed="rId3">
            <a:alphaModFix/>
          </a:blip>
          <a:srcRect b="0" l="0" r="0" t="0"/>
          <a:stretch/>
        </p:blipFill>
        <p:spPr>
          <a:xfrm>
            <a:off x="6139543" y="2203897"/>
            <a:ext cx="2981053" cy="1043369"/>
          </a:xfrm>
          <a:prstGeom prst="rect">
            <a:avLst/>
          </a:prstGeom>
          <a:noFill/>
          <a:ln>
            <a:noFill/>
          </a:ln>
        </p:spPr>
      </p:pic>
      <p:pic>
        <p:nvPicPr>
          <p:cNvPr id="385" name="Google Shape;385;p41"/>
          <p:cNvPicPr preferRelativeResize="0"/>
          <p:nvPr/>
        </p:nvPicPr>
        <p:blipFill rotWithShape="1">
          <a:blip r:embed="rId4">
            <a:alphaModFix/>
          </a:blip>
          <a:srcRect b="0" l="0" r="0" t="0"/>
          <a:stretch/>
        </p:blipFill>
        <p:spPr>
          <a:xfrm>
            <a:off x="5164246" y="3804170"/>
            <a:ext cx="6814394" cy="2227897"/>
          </a:xfrm>
          <a:prstGeom prst="rect">
            <a:avLst/>
          </a:prstGeom>
          <a:noFill/>
          <a:ln>
            <a:noFill/>
          </a:ln>
        </p:spPr>
      </p:pic>
      <p:pic>
        <p:nvPicPr>
          <p:cNvPr id="386" name="Google Shape;386;p41"/>
          <p:cNvPicPr preferRelativeResize="0"/>
          <p:nvPr/>
        </p:nvPicPr>
        <p:blipFill rotWithShape="1">
          <a:blip r:embed="rId5">
            <a:alphaModFix/>
          </a:blip>
          <a:srcRect b="0" l="1357" r="1940" t="0"/>
          <a:stretch/>
        </p:blipFill>
        <p:spPr>
          <a:xfrm>
            <a:off x="0" y="2170337"/>
            <a:ext cx="4958080" cy="187293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2"/>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Binary Attributes</a:t>
            </a:r>
            <a:endParaRPr sz="4000"/>
          </a:p>
        </p:txBody>
      </p:sp>
      <p:sp>
        <p:nvSpPr>
          <p:cNvPr id="392" name="Google Shape;392;p42"/>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The dissimilarity based on asymmetric binary attributes is called </a:t>
            </a:r>
            <a:r>
              <a:rPr b="1" lang="en-US"/>
              <a:t>asymmetric binary dissimilarity, </a:t>
            </a:r>
            <a:r>
              <a:rPr lang="en-US"/>
              <a:t>where the number of negative matches, t, is considered unimportant and is thus ignored in the following computation:</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p:txBody>
      </p:sp>
      <p:pic>
        <p:nvPicPr>
          <p:cNvPr id="393" name="Google Shape;393;p42"/>
          <p:cNvPicPr preferRelativeResize="0"/>
          <p:nvPr/>
        </p:nvPicPr>
        <p:blipFill rotWithShape="1">
          <a:blip r:embed="rId3">
            <a:alphaModFix/>
          </a:blip>
          <a:srcRect b="0" l="0" r="0" t="0"/>
          <a:stretch/>
        </p:blipFill>
        <p:spPr>
          <a:xfrm>
            <a:off x="6139543" y="2203897"/>
            <a:ext cx="2981053" cy="1043369"/>
          </a:xfrm>
          <a:prstGeom prst="rect">
            <a:avLst/>
          </a:prstGeom>
          <a:noFill/>
          <a:ln>
            <a:noFill/>
          </a:ln>
        </p:spPr>
      </p:pic>
      <p:pic>
        <p:nvPicPr>
          <p:cNvPr id="394" name="Google Shape;394;p42"/>
          <p:cNvPicPr preferRelativeResize="0"/>
          <p:nvPr/>
        </p:nvPicPr>
        <p:blipFill rotWithShape="1">
          <a:blip r:embed="rId4">
            <a:alphaModFix/>
          </a:blip>
          <a:srcRect b="0" l="0" r="0" t="0"/>
          <a:stretch/>
        </p:blipFill>
        <p:spPr>
          <a:xfrm>
            <a:off x="5164246" y="3804170"/>
            <a:ext cx="6814394" cy="2227897"/>
          </a:xfrm>
          <a:prstGeom prst="rect">
            <a:avLst/>
          </a:prstGeom>
          <a:noFill/>
          <a:ln>
            <a:noFill/>
          </a:ln>
        </p:spPr>
      </p:pic>
      <p:pic>
        <p:nvPicPr>
          <p:cNvPr id="395" name="Google Shape;395;p42"/>
          <p:cNvPicPr preferRelativeResize="0"/>
          <p:nvPr/>
        </p:nvPicPr>
        <p:blipFill rotWithShape="1">
          <a:blip r:embed="rId5">
            <a:alphaModFix/>
          </a:blip>
          <a:srcRect b="0" l="1357" r="1940" t="0"/>
          <a:stretch/>
        </p:blipFill>
        <p:spPr>
          <a:xfrm>
            <a:off x="0" y="2170337"/>
            <a:ext cx="4958080" cy="1872933"/>
          </a:xfrm>
          <a:prstGeom prst="rect">
            <a:avLst/>
          </a:prstGeom>
          <a:noFill/>
          <a:ln>
            <a:noFill/>
          </a:ln>
        </p:spPr>
      </p:pic>
      <p:pic>
        <p:nvPicPr>
          <p:cNvPr id="396" name="Google Shape;396;p42"/>
          <p:cNvPicPr preferRelativeResize="0"/>
          <p:nvPr/>
        </p:nvPicPr>
        <p:blipFill rotWithShape="1">
          <a:blip r:embed="rId6">
            <a:alphaModFix/>
          </a:blip>
          <a:srcRect b="0" l="0" r="0" t="0"/>
          <a:stretch/>
        </p:blipFill>
        <p:spPr>
          <a:xfrm>
            <a:off x="360409" y="4081697"/>
            <a:ext cx="4049032" cy="258047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3"/>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Binary Attributes</a:t>
            </a:r>
            <a:endParaRPr sz="4000"/>
          </a:p>
        </p:txBody>
      </p:sp>
      <p:sp>
        <p:nvSpPr>
          <p:cNvPr id="402" name="Google Shape;402;p43"/>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If objects i and j are described by </a:t>
            </a:r>
            <a:r>
              <a:rPr b="1" lang="en-US"/>
              <a:t>symmetric binary attributes</a:t>
            </a:r>
            <a:r>
              <a:rPr lang="en-US"/>
              <a:t>, then the dissimilarity between i and j is: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p:txBody>
      </p:sp>
      <p:pic>
        <p:nvPicPr>
          <p:cNvPr id="403" name="Google Shape;403;p43"/>
          <p:cNvPicPr preferRelativeResize="0"/>
          <p:nvPr/>
        </p:nvPicPr>
        <p:blipFill rotWithShape="1">
          <a:blip r:embed="rId3">
            <a:alphaModFix/>
          </a:blip>
          <a:srcRect b="0" l="0" r="0" t="0"/>
          <a:stretch/>
        </p:blipFill>
        <p:spPr>
          <a:xfrm>
            <a:off x="5667079" y="1507218"/>
            <a:ext cx="3757612" cy="1105651"/>
          </a:xfrm>
          <a:prstGeom prst="rect">
            <a:avLst/>
          </a:prstGeom>
          <a:noFill/>
          <a:ln>
            <a:noFill/>
          </a:ln>
        </p:spPr>
      </p:pic>
      <p:pic>
        <p:nvPicPr>
          <p:cNvPr id="404" name="Google Shape;404;p43"/>
          <p:cNvPicPr preferRelativeResize="0"/>
          <p:nvPr/>
        </p:nvPicPr>
        <p:blipFill rotWithShape="1">
          <a:blip r:embed="rId4">
            <a:alphaModFix/>
          </a:blip>
          <a:srcRect b="0" l="0" r="0" t="0"/>
          <a:stretch/>
        </p:blipFill>
        <p:spPr>
          <a:xfrm>
            <a:off x="5164246" y="3529850"/>
            <a:ext cx="6814394" cy="2227897"/>
          </a:xfrm>
          <a:prstGeom prst="rect">
            <a:avLst/>
          </a:prstGeom>
          <a:noFill/>
          <a:ln>
            <a:noFill/>
          </a:ln>
        </p:spPr>
      </p:pic>
      <p:pic>
        <p:nvPicPr>
          <p:cNvPr id="405" name="Google Shape;405;p43"/>
          <p:cNvPicPr preferRelativeResize="0"/>
          <p:nvPr/>
        </p:nvPicPr>
        <p:blipFill rotWithShape="1">
          <a:blip r:embed="rId5">
            <a:alphaModFix/>
          </a:blip>
          <a:srcRect b="0" l="1357" r="1940" t="0"/>
          <a:stretch/>
        </p:blipFill>
        <p:spPr>
          <a:xfrm>
            <a:off x="0" y="1896017"/>
            <a:ext cx="4958080" cy="187293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4"/>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Dissimilarity of Numeric Data: Minkowski Distance</a:t>
            </a:r>
            <a:endParaRPr sz="4000"/>
          </a:p>
        </p:txBody>
      </p:sp>
      <p:sp>
        <p:nvSpPr>
          <p:cNvPr id="411" name="Google Shape;411;p44"/>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In some cases, the data are normalized before applying distance calculations. This involves transforming the data to fall within a smaller or common range, such as [−1,1] or [0.0, 1.0]. </a:t>
            </a:r>
            <a:endParaRPr/>
          </a:p>
          <a:p>
            <a:pPr indent="-228600" lvl="0" marL="228600" rtl="0" algn="just">
              <a:lnSpc>
                <a:spcPct val="100000"/>
              </a:lnSpc>
              <a:spcBef>
                <a:spcPts val="0"/>
              </a:spcBef>
              <a:spcAft>
                <a:spcPts val="0"/>
              </a:spcAft>
              <a:buClr>
                <a:schemeClr val="dk1"/>
              </a:buClr>
              <a:buSzPts val="2800"/>
              <a:buChar char="•"/>
            </a:pPr>
            <a:r>
              <a:rPr lang="en-US"/>
              <a:t>Consider a height attribute, for example, which could be measured in either meters or inches. </a:t>
            </a:r>
            <a:endParaRPr/>
          </a:p>
          <a:p>
            <a:pPr indent="-228600" lvl="0" marL="228600" rtl="0" algn="just">
              <a:lnSpc>
                <a:spcPct val="100000"/>
              </a:lnSpc>
              <a:spcBef>
                <a:spcPts val="0"/>
              </a:spcBef>
              <a:spcAft>
                <a:spcPts val="0"/>
              </a:spcAft>
              <a:buClr>
                <a:schemeClr val="dk1"/>
              </a:buClr>
              <a:buSzPts val="2800"/>
              <a:buChar char="•"/>
            </a:pPr>
            <a:r>
              <a:rPr lang="en-US"/>
              <a:t>Normalizing the data attempts to give all attributes an equal weight.</a:t>
            </a:r>
            <a:endParaRPr/>
          </a:p>
          <a:p>
            <a:pPr indent="-228600" lvl="0" marL="228600" rtl="0" algn="just">
              <a:lnSpc>
                <a:spcPct val="100000"/>
              </a:lnSpc>
              <a:spcBef>
                <a:spcPts val="0"/>
              </a:spcBef>
              <a:spcAft>
                <a:spcPts val="0"/>
              </a:spcAft>
              <a:buClr>
                <a:schemeClr val="dk1"/>
              </a:buClr>
              <a:buSzPts val="2800"/>
              <a:buChar char="•"/>
            </a:pPr>
            <a:r>
              <a:rPr lang="en-US"/>
              <a:t>The most popular distance measure is </a:t>
            </a:r>
            <a:r>
              <a:rPr b="1" lang="en-US"/>
              <a:t>Euclidean distance </a:t>
            </a:r>
            <a:r>
              <a:rPr lang="en-US"/>
              <a:t>(i.e., straight line or “as the crow flies”). Let i = (x</a:t>
            </a:r>
            <a:r>
              <a:rPr baseline="-25000" lang="en-US"/>
              <a:t>i1</a:t>
            </a:r>
            <a:r>
              <a:rPr lang="en-US"/>
              <a:t>, x</a:t>
            </a:r>
            <a:r>
              <a:rPr baseline="-25000" lang="en-US"/>
              <a:t>i2</a:t>
            </a:r>
            <a:r>
              <a:rPr lang="en-US"/>
              <a:t>,…, x</a:t>
            </a:r>
            <a:r>
              <a:rPr baseline="-25000" lang="en-US"/>
              <a:t>ip</a:t>
            </a:r>
            <a:r>
              <a:rPr lang="en-US"/>
              <a:t>) and j = (x</a:t>
            </a:r>
            <a:r>
              <a:rPr baseline="-25000" lang="en-US"/>
              <a:t>j1</a:t>
            </a:r>
            <a:r>
              <a:rPr lang="en-US"/>
              <a:t>, x</a:t>
            </a:r>
            <a:r>
              <a:rPr baseline="-25000" lang="en-US"/>
              <a:t>j2</a:t>
            </a:r>
            <a:r>
              <a:rPr lang="en-US"/>
              <a:t>,…, x</a:t>
            </a:r>
            <a:r>
              <a:rPr baseline="-25000" lang="en-US"/>
              <a:t>jp</a:t>
            </a:r>
            <a:r>
              <a:rPr lang="en-US"/>
              <a:t>) be two objects described by </a:t>
            </a:r>
            <a:r>
              <a:rPr b="1" lang="en-US"/>
              <a:t>p numeric attributes</a:t>
            </a:r>
            <a:r>
              <a:rPr lang="en-US"/>
              <a:t>. The </a:t>
            </a:r>
            <a:r>
              <a:rPr b="1" lang="en-US"/>
              <a:t>Euclidean distance </a:t>
            </a:r>
            <a:r>
              <a:rPr lang="en-US"/>
              <a:t>between </a:t>
            </a:r>
            <a:r>
              <a:rPr b="1" lang="en-US"/>
              <a:t>objects i</a:t>
            </a:r>
            <a:r>
              <a:rPr lang="en-US"/>
              <a:t> and </a:t>
            </a:r>
            <a:r>
              <a:rPr b="1" lang="en-US"/>
              <a:t>j</a:t>
            </a:r>
            <a:r>
              <a:rPr lang="en-US"/>
              <a:t> is defined as:</a:t>
            </a:r>
            <a:endParaRPr/>
          </a:p>
        </p:txBody>
      </p:sp>
      <p:pic>
        <p:nvPicPr>
          <p:cNvPr id="412" name="Google Shape;412;p44"/>
          <p:cNvPicPr preferRelativeResize="0"/>
          <p:nvPr/>
        </p:nvPicPr>
        <p:blipFill rotWithShape="1">
          <a:blip r:embed="rId3">
            <a:alphaModFix/>
          </a:blip>
          <a:srcRect b="0" l="0" r="0" t="0"/>
          <a:stretch/>
        </p:blipFill>
        <p:spPr>
          <a:xfrm>
            <a:off x="1442720" y="5251870"/>
            <a:ext cx="9787255" cy="106256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5"/>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Dissimilarity of Numeric Data: Minkowski Distance</a:t>
            </a:r>
            <a:endParaRPr sz="4000"/>
          </a:p>
        </p:txBody>
      </p:sp>
      <p:sp>
        <p:nvSpPr>
          <p:cNvPr id="418" name="Google Shape;418;p45"/>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Another well-known measure is the </a:t>
            </a:r>
            <a:r>
              <a:rPr b="1" lang="en-US"/>
              <a:t>Manhattan</a:t>
            </a:r>
            <a:r>
              <a:rPr lang="en-US"/>
              <a:t> (or city block) distance, named so because it is the distance in blocks between any two points in a city (such as 2 blocks down and 3 blocks over for a total of 5 blocks). It is defined as:</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Both the Euclidean and the Manhattan distance satisfy the following mathematical properties:</a:t>
            </a:r>
            <a:endParaRPr/>
          </a:p>
          <a:p>
            <a:pPr indent="-228600" lvl="0" marL="228600" rtl="0" algn="just">
              <a:lnSpc>
                <a:spcPct val="100000"/>
              </a:lnSpc>
              <a:spcBef>
                <a:spcPts val="0"/>
              </a:spcBef>
              <a:spcAft>
                <a:spcPts val="0"/>
              </a:spcAft>
              <a:buClr>
                <a:schemeClr val="dk1"/>
              </a:buClr>
              <a:buSzPts val="2800"/>
              <a:buChar char="•"/>
            </a:pPr>
            <a:r>
              <a:rPr b="1" lang="en-US"/>
              <a:t>Non-negativity: </a:t>
            </a:r>
            <a:r>
              <a:rPr lang="en-US"/>
              <a:t>d(i, j) ≥ 0: Distance is a non-negative number.</a:t>
            </a:r>
            <a:endParaRPr/>
          </a:p>
          <a:p>
            <a:pPr indent="-228600" lvl="0" marL="228600" rtl="0" algn="just">
              <a:lnSpc>
                <a:spcPct val="100000"/>
              </a:lnSpc>
              <a:spcBef>
                <a:spcPts val="0"/>
              </a:spcBef>
              <a:spcAft>
                <a:spcPts val="0"/>
              </a:spcAft>
              <a:buClr>
                <a:schemeClr val="dk1"/>
              </a:buClr>
              <a:buSzPts val="2800"/>
              <a:buChar char="•"/>
            </a:pPr>
            <a:r>
              <a:rPr b="1" lang="en-US"/>
              <a:t>Identity of indiscernibles: </a:t>
            </a:r>
            <a:r>
              <a:rPr lang="en-US"/>
              <a:t>d(i, i) = 0: The distance of an object to itself is 0.</a:t>
            </a:r>
            <a:endParaRPr/>
          </a:p>
          <a:p>
            <a:pPr indent="-228600" lvl="0" marL="228600" rtl="0" algn="just">
              <a:lnSpc>
                <a:spcPct val="100000"/>
              </a:lnSpc>
              <a:spcBef>
                <a:spcPts val="0"/>
              </a:spcBef>
              <a:spcAft>
                <a:spcPts val="0"/>
              </a:spcAft>
              <a:buClr>
                <a:schemeClr val="dk1"/>
              </a:buClr>
              <a:buSzPts val="2800"/>
              <a:buChar char="•"/>
            </a:pPr>
            <a:r>
              <a:rPr b="1" lang="en-US"/>
              <a:t>Symmetry: </a:t>
            </a:r>
            <a:r>
              <a:rPr lang="en-US"/>
              <a:t>d(i, j) = d(j, i): Distance is a symmetric function.</a:t>
            </a:r>
            <a:endParaRPr/>
          </a:p>
          <a:p>
            <a:pPr indent="-228600" lvl="0" marL="228600" rtl="0" algn="just">
              <a:lnSpc>
                <a:spcPct val="100000"/>
              </a:lnSpc>
              <a:spcBef>
                <a:spcPts val="0"/>
              </a:spcBef>
              <a:spcAft>
                <a:spcPts val="0"/>
              </a:spcAft>
              <a:buClr>
                <a:schemeClr val="dk1"/>
              </a:buClr>
              <a:buSzPts val="2800"/>
              <a:buChar char="•"/>
            </a:pPr>
            <a:r>
              <a:rPr b="1" lang="en-US"/>
              <a:t>Triangle inequality: </a:t>
            </a:r>
            <a:r>
              <a:rPr lang="en-US"/>
              <a:t>d(i, j) ≤ d(i, k) + d(k, j): Going directly from object i to object j in space is no more than making a detour over any other object k.</a:t>
            </a:r>
            <a:endParaRPr/>
          </a:p>
        </p:txBody>
      </p:sp>
      <p:pic>
        <p:nvPicPr>
          <p:cNvPr id="419" name="Google Shape;419;p45"/>
          <p:cNvPicPr preferRelativeResize="0"/>
          <p:nvPr/>
        </p:nvPicPr>
        <p:blipFill rotWithShape="1">
          <a:blip r:embed="rId3">
            <a:alphaModFix/>
          </a:blip>
          <a:srcRect b="0" l="0" r="0" t="0"/>
          <a:stretch/>
        </p:blipFill>
        <p:spPr>
          <a:xfrm>
            <a:off x="2844799" y="2212022"/>
            <a:ext cx="9049385" cy="76140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6"/>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Dissimilarity of Numeric Data: Minkowski Distance</a:t>
            </a:r>
            <a:endParaRPr sz="4000"/>
          </a:p>
        </p:txBody>
      </p:sp>
      <p:sp>
        <p:nvSpPr>
          <p:cNvPr id="425" name="Google Shape;425;p46"/>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measure that satisfies these conditions is known as </a:t>
            </a:r>
            <a:r>
              <a:rPr b="1" lang="en-US"/>
              <a:t>metric</a:t>
            </a:r>
            <a:r>
              <a:rPr lang="en-US"/>
              <a:t>. Please note that the non-negativity property is implied by the other three properties.</a:t>
            </a:r>
            <a:endParaRPr/>
          </a:p>
          <a:p>
            <a:pPr indent="-228600" lvl="0" marL="228600" rtl="0" algn="just">
              <a:lnSpc>
                <a:spcPct val="100000"/>
              </a:lnSpc>
              <a:spcBef>
                <a:spcPts val="0"/>
              </a:spcBef>
              <a:spcAft>
                <a:spcPts val="0"/>
              </a:spcAft>
              <a:buClr>
                <a:schemeClr val="dk1"/>
              </a:buClr>
              <a:buSzPts val="2800"/>
              <a:buChar char="•"/>
            </a:pPr>
            <a:r>
              <a:rPr b="1" lang="en-US"/>
              <a:t>Minkowski</a:t>
            </a:r>
            <a:r>
              <a:rPr lang="en-US"/>
              <a:t> distance is a generalization of the Euclidean and Manhattan distances. It is defined as: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where h is a real number such that h ≥ 1. (Such a distance is also called L</a:t>
            </a:r>
            <a:r>
              <a:rPr baseline="-25000" lang="en-US"/>
              <a:t>p</a:t>
            </a:r>
            <a:r>
              <a:rPr lang="en-US"/>
              <a:t> norm in some literature. </a:t>
            </a:r>
            <a:endParaRPr/>
          </a:p>
          <a:p>
            <a:pPr indent="-228600" lvl="0" marL="228600" rtl="0" algn="just">
              <a:lnSpc>
                <a:spcPct val="100000"/>
              </a:lnSpc>
              <a:spcBef>
                <a:spcPts val="0"/>
              </a:spcBef>
              <a:spcAft>
                <a:spcPts val="0"/>
              </a:spcAft>
              <a:buClr>
                <a:schemeClr val="dk1"/>
              </a:buClr>
              <a:buSzPts val="2800"/>
              <a:buChar char="•"/>
            </a:pPr>
            <a:r>
              <a:rPr b="1" lang="en-US"/>
              <a:t>Minkowski</a:t>
            </a:r>
            <a:r>
              <a:rPr lang="en-US"/>
              <a:t> distance represents the Manhattan distance when h = 1 (i.e., L</a:t>
            </a:r>
            <a:r>
              <a:rPr baseline="-25000" lang="en-US"/>
              <a:t>1</a:t>
            </a:r>
            <a:r>
              <a:rPr lang="en-US"/>
              <a:t> norm) and Euclidean distance when h = 2 (i.e., L</a:t>
            </a:r>
            <a:r>
              <a:rPr baseline="-25000" lang="en-US"/>
              <a:t>2</a:t>
            </a:r>
            <a:r>
              <a:rPr lang="en-US"/>
              <a:t> norm).</a:t>
            </a:r>
            <a:endParaRPr/>
          </a:p>
        </p:txBody>
      </p:sp>
      <p:pic>
        <p:nvPicPr>
          <p:cNvPr id="426" name="Google Shape;426;p46"/>
          <p:cNvPicPr preferRelativeResize="0"/>
          <p:nvPr/>
        </p:nvPicPr>
        <p:blipFill rotWithShape="1">
          <a:blip r:embed="rId3">
            <a:alphaModFix/>
          </a:blip>
          <a:srcRect b="0" l="0" r="733" t="0"/>
          <a:stretch/>
        </p:blipFill>
        <p:spPr>
          <a:xfrm>
            <a:off x="1853383" y="2956719"/>
            <a:ext cx="8475074" cy="94456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7"/>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Dissimilarity of Numeric Data: Minkowski Distance</a:t>
            </a:r>
            <a:endParaRPr sz="4000"/>
          </a:p>
        </p:txBody>
      </p:sp>
      <p:sp>
        <p:nvSpPr>
          <p:cNvPr id="432" name="Google Shape;432;p47"/>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If each attribute is assigned a weight according to its perceived importance, the </a:t>
            </a:r>
            <a:r>
              <a:rPr b="1" lang="en-US"/>
              <a:t>weighted Euclidean distance </a:t>
            </a:r>
            <a:r>
              <a:rPr lang="en-US"/>
              <a:t>can be computed as:</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b="1"/>
          </a:p>
          <a:p>
            <a:pPr indent="-228600" lvl="0" marL="228600" rtl="0" algn="just">
              <a:lnSpc>
                <a:spcPct val="100000"/>
              </a:lnSpc>
              <a:spcBef>
                <a:spcPts val="0"/>
              </a:spcBef>
              <a:spcAft>
                <a:spcPts val="0"/>
              </a:spcAft>
              <a:buClr>
                <a:schemeClr val="dk1"/>
              </a:buClr>
              <a:buSzPts val="2800"/>
              <a:buChar char="•"/>
            </a:pPr>
            <a:r>
              <a:rPr lang="en-US"/>
              <a:t>Weighting can also be applied to other distance measures as well.</a:t>
            </a:r>
            <a:endParaRPr/>
          </a:p>
          <a:p>
            <a:pPr indent="-228600" lvl="0" marL="228600" rtl="0" algn="just">
              <a:lnSpc>
                <a:spcPct val="100000"/>
              </a:lnSpc>
              <a:spcBef>
                <a:spcPts val="0"/>
              </a:spcBef>
              <a:spcAft>
                <a:spcPts val="0"/>
              </a:spcAft>
              <a:buClr>
                <a:schemeClr val="dk1"/>
              </a:buClr>
              <a:buSzPts val="2800"/>
              <a:buChar char="•"/>
            </a:pPr>
            <a:r>
              <a:rPr lang="en-US"/>
              <a:t>The supremum distance (also referred to as L</a:t>
            </a:r>
            <a:r>
              <a:rPr baseline="-25000" lang="en-US"/>
              <a:t>max</a:t>
            </a:r>
            <a:r>
              <a:rPr lang="en-US"/>
              <a:t>, L</a:t>
            </a:r>
            <a:r>
              <a:rPr baseline="-25000" lang="en-US"/>
              <a:t>∞norm</a:t>
            </a:r>
            <a:r>
              <a:rPr lang="en-US"/>
              <a:t> and as the </a:t>
            </a:r>
            <a:r>
              <a:rPr b="1" lang="en-US"/>
              <a:t>Chebyshev</a:t>
            </a:r>
            <a:r>
              <a:rPr lang="en-US"/>
              <a:t> distance) is a generalization of the Minkowski distance for </a:t>
            </a:r>
            <a:endParaRPr/>
          </a:p>
          <a:p>
            <a:pPr indent="0" lvl="0" marL="0" rtl="0" algn="just">
              <a:lnSpc>
                <a:spcPct val="100000"/>
              </a:lnSpc>
              <a:spcBef>
                <a:spcPts val="0"/>
              </a:spcBef>
              <a:spcAft>
                <a:spcPts val="0"/>
              </a:spcAft>
              <a:buClr>
                <a:schemeClr val="dk1"/>
              </a:buClr>
              <a:buSzPts val="2800"/>
              <a:buNone/>
            </a:pPr>
            <a:r>
              <a:rPr lang="en-US"/>
              <a:t>   h → ∞.</a:t>
            </a:r>
            <a:endParaRPr/>
          </a:p>
          <a:p>
            <a:pPr indent="-158750" lvl="0" marL="228600" rtl="0" algn="just">
              <a:lnSpc>
                <a:spcPct val="100000"/>
              </a:lnSpc>
              <a:spcBef>
                <a:spcPts val="0"/>
              </a:spcBef>
              <a:spcAft>
                <a:spcPts val="0"/>
              </a:spcAft>
              <a:buClr>
                <a:schemeClr val="dk1"/>
              </a:buClr>
              <a:buSzPts val="1100"/>
              <a:buNone/>
            </a:pPr>
            <a:r>
              <a:t/>
            </a:r>
            <a:endParaRPr b="1" sz="1100"/>
          </a:p>
          <a:p>
            <a:pPr indent="-228600" lvl="0" marL="228600" rtl="0" algn="just">
              <a:lnSpc>
                <a:spcPct val="100000"/>
              </a:lnSpc>
              <a:spcBef>
                <a:spcPts val="0"/>
              </a:spcBef>
              <a:spcAft>
                <a:spcPts val="0"/>
              </a:spcAft>
              <a:buClr>
                <a:schemeClr val="dk1"/>
              </a:buClr>
              <a:buSzPts val="2800"/>
              <a:buChar char="•"/>
            </a:pPr>
            <a:r>
              <a:rPr b="1" lang="en-US"/>
              <a:t>Euclidean, Manhattan </a:t>
            </a:r>
            <a:r>
              <a:rPr lang="en-US"/>
              <a:t>and</a:t>
            </a:r>
            <a:r>
              <a:rPr b="1" lang="en-US"/>
              <a:t> Minkowski </a:t>
            </a:r>
            <a:r>
              <a:rPr lang="en-US"/>
              <a:t>distance measures are commonly used for computing the dissimilarity of objects described by numeric attributes. </a:t>
            </a:r>
            <a:endParaRPr/>
          </a:p>
        </p:txBody>
      </p:sp>
      <p:pic>
        <p:nvPicPr>
          <p:cNvPr id="433" name="Google Shape;433;p47"/>
          <p:cNvPicPr preferRelativeResize="0"/>
          <p:nvPr/>
        </p:nvPicPr>
        <p:blipFill rotWithShape="1">
          <a:blip r:embed="rId3">
            <a:alphaModFix/>
          </a:blip>
          <a:srcRect b="0" l="0" r="0" t="0"/>
          <a:stretch/>
        </p:blipFill>
        <p:spPr>
          <a:xfrm>
            <a:off x="1371600" y="1753461"/>
            <a:ext cx="9712960" cy="108902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8"/>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Dissimilarity of Numeric Data: Minkowski Distance</a:t>
            </a:r>
            <a:endParaRPr sz="4000"/>
          </a:p>
        </p:txBody>
      </p:sp>
      <p:sp>
        <p:nvSpPr>
          <p:cNvPr id="439" name="Google Shape;439;p48"/>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b="1" lang="en-US"/>
              <a:t>Euclidean, </a:t>
            </a:r>
            <a:r>
              <a:rPr lang="en-US"/>
              <a:t>and</a:t>
            </a:r>
            <a:r>
              <a:rPr b="1" lang="en-US"/>
              <a:t> Manhattan </a:t>
            </a:r>
            <a:r>
              <a:rPr lang="en-US"/>
              <a:t>distance:</a:t>
            </a:r>
            <a:endParaRPr/>
          </a:p>
        </p:txBody>
      </p:sp>
      <p:pic>
        <p:nvPicPr>
          <p:cNvPr id="440" name="Google Shape;440;p48"/>
          <p:cNvPicPr preferRelativeResize="0"/>
          <p:nvPr/>
        </p:nvPicPr>
        <p:blipFill rotWithShape="1">
          <a:blip r:embed="rId3">
            <a:alphaModFix/>
          </a:blip>
          <a:srcRect b="0" l="0" r="0" t="0"/>
          <a:stretch/>
        </p:blipFill>
        <p:spPr>
          <a:xfrm>
            <a:off x="1625600" y="1259889"/>
            <a:ext cx="8806089" cy="956047"/>
          </a:xfrm>
          <a:prstGeom prst="rect">
            <a:avLst/>
          </a:prstGeom>
          <a:noFill/>
          <a:ln>
            <a:noFill/>
          </a:ln>
        </p:spPr>
      </p:pic>
      <p:pic>
        <p:nvPicPr>
          <p:cNvPr id="441" name="Google Shape;441;p48"/>
          <p:cNvPicPr preferRelativeResize="0"/>
          <p:nvPr/>
        </p:nvPicPr>
        <p:blipFill rotWithShape="1">
          <a:blip r:embed="rId4">
            <a:alphaModFix/>
          </a:blip>
          <a:srcRect b="0" l="0" r="0" t="0"/>
          <a:stretch/>
        </p:blipFill>
        <p:spPr>
          <a:xfrm>
            <a:off x="1889759" y="2293303"/>
            <a:ext cx="8341361" cy="701836"/>
          </a:xfrm>
          <a:prstGeom prst="rect">
            <a:avLst/>
          </a:prstGeom>
          <a:noFill/>
          <a:ln>
            <a:noFill/>
          </a:ln>
        </p:spPr>
      </p:pic>
      <p:pic>
        <p:nvPicPr>
          <p:cNvPr id="442" name="Google Shape;442;p48"/>
          <p:cNvPicPr preferRelativeResize="0"/>
          <p:nvPr/>
        </p:nvPicPr>
        <p:blipFill rotWithShape="1">
          <a:blip r:embed="rId5">
            <a:alphaModFix/>
          </a:blip>
          <a:srcRect b="0" l="0" r="0" t="0"/>
          <a:stretch/>
        </p:blipFill>
        <p:spPr>
          <a:xfrm>
            <a:off x="4714240" y="3082981"/>
            <a:ext cx="4216400" cy="335994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Ordinal Attributes</a:t>
            </a:r>
            <a:endParaRPr sz="4000"/>
          </a:p>
        </p:txBody>
      </p:sp>
      <p:sp>
        <p:nvSpPr>
          <p:cNvPr id="448" name="Google Shape;448;p49"/>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The treatment of ordinal attributes is quite similar to that of numeric attributes when computing dissimilarity between objects. Suppose that f is an attribute from a set of ordinal attributes describing n objects. The dissimilarity computation with respect to f involves the following steps:</a:t>
            </a:r>
            <a:endParaRPr/>
          </a:p>
          <a:p>
            <a:pPr indent="-366713" lvl="1" marL="630238" rtl="0" algn="just">
              <a:lnSpc>
                <a:spcPct val="100000"/>
              </a:lnSpc>
              <a:spcBef>
                <a:spcPts val="0"/>
              </a:spcBef>
              <a:spcAft>
                <a:spcPts val="0"/>
              </a:spcAft>
              <a:buClr>
                <a:schemeClr val="dk1"/>
              </a:buClr>
              <a:buSzPts val="2800"/>
              <a:buFont typeface="Calibri"/>
              <a:buAutoNum type="arabicParenR"/>
            </a:pPr>
            <a:r>
              <a:rPr lang="en-US" sz="2800"/>
              <a:t>The value of f for the ith object is x</a:t>
            </a:r>
            <a:r>
              <a:rPr baseline="-25000" lang="en-US" sz="2800"/>
              <a:t>if</a:t>
            </a:r>
            <a:r>
              <a:rPr lang="en-US" sz="2800"/>
              <a:t> , and f has M</a:t>
            </a:r>
            <a:r>
              <a:rPr baseline="-25000" lang="en-US" sz="2800"/>
              <a:t>f</a:t>
            </a:r>
            <a:r>
              <a:rPr lang="en-US" sz="2800"/>
              <a:t> ordered states, representing the ranking 1,…,M</a:t>
            </a:r>
            <a:r>
              <a:rPr baseline="-25000" lang="en-US" sz="2800"/>
              <a:t>f</a:t>
            </a:r>
            <a:r>
              <a:rPr lang="en-US" sz="2800"/>
              <a:t>. Replace each x</a:t>
            </a:r>
            <a:r>
              <a:rPr baseline="-25000" lang="en-US" sz="2800"/>
              <a:t>if</a:t>
            </a:r>
            <a:r>
              <a:rPr lang="en-US" sz="2800"/>
              <a:t> by its corresponding rank, r</a:t>
            </a:r>
            <a:r>
              <a:rPr baseline="-25000" lang="en-US" sz="2800"/>
              <a:t>if</a:t>
            </a:r>
            <a:r>
              <a:rPr lang="en-US" sz="2800"/>
              <a:t> </a:t>
            </a:r>
            <a:r>
              <a:rPr lang="en-US"/>
              <a:t>∈</a:t>
            </a:r>
            <a:r>
              <a:rPr lang="en-US" sz="2800"/>
              <a:t> {1,…, M</a:t>
            </a:r>
            <a:r>
              <a:rPr baseline="-25000" lang="en-US" sz="2800"/>
              <a:t>f</a:t>
            </a:r>
            <a:r>
              <a:rPr lang="en-US" sz="2800"/>
              <a:t>}. </a:t>
            </a:r>
            <a:endParaRPr/>
          </a:p>
          <a:p>
            <a:pPr indent="-366713" lvl="1" marL="630238" rtl="0" algn="just">
              <a:lnSpc>
                <a:spcPct val="100000"/>
              </a:lnSpc>
              <a:spcBef>
                <a:spcPts val="0"/>
              </a:spcBef>
              <a:spcAft>
                <a:spcPts val="0"/>
              </a:spcAft>
              <a:buClr>
                <a:schemeClr val="dk1"/>
              </a:buClr>
              <a:buSzPts val="2800"/>
              <a:buFont typeface="Calibri"/>
              <a:buAutoNum type="arabicParenR"/>
            </a:pPr>
            <a:r>
              <a:rPr lang="en-US" sz="2800"/>
              <a:t>Since each ordinal attribute can have a </a:t>
            </a:r>
            <a:r>
              <a:rPr b="1" lang="en-US" sz="2800"/>
              <a:t>different number of states</a:t>
            </a:r>
            <a:r>
              <a:rPr lang="en-US" sz="2800"/>
              <a:t>, it is often necessary to map the range of each attribute onto [0.0, 1.0] so that each attribute has equal weight. We perform such data normalization by replacing the rank r</a:t>
            </a:r>
            <a:r>
              <a:rPr baseline="-25000" lang="en-US" sz="2800"/>
              <a:t>if</a:t>
            </a:r>
            <a:r>
              <a:rPr lang="en-US" sz="2800"/>
              <a:t> of the i</a:t>
            </a:r>
            <a:r>
              <a:rPr baseline="30000" lang="en-US" sz="2800"/>
              <a:t>th</a:t>
            </a:r>
            <a:r>
              <a:rPr lang="en-US" sz="2800"/>
              <a:t> object in the f</a:t>
            </a:r>
            <a:r>
              <a:rPr baseline="30000" lang="en-US" sz="2800"/>
              <a:t>th</a:t>
            </a:r>
            <a:r>
              <a:rPr lang="en-US" sz="2800"/>
              <a:t> attribute by</a:t>
            </a:r>
            <a:endParaRPr/>
          </a:p>
        </p:txBody>
      </p:sp>
      <p:pic>
        <p:nvPicPr>
          <p:cNvPr id="449" name="Google Shape;449;p49"/>
          <p:cNvPicPr preferRelativeResize="0"/>
          <p:nvPr/>
        </p:nvPicPr>
        <p:blipFill rotWithShape="1">
          <a:blip r:embed="rId3">
            <a:alphaModFix/>
          </a:blip>
          <a:srcRect b="0" l="0" r="0" t="0"/>
          <a:stretch/>
        </p:blipFill>
        <p:spPr>
          <a:xfrm>
            <a:off x="4936033" y="5598160"/>
            <a:ext cx="2516961" cy="124968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0"/>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Ordinal Attributes</a:t>
            </a:r>
            <a:endParaRPr sz="4000"/>
          </a:p>
        </p:txBody>
      </p:sp>
      <p:sp>
        <p:nvSpPr>
          <p:cNvPr id="455" name="Google Shape;455;p50"/>
          <p:cNvSpPr txBox="1"/>
          <p:nvPr>
            <p:ph idx="1" type="body"/>
          </p:nvPr>
        </p:nvSpPr>
        <p:spPr>
          <a:xfrm>
            <a:off x="487680" y="792480"/>
            <a:ext cx="11059886" cy="5909404"/>
          </a:xfrm>
          <a:prstGeom prst="rect">
            <a:avLst/>
          </a:prstGeom>
          <a:noFill/>
          <a:ln>
            <a:noFill/>
          </a:ln>
        </p:spPr>
        <p:txBody>
          <a:bodyPr anchorCtr="0" anchor="t" bIns="45700" lIns="91425" spcFirstLastPara="1" rIns="91425" wrap="square" tIns="45700">
            <a:noAutofit/>
          </a:bodyPr>
          <a:lstStyle/>
          <a:p>
            <a:pPr indent="-514350" lvl="1" marL="777875" rtl="0" algn="just">
              <a:lnSpc>
                <a:spcPct val="100000"/>
              </a:lnSpc>
              <a:spcBef>
                <a:spcPts val="0"/>
              </a:spcBef>
              <a:spcAft>
                <a:spcPts val="0"/>
              </a:spcAft>
              <a:buClr>
                <a:schemeClr val="dk1"/>
              </a:buClr>
              <a:buSzPts val="2800"/>
              <a:buFont typeface="Calibri"/>
              <a:buAutoNum type="arabicParenR" startAt="3"/>
            </a:pPr>
            <a:r>
              <a:rPr lang="en-US" sz="2800"/>
              <a:t>Dissimilarity can then be computed using any of the distance measures described in previous slides for numeric attributes, using z</a:t>
            </a:r>
            <a:r>
              <a:rPr baseline="-25000" lang="en-US" sz="2800"/>
              <a:t>if</a:t>
            </a:r>
            <a:r>
              <a:rPr lang="en-US" sz="2800"/>
              <a:t> to represent the f value for the i</a:t>
            </a:r>
            <a:r>
              <a:rPr baseline="30000" lang="en-US" sz="2800"/>
              <a:t>th</a:t>
            </a:r>
            <a:r>
              <a:rPr lang="en-US" sz="2800"/>
              <a:t> object.</a:t>
            </a:r>
            <a:endParaRPr/>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0" lvl="1" marL="263525" rtl="0" algn="just">
              <a:lnSpc>
                <a:spcPct val="100000"/>
              </a:lnSpc>
              <a:spcBef>
                <a:spcPts val="0"/>
              </a:spcBef>
              <a:spcAft>
                <a:spcPts val="0"/>
              </a:spcAft>
              <a:buClr>
                <a:schemeClr val="dk1"/>
              </a:buClr>
              <a:buSzPts val="2800"/>
              <a:buNone/>
            </a:pPr>
            <a:r>
              <a:t/>
            </a:r>
            <a:endParaRPr sz="2800"/>
          </a:p>
          <a:p>
            <a:pPr indent="-355600" lvl="1" marL="355600" rtl="0" algn="just">
              <a:lnSpc>
                <a:spcPct val="100000"/>
              </a:lnSpc>
              <a:spcBef>
                <a:spcPts val="0"/>
              </a:spcBef>
              <a:spcAft>
                <a:spcPts val="0"/>
              </a:spcAft>
              <a:buClr>
                <a:schemeClr val="dk1"/>
              </a:buClr>
              <a:buSzPts val="2800"/>
              <a:buChar char="•"/>
            </a:pPr>
            <a:r>
              <a:rPr lang="en-US" sz="2800"/>
              <a:t>There are three states for test-2: fair, good, and excellent, that is, M</a:t>
            </a:r>
            <a:r>
              <a:rPr baseline="-25000" lang="en-US" sz="2800"/>
              <a:t>f</a:t>
            </a:r>
            <a:r>
              <a:rPr lang="en-US" sz="2800"/>
              <a:t> = 3. For step 1, if we replace each value for test-2 by its rank, the four objects are assigned the ranks 3, 1, 2, and 3, respectively. </a:t>
            </a:r>
            <a:endParaRPr/>
          </a:p>
          <a:p>
            <a:pPr indent="-355600" lvl="1" marL="355600" rtl="0" algn="just">
              <a:lnSpc>
                <a:spcPct val="100000"/>
              </a:lnSpc>
              <a:spcBef>
                <a:spcPts val="0"/>
              </a:spcBef>
              <a:spcAft>
                <a:spcPts val="0"/>
              </a:spcAft>
              <a:buClr>
                <a:schemeClr val="dk1"/>
              </a:buClr>
              <a:buSzPts val="2800"/>
              <a:buChar char="•"/>
            </a:pPr>
            <a:r>
              <a:rPr lang="en-US" sz="2800"/>
              <a:t>Step 2 normalizes the ranking by mapping rank 1 to 0.0, rank 2 to 0.5, and rank 3 to 1.0.</a:t>
            </a:r>
            <a:endParaRPr/>
          </a:p>
          <a:p>
            <a:pPr indent="-336550" lvl="1" marL="777875" rtl="0" algn="just">
              <a:lnSpc>
                <a:spcPct val="100000"/>
              </a:lnSpc>
              <a:spcBef>
                <a:spcPts val="0"/>
              </a:spcBef>
              <a:spcAft>
                <a:spcPts val="0"/>
              </a:spcAft>
              <a:buClr>
                <a:schemeClr val="dk1"/>
              </a:buClr>
              <a:buSzPts val="2800"/>
              <a:buFont typeface="Calibri"/>
              <a:buNone/>
            </a:pPr>
            <a:r>
              <a:t/>
            </a:r>
            <a:endParaRPr sz="2800"/>
          </a:p>
          <a:p>
            <a:pPr indent="0" lvl="1" marL="263525" rtl="0" algn="just">
              <a:lnSpc>
                <a:spcPct val="100000"/>
              </a:lnSpc>
              <a:spcBef>
                <a:spcPts val="0"/>
              </a:spcBef>
              <a:spcAft>
                <a:spcPts val="0"/>
              </a:spcAft>
              <a:buClr>
                <a:schemeClr val="dk1"/>
              </a:buClr>
              <a:buSzPts val="2800"/>
              <a:buNone/>
            </a:pPr>
            <a:r>
              <a:rPr lang="en-US" sz="2800"/>
              <a:t> </a:t>
            </a:r>
            <a:endParaRPr/>
          </a:p>
          <a:p>
            <a:pPr indent="0" lvl="1" marL="263525" rtl="0" algn="just">
              <a:lnSpc>
                <a:spcPct val="100000"/>
              </a:lnSpc>
              <a:spcBef>
                <a:spcPts val="0"/>
              </a:spcBef>
              <a:spcAft>
                <a:spcPts val="0"/>
              </a:spcAft>
              <a:buClr>
                <a:schemeClr val="dk1"/>
              </a:buClr>
              <a:buSzPts val="2800"/>
              <a:buNone/>
            </a:pPr>
            <a:r>
              <a:t/>
            </a:r>
            <a:endParaRPr sz="2800"/>
          </a:p>
        </p:txBody>
      </p:sp>
      <p:pic>
        <p:nvPicPr>
          <p:cNvPr id="456" name="Google Shape;456;p50"/>
          <p:cNvPicPr preferRelativeResize="0"/>
          <p:nvPr/>
        </p:nvPicPr>
        <p:blipFill rotWithShape="1">
          <a:blip r:embed="rId3">
            <a:alphaModFix/>
          </a:blip>
          <a:srcRect b="0" l="0" r="0" t="0"/>
          <a:stretch/>
        </p:blipFill>
        <p:spPr>
          <a:xfrm>
            <a:off x="6437554" y="2114520"/>
            <a:ext cx="5110012" cy="2259360"/>
          </a:xfrm>
          <a:prstGeom prst="rect">
            <a:avLst/>
          </a:prstGeom>
          <a:noFill/>
          <a:ln>
            <a:noFill/>
          </a:ln>
        </p:spPr>
      </p:pic>
      <p:pic>
        <p:nvPicPr>
          <p:cNvPr id="457" name="Google Shape;457;p50"/>
          <p:cNvPicPr preferRelativeResize="0"/>
          <p:nvPr/>
        </p:nvPicPr>
        <p:blipFill rotWithShape="1">
          <a:blip r:embed="rId4">
            <a:alphaModFix/>
          </a:blip>
          <a:srcRect b="0" l="0" r="0" t="0"/>
          <a:stretch/>
        </p:blipFill>
        <p:spPr>
          <a:xfrm>
            <a:off x="3573959" y="2114520"/>
            <a:ext cx="2516961" cy="124968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1"/>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Ordinal Attributes</a:t>
            </a:r>
            <a:endParaRPr sz="4000"/>
          </a:p>
        </p:txBody>
      </p:sp>
      <p:sp>
        <p:nvSpPr>
          <p:cNvPr id="463" name="Google Shape;463;p51"/>
          <p:cNvSpPr txBox="1"/>
          <p:nvPr>
            <p:ph idx="1" type="body"/>
          </p:nvPr>
        </p:nvSpPr>
        <p:spPr>
          <a:xfrm>
            <a:off x="487680" y="792480"/>
            <a:ext cx="11059886" cy="5909404"/>
          </a:xfrm>
          <a:prstGeom prst="rect">
            <a:avLst/>
          </a:prstGeom>
          <a:noFill/>
          <a:ln>
            <a:noFill/>
          </a:ln>
        </p:spPr>
        <p:txBody>
          <a:bodyPr anchorCtr="0" anchor="t" bIns="45700" lIns="91425" spcFirstLastPara="1" rIns="91425" wrap="square" tIns="45700">
            <a:noAutofit/>
          </a:bodyPr>
          <a:lstStyle/>
          <a:p>
            <a:pPr indent="-514350" lvl="1" marL="777875" rtl="0" algn="just">
              <a:lnSpc>
                <a:spcPct val="100000"/>
              </a:lnSpc>
              <a:spcBef>
                <a:spcPts val="0"/>
              </a:spcBef>
              <a:spcAft>
                <a:spcPts val="0"/>
              </a:spcAft>
              <a:buClr>
                <a:schemeClr val="dk1"/>
              </a:buClr>
              <a:buSzPts val="2800"/>
              <a:buFont typeface="Calibri"/>
              <a:buAutoNum type="arabicParenR" startAt="3"/>
            </a:pPr>
            <a:r>
              <a:rPr lang="en-US" sz="2800"/>
              <a:t>Dissimilarity can then be computed using any of the distance measures described in previous slides for numeric attributes, using z</a:t>
            </a:r>
            <a:r>
              <a:rPr baseline="-25000" lang="en-US" sz="2800"/>
              <a:t>if</a:t>
            </a:r>
            <a:r>
              <a:rPr lang="en-US" sz="2800"/>
              <a:t> to represent the f value for the i</a:t>
            </a:r>
            <a:r>
              <a:rPr baseline="30000" lang="en-US" sz="2800"/>
              <a:t>th</a:t>
            </a:r>
            <a:r>
              <a:rPr lang="en-US" sz="2800"/>
              <a:t> object.</a:t>
            </a:r>
            <a:endParaRPr/>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336550" lvl="1" marL="777875" rtl="0" algn="just">
              <a:lnSpc>
                <a:spcPct val="100000"/>
              </a:lnSpc>
              <a:spcBef>
                <a:spcPts val="0"/>
              </a:spcBef>
              <a:spcAft>
                <a:spcPts val="0"/>
              </a:spcAft>
              <a:buClr>
                <a:schemeClr val="dk1"/>
              </a:buClr>
              <a:buSzPts val="2800"/>
              <a:buFont typeface="Calibri"/>
              <a:buNone/>
            </a:pPr>
            <a:r>
              <a:t/>
            </a:r>
            <a:endParaRPr sz="2800"/>
          </a:p>
          <a:p>
            <a:pPr indent="0" lvl="1" marL="263525" rtl="0" algn="just">
              <a:lnSpc>
                <a:spcPct val="100000"/>
              </a:lnSpc>
              <a:spcBef>
                <a:spcPts val="0"/>
              </a:spcBef>
              <a:spcAft>
                <a:spcPts val="0"/>
              </a:spcAft>
              <a:buClr>
                <a:schemeClr val="dk1"/>
              </a:buClr>
              <a:buSzPts val="2800"/>
              <a:buNone/>
            </a:pPr>
            <a:r>
              <a:t/>
            </a:r>
            <a:endParaRPr sz="2800"/>
          </a:p>
          <a:p>
            <a:pPr indent="-355600" lvl="1" marL="355600" rtl="0" algn="just">
              <a:lnSpc>
                <a:spcPct val="100000"/>
              </a:lnSpc>
              <a:spcBef>
                <a:spcPts val="0"/>
              </a:spcBef>
              <a:spcAft>
                <a:spcPts val="0"/>
              </a:spcAft>
              <a:buClr>
                <a:schemeClr val="dk1"/>
              </a:buClr>
              <a:buSzPts val="2800"/>
              <a:buChar char="•"/>
            </a:pPr>
            <a:r>
              <a:rPr lang="en-US" sz="2800"/>
              <a:t>There are three states for test-2: fair, good, and excellent, that is, M</a:t>
            </a:r>
            <a:r>
              <a:rPr baseline="-25000" lang="en-US" sz="2800"/>
              <a:t>f</a:t>
            </a:r>
            <a:r>
              <a:rPr lang="en-US" sz="2800"/>
              <a:t> = 3. For step 1, if we replace each value for test-2 by its rank, the four objects are assigned the ranks 3, 1, 2, and 3, respectively. </a:t>
            </a:r>
            <a:endParaRPr/>
          </a:p>
          <a:p>
            <a:pPr indent="-355600" lvl="1" marL="355600" rtl="0" algn="just">
              <a:lnSpc>
                <a:spcPct val="100000"/>
              </a:lnSpc>
              <a:spcBef>
                <a:spcPts val="0"/>
              </a:spcBef>
              <a:spcAft>
                <a:spcPts val="0"/>
              </a:spcAft>
              <a:buClr>
                <a:schemeClr val="dk1"/>
              </a:buClr>
              <a:buSzPts val="2800"/>
              <a:buChar char="•"/>
            </a:pPr>
            <a:r>
              <a:rPr lang="en-US" sz="2800"/>
              <a:t>Step 2 normalizes the ranking by mapping rank 1 to 0.0, rank 2 to 0.5, and rank 3 to 1.0.</a:t>
            </a:r>
            <a:endParaRPr/>
          </a:p>
          <a:p>
            <a:pPr indent="-336550" lvl="1" marL="777875" rtl="0" algn="just">
              <a:lnSpc>
                <a:spcPct val="100000"/>
              </a:lnSpc>
              <a:spcBef>
                <a:spcPts val="0"/>
              </a:spcBef>
              <a:spcAft>
                <a:spcPts val="0"/>
              </a:spcAft>
              <a:buClr>
                <a:schemeClr val="dk1"/>
              </a:buClr>
              <a:buSzPts val="2800"/>
              <a:buFont typeface="Calibri"/>
              <a:buNone/>
            </a:pPr>
            <a:r>
              <a:t/>
            </a:r>
            <a:endParaRPr sz="2800"/>
          </a:p>
          <a:p>
            <a:pPr indent="0" lvl="1" marL="263525" rtl="0" algn="just">
              <a:lnSpc>
                <a:spcPct val="100000"/>
              </a:lnSpc>
              <a:spcBef>
                <a:spcPts val="0"/>
              </a:spcBef>
              <a:spcAft>
                <a:spcPts val="0"/>
              </a:spcAft>
              <a:buClr>
                <a:schemeClr val="dk1"/>
              </a:buClr>
              <a:buSzPts val="2800"/>
              <a:buNone/>
            </a:pPr>
            <a:r>
              <a:rPr lang="en-US" sz="2800"/>
              <a:t> </a:t>
            </a:r>
            <a:endParaRPr/>
          </a:p>
          <a:p>
            <a:pPr indent="0" lvl="1" marL="263525" rtl="0" algn="just">
              <a:lnSpc>
                <a:spcPct val="100000"/>
              </a:lnSpc>
              <a:spcBef>
                <a:spcPts val="0"/>
              </a:spcBef>
              <a:spcAft>
                <a:spcPts val="0"/>
              </a:spcAft>
              <a:buClr>
                <a:schemeClr val="dk1"/>
              </a:buClr>
              <a:buSzPts val="2800"/>
              <a:buNone/>
            </a:pPr>
            <a:r>
              <a:t/>
            </a:r>
            <a:endParaRPr sz="2800"/>
          </a:p>
        </p:txBody>
      </p:sp>
      <p:pic>
        <p:nvPicPr>
          <p:cNvPr id="464" name="Google Shape;464;p51"/>
          <p:cNvPicPr preferRelativeResize="0"/>
          <p:nvPr/>
        </p:nvPicPr>
        <p:blipFill rotWithShape="1">
          <a:blip r:embed="rId3">
            <a:alphaModFix/>
          </a:blip>
          <a:srcRect b="0" l="0" r="0" t="0"/>
          <a:stretch/>
        </p:blipFill>
        <p:spPr>
          <a:xfrm>
            <a:off x="6437554" y="2114520"/>
            <a:ext cx="5110012" cy="2259360"/>
          </a:xfrm>
          <a:prstGeom prst="rect">
            <a:avLst/>
          </a:prstGeom>
          <a:noFill/>
          <a:ln>
            <a:noFill/>
          </a:ln>
        </p:spPr>
      </p:pic>
      <p:pic>
        <p:nvPicPr>
          <p:cNvPr id="465" name="Google Shape;465;p51"/>
          <p:cNvPicPr preferRelativeResize="0"/>
          <p:nvPr/>
        </p:nvPicPr>
        <p:blipFill rotWithShape="1">
          <a:blip r:embed="rId4">
            <a:alphaModFix/>
          </a:blip>
          <a:srcRect b="0" l="0" r="0" t="0"/>
          <a:stretch/>
        </p:blipFill>
        <p:spPr>
          <a:xfrm>
            <a:off x="3573959" y="2114520"/>
            <a:ext cx="2516961" cy="1249680"/>
          </a:xfrm>
          <a:prstGeom prst="rect">
            <a:avLst/>
          </a:prstGeom>
          <a:noFill/>
          <a:ln>
            <a:noFill/>
          </a:ln>
        </p:spPr>
      </p:pic>
      <p:pic>
        <p:nvPicPr>
          <p:cNvPr id="466" name="Google Shape;466;p51"/>
          <p:cNvPicPr preferRelativeResize="0"/>
          <p:nvPr/>
        </p:nvPicPr>
        <p:blipFill rotWithShape="1">
          <a:blip r:embed="rId5">
            <a:alphaModFix/>
          </a:blip>
          <a:srcRect b="0" l="0" r="0" t="0"/>
          <a:stretch/>
        </p:blipFill>
        <p:spPr>
          <a:xfrm>
            <a:off x="171667" y="2230755"/>
            <a:ext cx="3228975" cy="21431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2"/>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Proximity Measures for Ordinal Attributes</a:t>
            </a:r>
            <a:endParaRPr sz="4000"/>
          </a:p>
        </p:txBody>
      </p:sp>
      <p:sp>
        <p:nvSpPr>
          <p:cNvPr id="472" name="Google Shape;472;p52"/>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514350" lvl="1" marL="777875" rtl="0" algn="just">
              <a:lnSpc>
                <a:spcPct val="100000"/>
              </a:lnSpc>
              <a:spcBef>
                <a:spcPts val="0"/>
              </a:spcBef>
              <a:spcAft>
                <a:spcPts val="0"/>
              </a:spcAft>
              <a:buClr>
                <a:schemeClr val="dk1"/>
              </a:buClr>
              <a:buSzPts val="2800"/>
              <a:buFont typeface="Calibri"/>
              <a:buAutoNum type="arabicParenR" startAt="3"/>
            </a:pPr>
            <a:r>
              <a:rPr lang="en-US" sz="2800"/>
              <a:t>Dissimilarity can then be computed using any of the distance measures described in previous slides for numeric attributes, using z</a:t>
            </a:r>
            <a:r>
              <a:rPr baseline="-25000" lang="en-US" sz="2800"/>
              <a:t>if</a:t>
            </a:r>
            <a:r>
              <a:rPr lang="en-US" sz="2800"/>
              <a:t> to represent the f value for the i</a:t>
            </a:r>
            <a:r>
              <a:rPr baseline="30000" lang="en-US" sz="2800"/>
              <a:t>th</a:t>
            </a:r>
            <a:r>
              <a:rPr lang="en-US" sz="2800"/>
              <a:t> object.. </a:t>
            </a:r>
            <a:endParaRPr/>
          </a:p>
          <a:p>
            <a:pPr indent="-188912" lvl="1" marL="630238" rtl="0" algn="just">
              <a:lnSpc>
                <a:spcPct val="100000"/>
              </a:lnSpc>
              <a:spcBef>
                <a:spcPts val="0"/>
              </a:spcBef>
              <a:spcAft>
                <a:spcPts val="0"/>
              </a:spcAft>
              <a:buClr>
                <a:schemeClr val="dk1"/>
              </a:buClr>
              <a:buSzPts val="2800"/>
              <a:buFont typeface="Calibri"/>
              <a:buNone/>
            </a:pPr>
            <a:r>
              <a:t/>
            </a:r>
            <a:endParaRPr sz="2800"/>
          </a:p>
          <a:p>
            <a:pPr indent="-263525" lvl="1" marL="263525" rtl="0" algn="just">
              <a:lnSpc>
                <a:spcPct val="100000"/>
              </a:lnSpc>
              <a:spcBef>
                <a:spcPts val="0"/>
              </a:spcBef>
              <a:spcAft>
                <a:spcPts val="0"/>
              </a:spcAft>
              <a:buClr>
                <a:schemeClr val="dk1"/>
              </a:buClr>
              <a:buSzPts val="2800"/>
              <a:buChar char="•"/>
            </a:pPr>
            <a:r>
              <a:rPr lang="en-US" sz="2800"/>
              <a:t>Similarity values for ordinal attributes can be interpreted from dissimilarity as sim(i,j) = 1 − d(i,j).</a:t>
            </a:r>
            <a:endParaRPr/>
          </a:p>
        </p:txBody>
      </p:sp>
      <p:pic>
        <p:nvPicPr>
          <p:cNvPr id="473" name="Google Shape;473;p52"/>
          <p:cNvPicPr preferRelativeResize="0"/>
          <p:nvPr/>
        </p:nvPicPr>
        <p:blipFill rotWithShape="1">
          <a:blip r:embed="rId3">
            <a:alphaModFix/>
          </a:blip>
          <a:srcRect b="0" l="0" r="0" t="0"/>
          <a:stretch/>
        </p:blipFill>
        <p:spPr>
          <a:xfrm>
            <a:off x="6437554" y="3521680"/>
            <a:ext cx="5110012" cy="225936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3"/>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Cosine Similarity</a:t>
            </a:r>
            <a:endParaRPr sz="4000"/>
          </a:p>
        </p:txBody>
      </p:sp>
      <p:sp>
        <p:nvSpPr>
          <p:cNvPr id="479" name="Google Shape;479;p53"/>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document can be represented by thousands of attributes, each recording the frequency of a particular word (such as a keyword) or phrase in the document. </a:t>
            </a:r>
            <a:endParaRPr/>
          </a:p>
          <a:p>
            <a:pPr indent="-228600" lvl="0" marL="228600" rtl="0" algn="just">
              <a:lnSpc>
                <a:spcPct val="100000"/>
              </a:lnSpc>
              <a:spcBef>
                <a:spcPts val="0"/>
              </a:spcBef>
              <a:spcAft>
                <a:spcPts val="0"/>
              </a:spcAft>
              <a:buClr>
                <a:schemeClr val="dk1"/>
              </a:buClr>
              <a:buSzPts val="2800"/>
              <a:buChar char="•"/>
            </a:pPr>
            <a:r>
              <a:rPr lang="en-US"/>
              <a:t>Thus, each document is an object represented by what is called a term-frequency vector.</a:t>
            </a:r>
            <a:endParaRPr/>
          </a:p>
          <a:p>
            <a:pPr indent="-228600" lvl="0" marL="228600" rtl="0" algn="just">
              <a:lnSpc>
                <a:spcPct val="100000"/>
              </a:lnSpc>
              <a:spcBef>
                <a:spcPts val="0"/>
              </a:spcBef>
              <a:spcAft>
                <a:spcPts val="0"/>
              </a:spcAft>
              <a:buClr>
                <a:schemeClr val="dk1"/>
              </a:buClr>
              <a:buSzPts val="2800"/>
              <a:buChar char="•"/>
            </a:pPr>
            <a:r>
              <a:rPr lang="en-US"/>
              <a:t>Term-frequency vectors are typically very long and sparse (i.e., they have many 0 values). </a:t>
            </a:r>
            <a:endParaRPr/>
          </a:p>
          <a:p>
            <a:pPr indent="-228600" lvl="0" marL="228600" rtl="0" algn="just">
              <a:lnSpc>
                <a:spcPct val="100000"/>
              </a:lnSpc>
              <a:spcBef>
                <a:spcPts val="0"/>
              </a:spcBef>
              <a:spcAft>
                <a:spcPts val="0"/>
              </a:spcAft>
              <a:buClr>
                <a:schemeClr val="dk1"/>
              </a:buClr>
              <a:buSzPts val="2800"/>
              <a:buChar char="•"/>
            </a:pPr>
            <a:r>
              <a:rPr lang="en-US"/>
              <a:t>Applications using such structures include information retrieval, text document clustering, biological taxonomy, and gene feature mapping. </a:t>
            </a:r>
            <a:endParaRPr/>
          </a:p>
          <a:p>
            <a:pPr indent="-228600" lvl="0" marL="228600" rtl="0" algn="just">
              <a:lnSpc>
                <a:spcPct val="100000"/>
              </a:lnSpc>
              <a:spcBef>
                <a:spcPts val="0"/>
              </a:spcBef>
              <a:spcAft>
                <a:spcPts val="0"/>
              </a:spcAft>
              <a:buClr>
                <a:schemeClr val="dk1"/>
              </a:buClr>
              <a:buSzPts val="2800"/>
              <a:buChar char="•"/>
            </a:pPr>
            <a:r>
              <a:rPr lang="en-US"/>
              <a:t>The traditional distance measures that we have studied, do not work well for such sparse numeric data. </a:t>
            </a:r>
            <a:endParaRPr/>
          </a:p>
          <a:p>
            <a:pPr indent="-50800" lvl="0" marL="228600" rtl="0" algn="just">
              <a:lnSpc>
                <a:spcPct val="100000"/>
              </a:lnSpc>
              <a:spcBef>
                <a:spcPts val="0"/>
              </a:spcBef>
              <a:spcAft>
                <a:spcPts val="0"/>
              </a:spcAft>
              <a:buClr>
                <a:schemeClr val="dk1"/>
              </a:buClr>
              <a:buSzPts val="2800"/>
              <a:buNone/>
            </a:pPr>
            <a:r>
              <a:t/>
            </a:r>
            <a:endParaRPr sz="2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4"/>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Cosine Similarity</a:t>
            </a:r>
            <a:endParaRPr sz="4000"/>
          </a:p>
        </p:txBody>
      </p:sp>
      <p:sp>
        <p:nvSpPr>
          <p:cNvPr id="485" name="Google Shape;485;p54"/>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For example, two term-frequency vectors may have many 0 values in common, meaning that the corresponding documents do not share many words, but this does not make them similar. </a:t>
            </a:r>
            <a:endParaRPr/>
          </a:p>
          <a:p>
            <a:pPr indent="-228600" lvl="0" marL="228600" rtl="0" algn="just">
              <a:lnSpc>
                <a:spcPct val="100000"/>
              </a:lnSpc>
              <a:spcBef>
                <a:spcPts val="0"/>
              </a:spcBef>
              <a:spcAft>
                <a:spcPts val="0"/>
              </a:spcAft>
              <a:buClr>
                <a:schemeClr val="dk1"/>
              </a:buClr>
              <a:buSzPts val="2800"/>
              <a:buChar char="•"/>
            </a:pPr>
            <a:r>
              <a:rPr lang="en-US"/>
              <a:t>We need a measure that will focus on the words that the two documents do have in common, and the occurrence frequency of such words. </a:t>
            </a:r>
            <a:endParaRPr/>
          </a:p>
          <a:p>
            <a:pPr indent="-228600" lvl="0" marL="228600" rtl="0" algn="just">
              <a:lnSpc>
                <a:spcPct val="100000"/>
              </a:lnSpc>
              <a:spcBef>
                <a:spcPts val="0"/>
              </a:spcBef>
              <a:spcAft>
                <a:spcPts val="0"/>
              </a:spcAft>
              <a:buClr>
                <a:schemeClr val="dk1"/>
              </a:buClr>
              <a:buSzPts val="2800"/>
              <a:buChar char="•"/>
            </a:pPr>
            <a:r>
              <a:rPr lang="en-US"/>
              <a:t>In other words, we need a measure for numeric data that ignores zero-matches.</a:t>
            </a:r>
            <a:endParaRPr/>
          </a:p>
          <a:p>
            <a:pPr indent="-228600" lvl="0" marL="228600" rtl="0" algn="just">
              <a:lnSpc>
                <a:spcPct val="100000"/>
              </a:lnSpc>
              <a:spcBef>
                <a:spcPts val="0"/>
              </a:spcBef>
              <a:spcAft>
                <a:spcPts val="0"/>
              </a:spcAft>
              <a:buClr>
                <a:schemeClr val="dk1"/>
              </a:buClr>
              <a:buSzPts val="2800"/>
              <a:buChar char="•"/>
            </a:pPr>
            <a:r>
              <a:rPr lang="en-US"/>
              <a:t>Cosine similarity is a measure of similarity that can be used to compare documents or, say, give a ranking of documents with respect to a given vector of query words.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5"/>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Cosine Similarity</a:t>
            </a:r>
            <a:endParaRPr sz="4000"/>
          </a:p>
        </p:txBody>
      </p:sp>
      <p:sp>
        <p:nvSpPr>
          <p:cNvPr id="491" name="Google Shape;491;p55"/>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Let x and y be two vectors for comparison. Using the cosine measure as a similarity function, we have</a:t>
            </a:r>
            <a:endParaRPr/>
          </a:p>
          <a:p>
            <a:pPr indent="-50800" lvl="0" marL="228600" rtl="0" algn="just">
              <a:lnSpc>
                <a:spcPct val="100000"/>
              </a:lnSpc>
              <a:spcBef>
                <a:spcPts val="0"/>
              </a:spcBef>
              <a:spcAft>
                <a:spcPts val="0"/>
              </a:spcAft>
              <a:buClr>
                <a:schemeClr val="dk1"/>
              </a:buClr>
              <a:buSzPts val="2800"/>
              <a:buNone/>
            </a:pPr>
            <a:r>
              <a:t/>
            </a:r>
            <a:endParaRPr sz="2800"/>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lang="en-US"/>
              <a:t>where ||x|| is the Euclidean norm of vector 			  , defined as			    . </a:t>
            </a:r>
            <a:endParaRPr/>
          </a:p>
          <a:p>
            <a:pPr indent="-228600" lvl="0" marL="228600" rtl="0" algn="just">
              <a:lnSpc>
                <a:spcPct val="100000"/>
              </a:lnSpc>
              <a:spcBef>
                <a:spcPts val="0"/>
              </a:spcBef>
              <a:spcAft>
                <a:spcPts val="0"/>
              </a:spcAft>
              <a:buClr>
                <a:schemeClr val="dk1"/>
              </a:buClr>
              <a:buSzPts val="2800"/>
              <a:buChar char="•"/>
            </a:pPr>
            <a:r>
              <a:rPr lang="en-US"/>
              <a:t>Similarly, ||y|| is the Euclidean norm of vector y. The measure computes the cosine of the </a:t>
            </a:r>
            <a:r>
              <a:rPr b="1" lang="en-US"/>
              <a:t>angle</a:t>
            </a:r>
            <a:r>
              <a:rPr lang="en-US"/>
              <a:t> between vectors x and y. </a:t>
            </a:r>
            <a:endParaRPr/>
          </a:p>
          <a:p>
            <a:pPr indent="-228600" lvl="0" marL="228600" rtl="0" algn="just">
              <a:lnSpc>
                <a:spcPct val="100000"/>
              </a:lnSpc>
              <a:spcBef>
                <a:spcPts val="0"/>
              </a:spcBef>
              <a:spcAft>
                <a:spcPts val="0"/>
              </a:spcAft>
              <a:buClr>
                <a:schemeClr val="dk1"/>
              </a:buClr>
              <a:buSzPts val="2800"/>
              <a:buChar char="•"/>
            </a:pPr>
            <a:r>
              <a:rPr lang="en-US"/>
              <a:t>A cosine value of 0 means that the two vectors are at 90 degrees to each other (orthogonal) and have no match. </a:t>
            </a:r>
            <a:endParaRPr/>
          </a:p>
          <a:p>
            <a:pPr indent="-228600" lvl="0" marL="228600" rtl="0" algn="just">
              <a:lnSpc>
                <a:spcPct val="100000"/>
              </a:lnSpc>
              <a:spcBef>
                <a:spcPts val="0"/>
              </a:spcBef>
              <a:spcAft>
                <a:spcPts val="0"/>
              </a:spcAft>
              <a:buClr>
                <a:schemeClr val="dk1"/>
              </a:buClr>
              <a:buSzPts val="2800"/>
              <a:buChar char="•"/>
            </a:pPr>
            <a:r>
              <a:rPr lang="en-US"/>
              <a:t>The closer the cosine value to 1, the smaller the angle and the greater the match between vectors.</a:t>
            </a:r>
            <a:endParaRPr/>
          </a:p>
          <a:p>
            <a:pPr indent="-228600" lvl="0" marL="228600" rtl="0" algn="just">
              <a:lnSpc>
                <a:spcPct val="100000"/>
              </a:lnSpc>
              <a:spcBef>
                <a:spcPts val="0"/>
              </a:spcBef>
              <a:spcAft>
                <a:spcPts val="0"/>
              </a:spcAft>
              <a:buClr>
                <a:schemeClr val="dk1"/>
              </a:buClr>
              <a:buSzPts val="2800"/>
              <a:buChar char="•"/>
            </a:pPr>
            <a:r>
              <a:rPr lang="en-US"/>
              <a:t>The cosine similarity measure does not obey all of the properties of </a:t>
            </a:r>
            <a:r>
              <a:rPr b="1" lang="en-US"/>
              <a:t>metric</a:t>
            </a:r>
            <a:r>
              <a:rPr lang="en-US"/>
              <a:t> measures, it is referred to as a </a:t>
            </a:r>
            <a:r>
              <a:rPr b="1" lang="en-US"/>
              <a:t>nonmetric</a:t>
            </a:r>
            <a:r>
              <a:rPr lang="en-US"/>
              <a:t> measure.</a:t>
            </a:r>
            <a:endParaRPr sz="2800"/>
          </a:p>
        </p:txBody>
      </p:sp>
      <p:pic>
        <p:nvPicPr>
          <p:cNvPr id="492" name="Google Shape;492;p55"/>
          <p:cNvPicPr preferRelativeResize="0"/>
          <p:nvPr/>
        </p:nvPicPr>
        <p:blipFill rotWithShape="1">
          <a:blip r:embed="rId3">
            <a:alphaModFix/>
          </a:blip>
          <a:srcRect b="0" l="0" r="0" t="0"/>
          <a:stretch/>
        </p:blipFill>
        <p:spPr>
          <a:xfrm>
            <a:off x="5527040" y="1395707"/>
            <a:ext cx="3760470" cy="1143386"/>
          </a:xfrm>
          <a:prstGeom prst="rect">
            <a:avLst/>
          </a:prstGeom>
          <a:noFill/>
          <a:ln>
            <a:noFill/>
          </a:ln>
        </p:spPr>
      </p:pic>
      <p:pic>
        <p:nvPicPr>
          <p:cNvPr id="493" name="Google Shape;493;p55"/>
          <p:cNvPicPr preferRelativeResize="0"/>
          <p:nvPr/>
        </p:nvPicPr>
        <p:blipFill rotWithShape="1">
          <a:blip r:embed="rId4">
            <a:alphaModFix/>
          </a:blip>
          <a:srcRect b="0" l="0" r="0" t="0"/>
          <a:stretch/>
        </p:blipFill>
        <p:spPr>
          <a:xfrm>
            <a:off x="7528560" y="2653172"/>
            <a:ext cx="2601277" cy="384650"/>
          </a:xfrm>
          <a:prstGeom prst="rect">
            <a:avLst/>
          </a:prstGeom>
          <a:noFill/>
          <a:ln>
            <a:noFill/>
          </a:ln>
        </p:spPr>
      </p:pic>
      <p:pic>
        <p:nvPicPr>
          <p:cNvPr id="494" name="Google Shape;494;p55"/>
          <p:cNvPicPr preferRelativeResize="0"/>
          <p:nvPr/>
        </p:nvPicPr>
        <p:blipFill rotWithShape="1">
          <a:blip r:embed="rId5">
            <a:alphaModFix/>
          </a:blip>
          <a:srcRect b="0" l="7649" r="0" t="0"/>
          <a:stretch/>
        </p:blipFill>
        <p:spPr>
          <a:xfrm>
            <a:off x="1473200" y="2966702"/>
            <a:ext cx="2403791" cy="56152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6"/>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Cosine Similarity</a:t>
            </a:r>
            <a:endParaRPr sz="4000"/>
          </a:p>
        </p:txBody>
      </p:sp>
      <p:sp>
        <p:nvSpPr>
          <p:cNvPr id="500" name="Google Shape;500;p56"/>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Suppose that x and y are the first two term-frequency vectors. How similar are </a:t>
            </a:r>
            <a:r>
              <a:rPr i="1" lang="en-US"/>
              <a:t>x</a:t>
            </a:r>
            <a:r>
              <a:rPr lang="en-US"/>
              <a:t> and </a:t>
            </a:r>
            <a:r>
              <a:rPr i="1" lang="en-US"/>
              <a:t>y</a:t>
            </a:r>
            <a:r>
              <a:rPr lang="en-US"/>
              <a:t>?</a:t>
            </a:r>
            <a:endParaRPr/>
          </a:p>
          <a:p>
            <a:pPr indent="-50800" lvl="0" marL="228600" rtl="0" algn="just">
              <a:lnSpc>
                <a:spcPct val="100000"/>
              </a:lnSpc>
              <a:spcBef>
                <a:spcPts val="0"/>
              </a:spcBef>
              <a:spcAft>
                <a:spcPts val="0"/>
              </a:spcAft>
              <a:buClr>
                <a:schemeClr val="dk1"/>
              </a:buClr>
              <a:buSzPts val="2800"/>
              <a:buNone/>
            </a:pPr>
            <a:r>
              <a:t/>
            </a:r>
            <a:endParaRPr sz="2800"/>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50800" lvl="0" marL="228600" rtl="0" algn="just">
              <a:lnSpc>
                <a:spcPct val="100000"/>
              </a:lnSpc>
              <a:spcBef>
                <a:spcPts val="0"/>
              </a:spcBef>
              <a:spcAft>
                <a:spcPts val="0"/>
              </a:spcAft>
              <a:buClr>
                <a:schemeClr val="dk1"/>
              </a:buClr>
              <a:buSzPts val="2800"/>
              <a:buNone/>
            </a:pPr>
            <a:r>
              <a:t/>
            </a:r>
            <a:endParaRPr/>
          </a:p>
          <a:p>
            <a:pPr indent="-228600" lvl="0" marL="228600" rtl="0" algn="just">
              <a:lnSpc>
                <a:spcPct val="100000"/>
              </a:lnSpc>
              <a:spcBef>
                <a:spcPts val="0"/>
              </a:spcBef>
              <a:spcAft>
                <a:spcPts val="0"/>
              </a:spcAft>
              <a:buClr>
                <a:schemeClr val="dk1"/>
              </a:buClr>
              <a:buSzPts val="2800"/>
              <a:buChar char="•"/>
            </a:pPr>
            <a:r>
              <a:rPr i="1" lang="en-US"/>
              <a:t>x</a:t>
            </a:r>
            <a:r>
              <a:rPr lang="en-US"/>
              <a:t> = (5,0,3,0,2,0,0,2,0,0) and </a:t>
            </a:r>
            <a:r>
              <a:rPr i="1" lang="en-US"/>
              <a:t>y</a:t>
            </a:r>
            <a:r>
              <a:rPr lang="en-US"/>
              <a:t> = (3,0,2,0,1,1,0,1,0,1)</a:t>
            </a:r>
            <a:endParaRPr/>
          </a:p>
        </p:txBody>
      </p:sp>
      <p:pic>
        <p:nvPicPr>
          <p:cNvPr id="501" name="Google Shape;501;p56"/>
          <p:cNvPicPr preferRelativeResize="0"/>
          <p:nvPr/>
        </p:nvPicPr>
        <p:blipFill rotWithShape="1">
          <a:blip r:embed="rId3">
            <a:alphaModFix/>
          </a:blip>
          <a:srcRect b="0" l="0" r="0" t="0"/>
          <a:stretch/>
        </p:blipFill>
        <p:spPr>
          <a:xfrm>
            <a:off x="31115" y="1892106"/>
            <a:ext cx="3760470" cy="1143386"/>
          </a:xfrm>
          <a:prstGeom prst="rect">
            <a:avLst/>
          </a:prstGeom>
          <a:noFill/>
          <a:ln>
            <a:noFill/>
          </a:ln>
        </p:spPr>
      </p:pic>
      <p:pic>
        <p:nvPicPr>
          <p:cNvPr id="502" name="Google Shape;502;p56"/>
          <p:cNvPicPr preferRelativeResize="0"/>
          <p:nvPr/>
        </p:nvPicPr>
        <p:blipFill rotWithShape="1">
          <a:blip r:embed="rId4">
            <a:alphaModFix/>
          </a:blip>
          <a:srcRect b="0" l="0" r="0" t="0"/>
          <a:stretch/>
        </p:blipFill>
        <p:spPr>
          <a:xfrm>
            <a:off x="3897885" y="1411271"/>
            <a:ext cx="8294115" cy="2166017"/>
          </a:xfrm>
          <a:prstGeom prst="rect">
            <a:avLst/>
          </a:prstGeom>
          <a:noFill/>
          <a:ln>
            <a:noFill/>
          </a:ln>
        </p:spPr>
      </p:pic>
      <p:pic>
        <p:nvPicPr>
          <p:cNvPr id="503" name="Google Shape;503;p56"/>
          <p:cNvPicPr preferRelativeResize="0"/>
          <p:nvPr/>
        </p:nvPicPr>
        <p:blipFill rotWithShape="1">
          <a:blip r:embed="rId5">
            <a:alphaModFix/>
          </a:blip>
          <a:srcRect b="0" l="4507" r="0" t="0"/>
          <a:stretch/>
        </p:blipFill>
        <p:spPr>
          <a:xfrm>
            <a:off x="2072640" y="4368799"/>
            <a:ext cx="8342570" cy="245981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7"/>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Summary</a:t>
            </a:r>
            <a:endParaRPr sz="4000"/>
          </a:p>
        </p:txBody>
      </p:sp>
      <p:sp>
        <p:nvSpPr>
          <p:cNvPr id="509" name="Google Shape;509;p57"/>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Data sets are made up of data objects. A data object represents an entity. Data objects are described by attributes. Attributes can be nominal, binary, ordinal, or numeric.</a:t>
            </a:r>
            <a:endParaRPr/>
          </a:p>
          <a:p>
            <a:pPr indent="-228600" lvl="0" marL="228600" rtl="0" algn="just">
              <a:lnSpc>
                <a:spcPct val="100000"/>
              </a:lnSpc>
              <a:spcBef>
                <a:spcPts val="0"/>
              </a:spcBef>
              <a:spcAft>
                <a:spcPts val="0"/>
              </a:spcAft>
              <a:buClr>
                <a:schemeClr val="dk1"/>
              </a:buClr>
              <a:buSzPts val="2800"/>
              <a:buChar char="•"/>
            </a:pPr>
            <a:r>
              <a:rPr lang="en-US"/>
              <a:t>The values of a nominal (or categorical) attribute are symbols or names of things, where each value represents some kind of category, code, or state.</a:t>
            </a:r>
            <a:endParaRPr/>
          </a:p>
          <a:p>
            <a:pPr indent="-228600" lvl="0" marL="228600" rtl="0" algn="just">
              <a:lnSpc>
                <a:spcPct val="100000"/>
              </a:lnSpc>
              <a:spcBef>
                <a:spcPts val="0"/>
              </a:spcBef>
              <a:spcAft>
                <a:spcPts val="0"/>
              </a:spcAft>
              <a:buClr>
                <a:schemeClr val="dk1"/>
              </a:buClr>
              <a:buSzPts val="2800"/>
              <a:buChar char="•"/>
            </a:pPr>
            <a:r>
              <a:rPr lang="en-US"/>
              <a:t>Binary attributes are nominal attributes with only two possible states (such as 1 and 0 or true and false). If the two states are equally important, the attribute is symmetric; otherwise it is asymmetric.</a:t>
            </a:r>
            <a:endParaRPr/>
          </a:p>
          <a:p>
            <a:pPr indent="-228600" lvl="0" marL="228600" rtl="0" algn="just">
              <a:lnSpc>
                <a:spcPct val="100000"/>
              </a:lnSpc>
              <a:spcBef>
                <a:spcPts val="0"/>
              </a:spcBef>
              <a:spcAft>
                <a:spcPts val="0"/>
              </a:spcAft>
              <a:buClr>
                <a:schemeClr val="dk1"/>
              </a:buClr>
              <a:buSzPts val="2800"/>
              <a:buChar char="•"/>
            </a:pPr>
            <a:r>
              <a:rPr lang="en-US"/>
              <a:t>An ordinal attribute is an attribute with possible values that have a meaningful order or ranking among them, but the magnitude between successive values is not known.</a:t>
            </a:r>
            <a:endParaRPr sz="28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8"/>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Summary</a:t>
            </a:r>
            <a:endParaRPr sz="4000"/>
          </a:p>
        </p:txBody>
      </p:sp>
      <p:sp>
        <p:nvSpPr>
          <p:cNvPr id="515" name="Google Shape;515;p58"/>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A numeric attribute is quantitative (i.e., it is a measurable quantity) represented in integer or real values. Numeric attribute types can be interval-scaled or ratio-scaled. The values of an </a:t>
            </a:r>
            <a:r>
              <a:rPr b="1" lang="en-US"/>
              <a:t>interval-scaled</a:t>
            </a:r>
            <a:r>
              <a:rPr lang="en-US"/>
              <a:t> attribute are measured in fixed and equal units. </a:t>
            </a:r>
            <a:r>
              <a:rPr b="1" lang="en-US"/>
              <a:t>Ratio-scaled</a:t>
            </a:r>
            <a:r>
              <a:rPr lang="en-US"/>
              <a:t> attributes are numeric attributes with an inherent zero-point. Measurements are ratio-scaled in that we can speak of values as being an order of magnitude larger than the unit of measurement.</a:t>
            </a:r>
            <a:endParaRPr/>
          </a:p>
          <a:p>
            <a:pPr indent="-228600" lvl="0" marL="228600" rtl="0" algn="just">
              <a:lnSpc>
                <a:spcPct val="100000"/>
              </a:lnSpc>
              <a:spcBef>
                <a:spcPts val="0"/>
              </a:spcBef>
              <a:spcAft>
                <a:spcPts val="0"/>
              </a:spcAft>
              <a:buClr>
                <a:schemeClr val="dk1"/>
              </a:buClr>
              <a:buSzPts val="2800"/>
              <a:buChar char="•"/>
            </a:pPr>
            <a:r>
              <a:rPr lang="en-US"/>
              <a:t>Measures of </a:t>
            </a:r>
            <a:r>
              <a:rPr b="1" lang="en-US"/>
              <a:t>object similarity </a:t>
            </a:r>
            <a:r>
              <a:rPr lang="en-US"/>
              <a:t>and </a:t>
            </a:r>
            <a:r>
              <a:rPr b="1" lang="en-US"/>
              <a:t>dissimilarity</a:t>
            </a:r>
            <a:r>
              <a:rPr lang="en-US"/>
              <a:t> are used in data mining applications such as clustering, outlier analysis, and nearest-neighbor classification. Such measures of proximity can be computed for each attribute type, or for combinations of such attributes. Examples include the Jaccard coefficient for asymmetric binary attributes and Euclidean, Manhattan, and Minkowski. For applications involving sparse numeric data vectors, such as term-frequency vectors, the cosine measure.</a:t>
            </a:r>
            <a:endParaRPr sz="2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9"/>
          <p:cNvSpPr txBox="1"/>
          <p:nvPr>
            <p:ph type="title"/>
          </p:nvPr>
        </p:nvSpPr>
        <p:spPr>
          <a:xfrm>
            <a:off x="203200" y="121280"/>
            <a:ext cx="11775440" cy="7147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References</a:t>
            </a:r>
            <a:endParaRPr sz="4000"/>
          </a:p>
        </p:txBody>
      </p:sp>
      <p:sp>
        <p:nvSpPr>
          <p:cNvPr id="521" name="Google Shape;521;p59"/>
          <p:cNvSpPr txBox="1"/>
          <p:nvPr>
            <p:ph idx="1" type="body"/>
          </p:nvPr>
        </p:nvSpPr>
        <p:spPr>
          <a:xfrm>
            <a:off x="731520" y="792480"/>
            <a:ext cx="10816046" cy="590940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800"/>
              <a:buChar char="•"/>
            </a:pPr>
            <a:r>
              <a:rPr lang="en-US"/>
              <a:t>Jiawei Han, Micheline Kamber and Jian Pei, </a:t>
            </a:r>
            <a:r>
              <a:rPr b="1" i="1" lang="en-US"/>
              <a:t>Data Mining: Concepts and Techniques</a:t>
            </a:r>
            <a:r>
              <a:rPr lang="en-US"/>
              <a:t>, Morgan Kaufmann, 3rd Edition.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2023-09-04T03:01:19Z</dcterms:created>
  <dc:creator>Kuldeep Singh</dc:creator>
</cp:coreProperties>
</file>