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jtyutpq6O0UlxevG7t6ck9Uu8a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2.png"/><Relationship Id="rId5" Type="http://schemas.openxmlformats.org/officeDocument/2006/relationships/image" Target="../media/image3.png"/><Relationship Id="rId6" Type="http://schemas.openxmlformats.org/officeDocument/2006/relationships/image" Target="../media/image3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904683"/>
            <a:ext cx="9144000" cy="1336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Classification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666240" y="3429000"/>
            <a:ext cx="9144000" cy="5919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Naïve Bayesian classification, Decision trees, Decision rules,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Instance-based methods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Supervised vs. Unsupervised Learning</a:t>
            </a:r>
            <a:endParaRPr sz="4000"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Supervised learning </a:t>
            </a:r>
            <a:r>
              <a:rPr lang="en-US"/>
              <a:t>(classification)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Supervision: The training data (observations, measurements, etc.) are accompanied by </a:t>
            </a:r>
            <a:r>
              <a:rPr b="1" lang="en-US"/>
              <a:t>labels</a:t>
            </a:r>
            <a:r>
              <a:rPr lang="en-US"/>
              <a:t> indicating the </a:t>
            </a:r>
            <a:r>
              <a:rPr b="1" lang="en-US"/>
              <a:t>class</a:t>
            </a:r>
            <a:r>
              <a:rPr lang="en-US"/>
              <a:t> of the observations.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New data is classified based on the training set.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Unsupervised learning </a:t>
            </a:r>
            <a:r>
              <a:rPr lang="en-US"/>
              <a:t>(clustering)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class labels of training data is </a:t>
            </a:r>
            <a:r>
              <a:rPr b="1" lang="en-US"/>
              <a:t>unknown</a:t>
            </a:r>
            <a:r>
              <a:rPr lang="en-US"/>
              <a:t>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Given a set of measurements, observations, etc. with the aim of establishing the existence of classes or clusters in the data.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0" y="121280"/>
            <a:ext cx="121920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Prediction Problems: Classification vs. Numeric Prediction</a:t>
            </a:r>
            <a:endParaRPr sz="4000"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Classification</a:t>
            </a:r>
            <a:r>
              <a:rPr lang="en-US"/>
              <a:t> 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Predicts categorical class labels (discrete or nominal)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Classifies data (constructs a model) based on the training set and the values (class labels) in a classifying attribute and uses it in classifying new data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Numeric Prediction 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Models continuous-valued functions, i.e., predicts unknown or missing values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Typical applications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Credit/loan approval: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Medical diagnosis: if a tumor is cancerous or benign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Fraud detection: if a transaction is fraudulent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Web page categorization: which category it 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Classification</a:t>
            </a:r>
            <a:endParaRPr sz="4000"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731520" y="721360"/>
            <a:ext cx="10816046" cy="6136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Data classification is a two-step process: Learning &amp; Classification step.</a:t>
            </a:r>
            <a:endParaRPr/>
          </a:p>
          <a:p>
            <a:pPr indent="-355600" lvl="0" marL="355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/>
            </a:pPr>
            <a:r>
              <a:rPr lang="en-US"/>
              <a:t>Learning step (or Training phase or Model construction): where a classification model is </a:t>
            </a:r>
            <a:r>
              <a:rPr b="1" lang="en-US"/>
              <a:t>constructed</a:t>
            </a:r>
            <a:r>
              <a:rPr lang="en-US"/>
              <a:t>.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Describing a set of predetermined classes.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“Learning from” a training set made up of database tuples and their associated class labels.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Each tuple/sample is assumed to belong to a predefined class, as determined by the </a:t>
            </a:r>
            <a:r>
              <a:rPr b="1" lang="en-US" sz="2800"/>
              <a:t>class label attribute</a:t>
            </a:r>
            <a:r>
              <a:rPr lang="en-US" sz="2800"/>
              <a:t>.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set of tuples used for model construction is training set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model is represented as classification rules, decision trees, or mathematical formulae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class label attribute is categorical (or nominal) in that each value serves as a category or class.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Classification</a:t>
            </a:r>
            <a:endParaRPr sz="4000"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355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LcPeriod" startAt="2"/>
            </a:pPr>
            <a:r>
              <a:rPr lang="en-US"/>
              <a:t>Classification step (Model usage ): where the model is used to </a:t>
            </a:r>
            <a:r>
              <a:rPr b="1" lang="en-US"/>
              <a:t>predict class labels </a:t>
            </a:r>
            <a:r>
              <a:rPr lang="en-US"/>
              <a:t>for given data.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Classifying future or unknown objects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If the accuracy is acceptable, use the model to classify new data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Note: If the test set is used to select models, it is called validation (test) set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Classification</a:t>
            </a:r>
            <a:endParaRPr sz="4000"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Estimate accuracy of the model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known label of test sample is compared with the classified result from the model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Accuracy rate is the percentage of test set samples that are correctly classified by the model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Test set is independent of training set (otherwise overfitting) 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</a:t>
            </a:r>
            <a:endParaRPr sz="4000"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decision tree is a flowchart-like tree structure: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</a:t>
            </a:r>
            <a:r>
              <a:rPr b="1" lang="en-US"/>
              <a:t>internal node </a:t>
            </a:r>
            <a:r>
              <a:rPr lang="en-US"/>
              <a:t>(nonleaf node) denotes a test on an </a:t>
            </a:r>
            <a:r>
              <a:rPr b="1" lang="en-US"/>
              <a:t>attribute</a:t>
            </a:r>
            <a:r>
              <a:rPr lang="en-US"/>
              <a:t>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</a:t>
            </a:r>
            <a:r>
              <a:rPr b="1" lang="en-US"/>
              <a:t>branch</a:t>
            </a:r>
            <a:r>
              <a:rPr lang="en-US"/>
              <a:t> represents an outcome of the test.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</a:t>
            </a:r>
            <a:r>
              <a:rPr b="1" lang="en-US"/>
              <a:t>leaf node </a:t>
            </a:r>
            <a:r>
              <a:rPr lang="en-US"/>
              <a:t>(or terminal node) holds a </a:t>
            </a:r>
            <a:r>
              <a:rPr b="1" lang="en-US"/>
              <a:t>class label</a:t>
            </a:r>
            <a:r>
              <a:rPr lang="en-US"/>
              <a:t>.</a:t>
            </a:r>
            <a:endParaRPr/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2698" r="0" t="2815"/>
          <a:stretch/>
        </p:blipFill>
        <p:spPr>
          <a:xfrm>
            <a:off x="5431755" y="3023915"/>
            <a:ext cx="6671662" cy="370200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731519" y="2854960"/>
            <a:ext cx="4700235" cy="40298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nodes are denoted by rectangles.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Leaf nodes are denoted by ovals. 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decision tree algorithms produce only binary trees.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Others can produce nonbinary trees.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</a:t>
            </a:r>
            <a:endParaRPr sz="4000"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How are decision trees used for classification?</a:t>
            </a:r>
            <a:r>
              <a:rPr lang="en-US"/>
              <a:t>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Given a tuple, X, for which the associated class label is unknown, the attribute values of the tuple are tested against the decision tree.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path is traced from the root to a leaf node, which holds the class prediction for that tuple.</a:t>
            </a:r>
            <a:endParaRPr/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2698" r="0" t="2815"/>
          <a:stretch/>
        </p:blipFill>
        <p:spPr>
          <a:xfrm>
            <a:off x="5431755" y="3023915"/>
            <a:ext cx="6671662" cy="370200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 txBox="1"/>
          <p:nvPr/>
        </p:nvSpPr>
        <p:spPr>
          <a:xfrm>
            <a:off x="731519" y="3429000"/>
            <a:ext cx="4700235" cy="3455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Decision trees can easily be converted to classification rules. 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tree classifiers have good accuracy. However, successful use may depend on the data at hand.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</a:t>
            </a:r>
            <a:endParaRPr sz="4000"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Popular traditional Decision Tree Algorithms: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/>
              <a:t>ID3 (Iterative Dichotomiser)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/>
              <a:t>C4.5 (a successor of ID3)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 sz="2600"/>
              <a:t>CART (Classification And Regression Trees)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ID3, C4.5, and CART adopt a greedy (i.e., nonbacktracking) approach in which decision trees are constructed in a top-down recursive divide-and-conquer manner.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</a:t>
            </a:r>
            <a:endParaRPr sz="4000"/>
          </a:p>
        </p:txBody>
      </p:sp>
      <p:sp>
        <p:nvSpPr>
          <p:cNvPr id="147" name="Google Shape;147;p10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Decision tree algorithm has three parameters: </a:t>
            </a:r>
            <a:endParaRPr/>
          </a:p>
          <a:p>
            <a:pPr indent="-571500" lvl="0" marL="5715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romanLcPeriod"/>
            </a:pPr>
            <a:r>
              <a:rPr b="1" lang="en-US"/>
              <a:t>D:</a:t>
            </a:r>
            <a:r>
              <a:rPr lang="en-US"/>
              <a:t> data partition, Initially, it is the complete set of training tuples and their associated class labels.</a:t>
            </a:r>
            <a:endParaRPr/>
          </a:p>
          <a:p>
            <a:pPr indent="-571500" lvl="0" marL="5715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romanLcPeriod"/>
            </a:pPr>
            <a:r>
              <a:rPr b="1" lang="en-US"/>
              <a:t>Parameter attribute list: </a:t>
            </a:r>
            <a:r>
              <a:rPr lang="en-US"/>
              <a:t>the set of candidate attributes. </a:t>
            </a:r>
            <a:endParaRPr/>
          </a:p>
          <a:p>
            <a:pPr indent="-571500" lvl="0" marL="5715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romanLcPeriod"/>
            </a:pPr>
            <a:r>
              <a:rPr b="1" lang="en-US"/>
              <a:t>Attribute selection method: </a:t>
            </a:r>
            <a:r>
              <a:rPr lang="en-US"/>
              <a:t>specifies a heuristic procedure for selecting the attribute that “best” discriminates the given tuples according to class. </a:t>
            </a:r>
            <a:endParaRPr/>
          </a:p>
          <a:p>
            <a:pPr indent="-457200" lvl="1" marL="720725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/>
              <a:t>The criterion consists of a splitting attribute and, possibly, either a split-point or splitting subset. </a:t>
            </a:r>
            <a:endParaRPr/>
          </a:p>
          <a:p>
            <a:pPr indent="-457200" lvl="1" marL="720725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/>
              <a:t>Attribute selection measure such as information gain or the Gini index.</a:t>
            </a:r>
            <a:endParaRPr/>
          </a:p>
          <a:p>
            <a:pPr indent="-457200" lvl="1" marL="720725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/>
              <a:t>Gini index: Tree is strictly binary</a:t>
            </a:r>
            <a:endParaRPr/>
          </a:p>
          <a:p>
            <a:pPr indent="-457200" lvl="1" marL="720725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 sz="2800"/>
              <a:t>Information gain: Multiway splits (i.e., two or more branches to be grown from a node)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</a:t>
            </a:r>
            <a:endParaRPr sz="4000"/>
          </a:p>
        </p:txBody>
      </p:sp>
      <p:sp>
        <p:nvSpPr>
          <p:cNvPr id="153" name="Google Shape;153;p11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the tuples in D are all of the </a:t>
            </a:r>
            <a:r>
              <a:rPr b="1" lang="en-US"/>
              <a:t>same class</a:t>
            </a:r>
            <a:r>
              <a:rPr lang="en-US"/>
              <a:t>, then node N becomes a leaf and is labeled with that class (Stopping criteria).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Otherwise, the algorithm calls </a:t>
            </a:r>
            <a:r>
              <a:rPr b="1" lang="en-US"/>
              <a:t>Attribute selection method</a:t>
            </a:r>
            <a:r>
              <a:rPr lang="en-US"/>
              <a:t> to determine the splitting criterion.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All the tuples in partition D (represented at node N) belong to the same class.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Stopping criteria:</a:t>
            </a:r>
            <a:r>
              <a:rPr lang="en-US"/>
              <a:t> Recursive partitioning stops only when any one of the following terminating conditions is true :</a:t>
            </a:r>
            <a:endParaRPr/>
          </a:p>
          <a:p>
            <a:pPr indent="-274638" lvl="1" marL="538163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/>
              <a:t>All the tuples in partition D (represented at node N) belong to the same class.</a:t>
            </a:r>
            <a:endParaRPr/>
          </a:p>
          <a:p>
            <a:pPr indent="-274638" lvl="1" marL="538163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/>
              <a:t>There are no remaining attributes on which the tuples may be further partitioned.</a:t>
            </a:r>
            <a:endParaRPr/>
          </a:p>
          <a:p>
            <a:pPr indent="-274638" lvl="1" marL="538163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/>
              <a:t>There are no tuples for a given branch, that is, a partition D</a:t>
            </a:r>
            <a:r>
              <a:rPr baseline="-25000" lang="en-US" sz="2800"/>
              <a:t>j</a:t>
            </a:r>
            <a:r>
              <a:rPr lang="en-US" sz="2800"/>
              <a:t> is empty.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</a:t>
            </a:r>
            <a:endParaRPr sz="4000"/>
          </a:p>
        </p:txBody>
      </p:sp>
      <p:sp>
        <p:nvSpPr>
          <p:cNvPr id="159" name="Google Shape;159;p12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 A be the splitting attribute. A has v distinct values, {a</a:t>
            </a:r>
            <a:r>
              <a:rPr baseline="-25000" lang="en-US"/>
              <a:t>1</a:t>
            </a:r>
            <a:r>
              <a:rPr lang="en-US"/>
              <a:t>, a</a:t>
            </a:r>
            <a:r>
              <a:rPr baseline="-25000" lang="en-US"/>
              <a:t>2</a:t>
            </a:r>
            <a:r>
              <a:rPr lang="en-US"/>
              <a:t>,..., a</a:t>
            </a:r>
            <a:r>
              <a:rPr baseline="-25000" lang="en-US"/>
              <a:t>v</a:t>
            </a:r>
            <a:r>
              <a:rPr lang="en-US"/>
              <a:t>}, based on the training data.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is </a:t>
            </a:r>
            <a:r>
              <a:rPr b="1" lang="en-US"/>
              <a:t>discrete-valued</a:t>
            </a:r>
            <a:r>
              <a:rPr lang="en-US"/>
              <a:t>: In this case, the outcomes of the test at node N correspond directly to the known values of A.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branch is created for each known value, a</a:t>
            </a:r>
            <a:r>
              <a:rPr baseline="-25000" lang="en-US"/>
              <a:t>j</a:t>
            </a:r>
            <a:r>
              <a:rPr lang="en-US"/>
              <a:t>, of A and labeled with that value.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is </a:t>
            </a:r>
            <a:r>
              <a:rPr b="1" lang="en-US"/>
              <a:t>continuous-valued</a:t>
            </a:r>
            <a:r>
              <a:rPr lang="en-US"/>
              <a:t>: In this case, the test at node N has two possible outcomes, corresponding to the conditions A ≤ split point and A &gt; split point, respectively.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"/>
          <p:cNvSpPr txBox="1"/>
          <p:nvPr>
            <p:ph type="title"/>
          </p:nvPr>
        </p:nvSpPr>
        <p:spPr>
          <a:xfrm>
            <a:off x="838200" y="121280"/>
            <a:ext cx="105156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</a:t>
            </a:r>
            <a:endParaRPr sz="4000"/>
          </a:p>
        </p:txBody>
      </p:sp>
      <p:sp>
        <p:nvSpPr>
          <p:cNvPr id="165" name="Google Shape;165;p13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Three popular attribute selection measures—</a:t>
            </a:r>
            <a:endParaRPr/>
          </a:p>
          <a:p>
            <a:pPr indent="-514350" lvl="1" marL="9715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en-US" sz="2800"/>
              <a:t>Information gain	(ID3)</a:t>
            </a:r>
            <a:endParaRPr/>
          </a:p>
          <a:p>
            <a:pPr indent="-514350" lvl="1" marL="9715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en-US" sz="2800"/>
              <a:t>Gain ratio		(C4.5)</a:t>
            </a:r>
            <a:endParaRPr/>
          </a:p>
          <a:p>
            <a:pPr indent="-514350" lvl="1" marL="97155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lphaLcParenR"/>
            </a:pPr>
            <a:r>
              <a:rPr lang="en-US" sz="2800"/>
              <a:t>Gini index		(CART)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"/>
          <p:cNvSpPr txBox="1"/>
          <p:nvPr>
            <p:ph type="title"/>
          </p:nvPr>
        </p:nvSpPr>
        <p:spPr>
          <a:xfrm>
            <a:off x="233680" y="121280"/>
            <a:ext cx="1164336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171" name="Google Shape;171;p14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Information Gain: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ID3</a:t>
            </a:r>
            <a:r>
              <a:rPr lang="en-US"/>
              <a:t> uses </a:t>
            </a:r>
            <a:r>
              <a:rPr b="1" lang="en-US"/>
              <a:t>information gain </a:t>
            </a:r>
            <a:r>
              <a:rPr lang="en-US"/>
              <a:t>as its attribute selection measure.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attribute with the </a:t>
            </a:r>
            <a:r>
              <a:rPr b="1" lang="en-US"/>
              <a:t>highest information gain</a:t>
            </a:r>
            <a:r>
              <a:rPr lang="en-US"/>
              <a:t> is chosen as the splitting attribute for node N.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classify the tuples in the resulting partitions and reflects the least randomness or “impurity” in these partitions.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"/>
          <p:cNvSpPr txBox="1"/>
          <p:nvPr>
            <p:ph type="title"/>
          </p:nvPr>
        </p:nvSpPr>
        <p:spPr>
          <a:xfrm>
            <a:off x="182880" y="121280"/>
            <a:ext cx="1178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Entropy (Information Theory)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measure of uncertainty associated with a random variable.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 entropy -&gt; higher uncertainty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Lower entropy -&gt; lower uncertainty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/>
              <a:t>expected</a:t>
            </a:r>
            <a:r>
              <a:rPr lang="en-US"/>
              <a:t> </a:t>
            </a:r>
            <a:r>
              <a:rPr b="1" lang="en-US"/>
              <a:t>information (or entropy)</a:t>
            </a:r>
            <a:r>
              <a:rPr lang="en-US"/>
              <a:t> needed to classify a tuple in D is:</a:t>
            </a:r>
            <a:endParaRPr/>
          </a:p>
        </p:txBody>
      </p:sp>
      <p:pic>
        <p:nvPicPr>
          <p:cNvPr id="178" name="Google Shape;1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1282" y="3639820"/>
            <a:ext cx="41052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type="title"/>
          </p:nvPr>
        </p:nvSpPr>
        <p:spPr>
          <a:xfrm>
            <a:off x="101600" y="121280"/>
            <a:ext cx="119786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184" name="Google Shape;184;p16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</a:t>
            </a:r>
            <a:r>
              <a:rPr b="1" lang="en-US"/>
              <a:t>expected</a:t>
            </a:r>
            <a:r>
              <a:rPr lang="en-US"/>
              <a:t> </a:t>
            </a:r>
            <a:r>
              <a:rPr b="1" lang="en-US"/>
              <a:t>information (or entropy)</a:t>
            </a:r>
            <a:r>
              <a:rPr lang="en-US"/>
              <a:t> needed to classify a tuple in D is: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where p</a:t>
            </a:r>
            <a:r>
              <a:rPr baseline="-25000" lang="en-US"/>
              <a:t>i</a:t>
            </a:r>
            <a:r>
              <a:rPr lang="en-US"/>
              <a:t> is the nonzero probability that an arbitrary tuple in D belongs to class C</a:t>
            </a:r>
            <a:r>
              <a:rPr baseline="-25000" lang="en-US"/>
              <a:t>i</a:t>
            </a:r>
            <a:r>
              <a:rPr lang="en-US"/>
              <a:t> and is estimated by |C</a:t>
            </a:r>
            <a:r>
              <a:rPr baseline="-25000" lang="en-US"/>
              <a:t>i,D</a:t>
            </a:r>
            <a:r>
              <a:rPr lang="en-US"/>
              <a:t>|/|D|.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log function to the base 2 is used, because the information is encoded in bits.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Info(D) is just the average amount of information needed to identify the class label of a tuple in D.</a:t>
            </a:r>
            <a:endParaRPr/>
          </a:p>
        </p:txBody>
      </p:sp>
      <p:pic>
        <p:nvPicPr>
          <p:cNvPr id="185" name="Google Shape;1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8402" y="1678940"/>
            <a:ext cx="41052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111760" y="121280"/>
            <a:ext cx="1186688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needed (after using A to split D into v partitions) to classify D: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term        acts as the weight of the j</a:t>
            </a:r>
            <a:r>
              <a:rPr baseline="30000" lang="en-US"/>
              <a:t>th</a:t>
            </a:r>
            <a:r>
              <a:rPr lang="en-US"/>
              <a:t> partition.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</a:t>
            </a:r>
            <a:r>
              <a:rPr baseline="-25000" lang="en-US"/>
              <a:t>A</a:t>
            </a:r>
            <a:r>
              <a:rPr lang="en-US"/>
              <a:t>(D) is the expected information required to classify a tuple from D based on the partitioning by A.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smaller the expected information (still) required, the greater the purity of the partitions.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92" name="Google Shape;1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3722" y="1338580"/>
            <a:ext cx="4743207" cy="126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85695" y="2841851"/>
            <a:ext cx="552450" cy="68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199" name="Google Shape;199;p18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gain is defined as the difference between the original information requirement (i.e., based on just the proportion of classes) and the new requirement (i.e., obtained after partitioning on A).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gained by branching on attribute A</a:t>
            </a:r>
            <a:endParaRPr/>
          </a:p>
        </p:txBody>
      </p:sp>
      <p:pic>
        <p:nvPicPr>
          <p:cNvPr id="200" name="Google Shape;2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23945" y="2857500"/>
            <a:ext cx="478155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type="title"/>
          </p:nvPr>
        </p:nvSpPr>
        <p:spPr>
          <a:xfrm>
            <a:off x="94415" y="121280"/>
            <a:ext cx="11935025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206" name="Google Shape;206;p19"/>
          <p:cNvSpPr txBox="1"/>
          <p:nvPr>
            <p:ph idx="1" type="body"/>
          </p:nvPr>
        </p:nvSpPr>
        <p:spPr>
          <a:xfrm>
            <a:off x="731520" y="792480"/>
            <a:ext cx="1081604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this example, </a:t>
            </a:r>
            <a:r>
              <a:rPr b="1" lang="en-US"/>
              <a:t>class label </a:t>
            </a:r>
            <a:r>
              <a:rPr lang="en-US"/>
              <a:t>attribute, buys_computer, has two distinct values (namely, yes, no).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 are nine tuples of class yes and five tuples of class no.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(root) node N is created for the tuples in D.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731520" y="270246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splitting criterion for these tuples, we first need to compute the expected information to classify a tuple in D.</a:t>
            </a:r>
            <a:endParaRPr/>
          </a:p>
        </p:txBody>
      </p:sp>
      <p:pic>
        <p:nvPicPr>
          <p:cNvPr id="208" name="Google Shape;2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3583" y="4550507"/>
            <a:ext cx="3507378" cy="97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9"/>
          <p:cNvPicPr preferRelativeResize="0"/>
          <p:nvPr/>
        </p:nvPicPr>
        <p:blipFill rotWithShape="1">
          <a:blip r:embed="rId5">
            <a:alphaModFix/>
          </a:blip>
          <a:srcRect b="6492" l="1252" r="0" t="11170"/>
          <a:stretch/>
        </p:blipFill>
        <p:spPr>
          <a:xfrm>
            <a:off x="94415" y="5882639"/>
            <a:ext cx="6090049" cy="629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87086" y="121280"/>
            <a:ext cx="11932194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731520" y="792480"/>
            <a:ext cx="1081604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Next, we need to compute the expected information requirement for each attribute.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Let’s start with the attribute age. We need to look at the distribution of yes and no tuples for each category of age. 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731520" y="270246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550" y="3979142"/>
            <a:ext cx="3507378" cy="976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550" y="5331594"/>
            <a:ext cx="3669175" cy="976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87086" y="121280"/>
            <a:ext cx="11972834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731520" y="792480"/>
            <a:ext cx="1081604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the age category “youth,” there are two yes tuples and three no tuples.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the category “middle aged,” there are four yes tuples and zero no tuples.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731520" y="270246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110" y="4090902"/>
            <a:ext cx="3669175" cy="97653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51840" y="285486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category “senior,” there are three yes tuples and two no tuples. </a:t>
            </a:r>
            <a:endParaRPr/>
          </a:p>
        </p:txBody>
      </p:sp>
      <p:pic>
        <p:nvPicPr>
          <p:cNvPr id="231" name="Google Shape;2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90" y="5122167"/>
            <a:ext cx="3976175" cy="607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9810" y="5165569"/>
            <a:ext cx="1994590" cy="553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110" y="6030280"/>
            <a:ext cx="2952450" cy="56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28071" y="6232508"/>
            <a:ext cx="1365387" cy="24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"/>
          <p:cNvSpPr txBox="1"/>
          <p:nvPr>
            <p:ph type="title"/>
          </p:nvPr>
        </p:nvSpPr>
        <p:spPr>
          <a:xfrm>
            <a:off x="87086" y="121280"/>
            <a:ext cx="11982994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240" name="Google Shape;240;p22"/>
          <p:cNvSpPr txBox="1"/>
          <p:nvPr>
            <p:ph idx="1" type="body"/>
          </p:nvPr>
        </p:nvSpPr>
        <p:spPr>
          <a:xfrm>
            <a:off x="731520" y="792480"/>
            <a:ext cx="10816046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Similarly, we can compute Gain(income) =0.029 bits, Gain(student) = 0.151 bits, and Gain(credit_rating) = 0.048 bits.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31520" y="270246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110" y="4090902"/>
            <a:ext cx="3669175" cy="97653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41680" y="233670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Because age has the highest information gain among the attributes, it is selected as the splitting attribute.</a:t>
            </a:r>
            <a:endParaRPr/>
          </a:p>
        </p:txBody>
      </p:sp>
      <p:pic>
        <p:nvPicPr>
          <p:cNvPr id="245" name="Google Shape;24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90" y="5122167"/>
            <a:ext cx="3976175" cy="6070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9810" y="5165569"/>
            <a:ext cx="1994590" cy="553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8110" y="6030280"/>
            <a:ext cx="2952450" cy="56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28071" y="6232508"/>
            <a:ext cx="1365387" cy="243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20900" y="886724"/>
            <a:ext cx="7747000" cy="395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91440" y="121280"/>
            <a:ext cx="1200912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255" name="Google Shape;255;p23"/>
          <p:cNvSpPr txBox="1"/>
          <p:nvPr/>
        </p:nvSpPr>
        <p:spPr>
          <a:xfrm>
            <a:off x="731520" y="270246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6520" r="0" t="3555"/>
          <a:stretch/>
        </p:blipFill>
        <p:spPr>
          <a:xfrm>
            <a:off x="4897" y="836018"/>
            <a:ext cx="6314624" cy="4351339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0" y="5187356"/>
            <a:ext cx="6207760" cy="167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*Note the tuples falling into the partition for age D middle aged all belong to the same class.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 be created at the end of this branch and labeled “yes.”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/>
          <p:nvPr>
            <p:ph type="title"/>
          </p:nvPr>
        </p:nvSpPr>
        <p:spPr>
          <a:xfrm>
            <a:off x="81280" y="121280"/>
            <a:ext cx="1200912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/>
              <a:t>Decision Tree: Attribute Selection Measures- Information gain</a:t>
            </a:r>
            <a:endParaRPr sz="4000"/>
          </a:p>
        </p:txBody>
      </p:sp>
      <p:sp>
        <p:nvSpPr>
          <p:cNvPr id="264" name="Google Shape;264;p24"/>
          <p:cNvSpPr txBox="1"/>
          <p:nvPr/>
        </p:nvSpPr>
        <p:spPr>
          <a:xfrm>
            <a:off x="731520" y="2702466"/>
            <a:ext cx="5466080" cy="4155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6520" r="0" t="3555"/>
          <a:stretch/>
        </p:blipFill>
        <p:spPr>
          <a:xfrm>
            <a:off x="4897" y="836018"/>
            <a:ext cx="6314624" cy="4351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/>
          <p:cNvPicPr preferRelativeResize="0"/>
          <p:nvPr/>
        </p:nvPicPr>
        <p:blipFill rotWithShape="1">
          <a:blip r:embed="rId5">
            <a:alphaModFix/>
          </a:blip>
          <a:srcRect b="0" l="7575" r="0" t="5355"/>
          <a:stretch/>
        </p:blipFill>
        <p:spPr>
          <a:xfrm>
            <a:off x="7020560" y="689284"/>
            <a:ext cx="4491690" cy="2005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>
            <p:ph type="title"/>
          </p:nvPr>
        </p:nvSpPr>
        <p:spPr>
          <a:xfrm>
            <a:off x="838200" y="121280"/>
            <a:ext cx="1051560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</a:t>
            </a:r>
            <a:endParaRPr sz="4000"/>
          </a:p>
        </p:txBody>
      </p:sp>
      <p:sp>
        <p:nvSpPr>
          <p:cNvPr id="273" name="Google Shape;273;p25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Computing Information-Gain for Continuous-Valued Attributes: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 attribute A be a continuous-valued attribute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Must determine the best split point for A</a:t>
            </a:r>
            <a:endParaRPr/>
          </a:p>
          <a:p>
            <a:pPr indent="-422275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Sort the value A in increasing order</a:t>
            </a:r>
            <a:endParaRPr/>
          </a:p>
          <a:p>
            <a:pPr indent="-422275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Typically, the midpoint between each pair of adjacent values is considered as a possible split point</a:t>
            </a:r>
            <a:endParaRPr/>
          </a:p>
          <a:p>
            <a:pPr indent="-422275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(a</a:t>
            </a:r>
            <a:r>
              <a:rPr baseline="-25000" lang="en-US" sz="2800"/>
              <a:t>i</a:t>
            </a:r>
            <a:r>
              <a:rPr lang="en-US" sz="2800"/>
              <a:t>+a</a:t>
            </a:r>
            <a:r>
              <a:rPr baseline="-25000" lang="en-US" sz="2800"/>
              <a:t>i+1</a:t>
            </a:r>
            <a:r>
              <a:rPr lang="en-US" sz="2800"/>
              <a:t>)/2 is the midpoint between the values of a</a:t>
            </a:r>
            <a:r>
              <a:rPr baseline="-25000" lang="en-US" sz="2800"/>
              <a:t>i</a:t>
            </a:r>
            <a:r>
              <a:rPr lang="en-US" sz="2800"/>
              <a:t> and a</a:t>
            </a:r>
            <a:r>
              <a:rPr baseline="-25000" lang="en-US" sz="2800"/>
              <a:t>i+1</a:t>
            </a:r>
            <a:endParaRPr/>
          </a:p>
          <a:p>
            <a:pPr indent="-422275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The point with the minimum expected information requirement for A is selected as the split-point for A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Split:</a:t>
            </a:r>
            <a:endParaRPr/>
          </a:p>
          <a:p>
            <a:pPr indent="-422275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D1 is the set of tuples in D satisfying A ≤ split-point, and D2 is the set of tuples in D satisfying A &gt; split-point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Gain Ratio</a:t>
            </a:r>
            <a:endParaRPr sz="4000"/>
          </a:p>
        </p:txBody>
      </p:sp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gain measure is biased toward tests with many outcomes.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gain prefers to select attributes having a large number of values.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consider an attribute that acts as a unique identifier such as product ID.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split on product ID would result in a large number of partitions (as many as there are values), each one containing just one tuple.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partition is pure, the information required to classify data set D based on this partitioning would be Info</a:t>
            </a:r>
            <a:r>
              <a:rPr baseline="-25000" lang="en-US"/>
              <a:t>product_ID</a:t>
            </a:r>
            <a:r>
              <a:rPr lang="en-US"/>
              <a:t>(D)= 0.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Therefore, the information gained by partitioning on this attribute is maximal.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7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Gain Ratio</a:t>
            </a:r>
            <a:endParaRPr sz="4000"/>
          </a:p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C4.5, a successor of ID3, uses an extension to information gain known as gain ratio, which attempts to overcome this bias.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each outcome, it considers the number of tuples having that outcome with respect to the total number of tuples in D.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attribute with the maximum gain ratio is selected as the splitting attribute.</a:t>
            </a:r>
            <a:endParaRPr/>
          </a:p>
        </p:txBody>
      </p:sp>
      <p:pic>
        <p:nvPicPr>
          <p:cNvPr id="286" name="Google Shape;286;p27"/>
          <p:cNvPicPr preferRelativeResize="0"/>
          <p:nvPr/>
        </p:nvPicPr>
        <p:blipFill rotWithShape="1">
          <a:blip r:embed="rId3">
            <a:alphaModFix/>
          </a:blip>
          <a:srcRect b="2090" l="2150" r="0" t="3898"/>
          <a:stretch/>
        </p:blipFill>
        <p:spPr>
          <a:xfrm>
            <a:off x="3484880" y="1854200"/>
            <a:ext cx="5317284" cy="1021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4">
            <a:alphaModFix/>
          </a:blip>
          <a:srcRect b="0" l="0" r="0" t="7874"/>
          <a:stretch/>
        </p:blipFill>
        <p:spPr>
          <a:xfrm>
            <a:off x="3505200" y="4063680"/>
            <a:ext cx="4390390" cy="877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Gain Ratio</a:t>
            </a:r>
            <a:endParaRPr sz="4000"/>
          </a:p>
        </p:txBody>
      </p:sp>
      <p:sp>
        <p:nvSpPr>
          <p:cNvPr id="293" name="Google Shape;293;p28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Computation of gain ratio for the attribute income.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have Gain(income) = 0.029.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Therefore,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GainRatio(income) 0.029/1.557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= 0.019.</a:t>
            </a:r>
            <a:endParaRPr/>
          </a:p>
        </p:txBody>
      </p:sp>
      <p:pic>
        <p:nvPicPr>
          <p:cNvPr id="294" name="Google Shape;294;p28"/>
          <p:cNvPicPr preferRelativeResize="0"/>
          <p:nvPr/>
        </p:nvPicPr>
        <p:blipFill rotWithShape="1">
          <a:blip r:embed="rId3">
            <a:alphaModFix/>
          </a:blip>
          <a:srcRect b="0" l="832" r="0" t="10605"/>
          <a:stretch/>
        </p:blipFill>
        <p:spPr>
          <a:xfrm>
            <a:off x="573314" y="1653171"/>
            <a:ext cx="10084526" cy="817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57840" y="1914832"/>
            <a:ext cx="1130098" cy="293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/>
          <p:cNvPicPr preferRelativeResize="0"/>
          <p:nvPr/>
        </p:nvPicPr>
        <p:blipFill rotWithShape="1">
          <a:blip r:embed="rId6">
            <a:alphaModFix/>
          </a:blip>
          <a:srcRect b="2090" l="2150" r="0" t="3898"/>
          <a:stretch/>
        </p:blipFill>
        <p:spPr>
          <a:xfrm>
            <a:off x="731520" y="5492882"/>
            <a:ext cx="4276853" cy="821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Gini Index</a:t>
            </a:r>
            <a:endParaRPr sz="4000"/>
          </a:p>
        </p:txBody>
      </p:sp>
      <p:sp>
        <p:nvSpPr>
          <p:cNvPr id="303" name="Google Shape;303;p29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Gini index measures the impurity of a data partition or set of training tuples.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where p</a:t>
            </a:r>
            <a:r>
              <a:rPr baseline="-25000" lang="en-US"/>
              <a:t>i</a:t>
            </a:r>
            <a:r>
              <a:rPr lang="en-US"/>
              <a:t> is the probability that a tuple in D belongs to class C</a:t>
            </a:r>
            <a:r>
              <a:rPr baseline="-25000" lang="en-US"/>
              <a:t>i</a:t>
            </a:r>
            <a:r>
              <a:rPr lang="en-US"/>
              <a:t> and is estimated by |C</a:t>
            </a:r>
            <a:r>
              <a:rPr baseline="-25000" lang="en-US"/>
              <a:t>i,D</a:t>
            </a:r>
            <a:r>
              <a:rPr lang="en-US"/>
              <a:t>|/|D|. The sum is computed over m classes.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Gini index considers a binary split for each attribute.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determine the best binary split on A, we examine all the possible subsets that can be formed using known values of A.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if income has three possible values, namely {low, medium, high}, then the possible subsets are {low, medium, high}, {low, medium}, {low, high}, {medium, high}, {low}, {medium}, {high}, and {}.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04" name="Google Shape;304;p29"/>
          <p:cNvPicPr preferRelativeResize="0"/>
          <p:nvPr/>
        </p:nvPicPr>
        <p:blipFill rotWithShape="1">
          <a:blip r:embed="rId3">
            <a:alphaModFix/>
          </a:blip>
          <a:srcRect b="4478" l="4978" r="1430" t="5962"/>
          <a:stretch/>
        </p:blipFill>
        <p:spPr>
          <a:xfrm>
            <a:off x="5171440" y="1507218"/>
            <a:ext cx="2905760" cy="101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Gini Index</a:t>
            </a:r>
            <a:endParaRPr sz="4000"/>
          </a:p>
        </p:txBody>
      </p:sp>
      <p:sp>
        <p:nvSpPr>
          <p:cNvPr id="310" name="Google Shape;310;p30"/>
          <p:cNvSpPr txBox="1"/>
          <p:nvPr>
            <p:ph idx="1" type="body"/>
          </p:nvPr>
        </p:nvSpPr>
        <p:spPr>
          <a:xfrm>
            <a:off x="731520" y="792480"/>
            <a:ext cx="10816046" cy="606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exclude the power set, {low, medium, high}, and the empty set {} from consideration since, conceptually, they do not represent a split.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Therefore, there are 2</a:t>
            </a:r>
            <a:r>
              <a:rPr baseline="30000" lang="en-US"/>
              <a:t>v</a:t>
            </a:r>
            <a:r>
              <a:rPr lang="en-US"/>
              <a:t> − 2 possible ways to form two partitions of the data D, based on a binary split on A.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considering a binary split, we compute a weighted sum of the impurity of each resulting partition.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if a binary split on A partitions D into D</a:t>
            </a:r>
            <a:r>
              <a:rPr baseline="-25000" lang="en-US"/>
              <a:t>1</a:t>
            </a:r>
            <a:r>
              <a:rPr lang="en-US"/>
              <a:t> and D</a:t>
            </a:r>
            <a:r>
              <a:rPr baseline="-25000" lang="en-US"/>
              <a:t>2</a:t>
            </a:r>
            <a:r>
              <a:rPr lang="en-US"/>
              <a:t>, the Gini index of D given that partitioning is: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143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a discrete-valued attribute, the subset that gives the </a:t>
            </a:r>
            <a:r>
              <a:rPr b="1" lang="en-US"/>
              <a:t>minimum Gini index</a:t>
            </a:r>
            <a:r>
              <a:rPr lang="en-US"/>
              <a:t> for that attribute is </a:t>
            </a:r>
            <a:r>
              <a:rPr b="1" lang="en-US"/>
              <a:t>selected as its splitting subset</a:t>
            </a:r>
            <a:r>
              <a:rPr lang="en-US"/>
              <a:t>.</a:t>
            </a:r>
            <a:endParaRPr/>
          </a:p>
        </p:txBody>
      </p:sp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2346" r="0" t="21391"/>
          <a:stretch/>
        </p:blipFill>
        <p:spPr>
          <a:xfrm>
            <a:off x="3743945" y="4867918"/>
            <a:ext cx="5715015" cy="762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1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Gini Index</a:t>
            </a:r>
            <a:endParaRPr sz="4000"/>
          </a:p>
        </p:txBody>
      </p:sp>
      <p:sp>
        <p:nvSpPr>
          <p:cNvPr id="317" name="Google Shape;317;p31"/>
          <p:cNvSpPr txBox="1"/>
          <p:nvPr>
            <p:ph idx="1" type="body"/>
          </p:nvPr>
        </p:nvSpPr>
        <p:spPr>
          <a:xfrm>
            <a:off x="731520" y="792480"/>
            <a:ext cx="10816046" cy="606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reduction in impurity that would be incurred by a binary split on a discrete- or continuous-valued attribute A is: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61925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sz="1050"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attribute that maximizes the reduction in impurity (or, equivalently, has the minimum Gini index) is selected as the splitting attribute.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18" name="Google Shape;3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47014" y="1971040"/>
            <a:ext cx="5548094" cy="437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Gini Index</a:t>
            </a:r>
            <a:endParaRPr sz="4000"/>
          </a:p>
        </p:txBody>
      </p:sp>
      <p:sp>
        <p:nvSpPr>
          <p:cNvPr id="324" name="Google Shape;324;p32"/>
          <p:cNvSpPr txBox="1"/>
          <p:nvPr>
            <p:ph idx="1" type="body"/>
          </p:nvPr>
        </p:nvSpPr>
        <p:spPr>
          <a:xfrm>
            <a:off x="731520" y="792480"/>
            <a:ext cx="10816046" cy="606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Gini index to compute the impurity of D: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61925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sz="1050"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find the splitting criterion for the tuples in D, we need to compute the Gini index for each attribute.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0" y="3037840"/>
            <a:ext cx="6207760" cy="382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attribute income and consider each of the possible splitting subsets. 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subset {low, medium} in 10 tuples in partition D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satisfying the condition “income ∈ {low, medium}.” 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remaining four tuples of D would be assigned to partition D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pic>
        <p:nvPicPr>
          <p:cNvPr id="327" name="Google Shape;327;p32"/>
          <p:cNvPicPr preferRelativeResize="0"/>
          <p:nvPr/>
        </p:nvPicPr>
        <p:blipFill rotWithShape="1">
          <a:blip r:embed="rId4">
            <a:alphaModFix/>
          </a:blip>
          <a:srcRect b="0" l="1186" r="0" t="9485"/>
          <a:stretch/>
        </p:blipFill>
        <p:spPr>
          <a:xfrm>
            <a:off x="3556000" y="1364063"/>
            <a:ext cx="5080000" cy="826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Gini Index</a:t>
            </a:r>
            <a:endParaRPr sz="4000"/>
          </a:p>
        </p:txBody>
      </p:sp>
      <p:sp>
        <p:nvSpPr>
          <p:cNvPr id="333" name="Google Shape;333;p33"/>
          <p:cNvSpPr txBox="1"/>
          <p:nvPr>
            <p:ph idx="1" type="body"/>
          </p:nvPr>
        </p:nvSpPr>
        <p:spPr>
          <a:xfrm>
            <a:off x="731520" y="792480"/>
            <a:ext cx="10816046" cy="606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Gini index value computed based on partitioning {low, medium} is</a:t>
            </a:r>
            <a:endParaRPr/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0" y="3037840"/>
            <a:ext cx="6207760" cy="382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 index for the subsets {low, high} and {medium} is 0.458 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{medium, high} and {low}= 0.450.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best binary split for attribute income is on {low, medium*} (or {high}) because it minimizes the Gini index. </a:t>
            </a:r>
            <a:endParaRPr/>
          </a:p>
        </p:txBody>
      </p:sp>
      <p:pic>
        <p:nvPicPr>
          <p:cNvPr id="336" name="Google Shape;33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14" y="1331811"/>
            <a:ext cx="2943346" cy="361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72110" y="1242548"/>
            <a:ext cx="5835950" cy="1415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43237" y="2240111"/>
            <a:ext cx="1083102" cy="24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76556" y="2240110"/>
            <a:ext cx="2308576" cy="322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Tree: Attribute Selection Measures- Gini Index</a:t>
            </a:r>
            <a:endParaRPr sz="4000"/>
          </a:p>
        </p:txBody>
      </p:sp>
      <p:sp>
        <p:nvSpPr>
          <p:cNvPr id="345" name="Google Shape;345;p34"/>
          <p:cNvSpPr txBox="1"/>
          <p:nvPr>
            <p:ph idx="1" type="body"/>
          </p:nvPr>
        </p:nvSpPr>
        <p:spPr>
          <a:xfrm>
            <a:off x="731520" y="792480"/>
            <a:ext cx="10816046" cy="606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Evaluating age, we obtain {youth, senior} (or {middle aged}) as the best split for age with a Gini index of 0.375.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attributes student and credit_rating are both binary, with Gini index values of 0.367 and 0.429, respectively.</a:t>
            </a:r>
            <a:endParaRPr/>
          </a:p>
        </p:txBody>
      </p:sp>
      <p:pic>
        <p:nvPicPr>
          <p:cNvPr id="346" name="Google Shape;3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050" y="2698536"/>
            <a:ext cx="5835950" cy="415946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4"/>
          <p:cNvSpPr txBox="1"/>
          <p:nvPr/>
        </p:nvSpPr>
        <p:spPr>
          <a:xfrm>
            <a:off x="0" y="3037840"/>
            <a:ext cx="6207760" cy="382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Gini index for the subsets {low, high} and {medium} is 0.458 </a:t>
            </a:r>
            <a:endParaRPr/>
          </a:p>
          <a:p>
            <a:pPr indent="-228600" lvl="0" marL="22860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{medium, high} and {low}= 0.450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101600" y="121280"/>
            <a:ext cx="118770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Decision Tree</a:t>
            </a:r>
            <a:endParaRPr sz="4000"/>
          </a:p>
        </p:txBody>
      </p:sp>
      <p:sp>
        <p:nvSpPr>
          <p:cNvPr id="353" name="Google Shape;353;p35"/>
          <p:cNvSpPr txBox="1"/>
          <p:nvPr>
            <p:ph idx="1" type="body"/>
          </p:nvPr>
        </p:nvSpPr>
        <p:spPr>
          <a:xfrm>
            <a:off x="731520" y="792480"/>
            <a:ext cx="10816046" cy="6065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The three measures, in general, return good results but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Information gain: 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biased towards multivalued attributes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Gain ratio: 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tends to prefer unbalanced splits in which one partition is much smaller than the others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Gini index: 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biased to multivalued attributes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has difficulty when # of classes is large</a:t>
            </a:r>
            <a:endParaRPr/>
          </a:p>
          <a:p>
            <a:pPr indent="-228600" lvl="1" marL="6858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/>
              <a:t>tends to favor tests that result in equal-sized partitions and purity in both partitions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233680" y="121280"/>
            <a:ext cx="1164336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Bayes Classification</a:t>
            </a:r>
            <a:endParaRPr sz="4000"/>
          </a:p>
        </p:txBody>
      </p:sp>
      <p:sp>
        <p:nvSpPr>
          <p:cNvPr id="359" name="Google Shape;359;p36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Bayesian classifiers are statistical classifiers.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Bayesian classifier can predict class membership probabilities such as the probability that a given tuple belongs to a particular class.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Bayesian classification is based on Bayes’ theorem.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simple Bayesian classifier known as the naïve Bayesian classifier.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Naïve Bayesian classifiers assume that the effect of an attribute value on a given class is independent of the values of the other attributes.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Bayes’ theorem is useful in that it provides a way of calculating the posterior probability, </a:t>
            </a:r>
            <a:r>
              <a:rPr i="1" lang="en-US"/>
              <a:t>P(H|X)</a:t>
            </a:r>
            <a:r>
              <a:rPr lang="en-US"/>
              <a:t> from </a:t>
            </a:r>
            <a:r>
              <a:rPr i="1" lang="en-US"/>
              <a:t>P(H), P(X|H), </a:t>
            </a:r>
            <a:r>
              <a:rPr lang="en-US"/>
              <a:t>and</a:t>
            </a:r>
            <a:r>
              <a:rPr i="1" lang="en-US"/>
              <a:t> P(X)</a:t>
            </a:r>
            <a:r>
              <a:rPr lang="en-US"/>
              <a:t>.</a:t>
            </a:r>
            <a:endParaRPr/>
          </a:p>
        </p:txBody>
      </p:sp>
      <p:pic>
        <p:nvPicPr>
          <p:cNvPr id="360" name="Google Shape;360;p36"/>
          <p:cNvPicPr preferRelativeResize="0"/>
          <p:nvPr/>
        </p:nvPicPr>
        <p:blipFill rotWithShape="1">
          <a:blip r:embed="rId3">
            <a:alphaModFix/>
          </a:blip>
          <a:srcRect b="6601" l="4286" r="0" t="10784"/>
          <a:stretch/>
        </p:blipFill>
        <p:spPr>
          <a:xfrm>
            <a:off x="4734560" y="4511217"/>
            <a:ext cx="2996247" cy="71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/>
          <p:nvPr>
            <p:ph type="title"/>
          </p:nvPr>
        </p:nvSpPr>
        <p:spPr>
          <a:xfrm>
            <a:off x="233680" y="121280"/>
            <a:ext cx="1164336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Bayes Classification</a:t>
            </a:r>
            <a:endParaRPr sz="4000"/>
          </a:p>
        </p:txBody>
      </p:sp>
      <p:sp>
        <p:nvSpPr>
          <p:cNvPr id="366" name="Google Shape;366;p37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X is a 35-year-old customer with an income of $40,000. Suppose that H is the hypothesis that our customer will buy a computer.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</a:t>
            </a:r>
            <a:r>
              <a:rPr i="1" lang="en-US"/>
              <a:t>P(H|X) </a:t>
            </a:r>
            <a:r>
              <a:rPr lang="en-US"/>
              <a:t>reflects the probability that customer X will buy a computer given that we know the customer’s age and income. </a:t>
            </a:r>
            <a:endParaRPr/>
          </a:p>
        </p:txBody>
      </p:sp>
      <p:pic>
        <p:nvPicPr>
          <p:cNvPr id="367" name="Google Shape;367;p37"/>
          <p:cNvPicPr preferRelativeResize="0"/>
          <p:nvPr/>
        </p:nvPicPr>
        <p:blipFill rotWithShape="1">
          <a:blip r:embed="rId3">
            <a:alphaModFix/>
          </a:blip>
          <a:srcRect b="6601" l="4286" r="0" t="10784"/>
          <a:stretch/>
        </p:blipFill>
        <p:spPr>
          <a:xfrm>
            <a:off x="4734560" y="2895777"/>
            <a:ext cx="2996247" cy="71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 txBox="1"/>
          <p:nvPr>
            <p:ph type="title"/>
          </p:nvPr>
        </p:nvSpPr>
        <p:spPr>
          <a:xfrm>
            <a:off x="233680" y="121280"/>
            <a:ext cx="1164336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Bayes Classification</a:t>
            </a:r>
            <a:endParaRPr sz="4000"/>
          </a:p>
        </p:txBody>
      </p:sp>
      <p:sp>
        <p:nvSpPr>
          <p:cNvPr id="373" name="Google Shape;373;p38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Naïve Bayesian classifiers assume that the effect of an attribute value on a given class is independent of the values of the other attributes.</a:t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example, X is a 35-year-old customer with an income of $40,000. Suppose that H is the hypothesis that our customer will buy a computer. 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Then </a:t>
            </a:r>
            <a:r>
              <a:rPr i="1" lang="en-US"/>
              <a:t>P(H|X) </a:t>
            </a:r>
            <a:r>
              <a:rPr lang="en-US"/>
              <a:t>reflects the probability that customer X will buy a computer given that we know the customer’s age and income. </a:t>
            </a:r>
            <a:endParaRPr/>
          </a:p>
        </p:txBody>
      </p:sp>
      <p:pic>
        <p:nvPicPr>
          <p:cNvPr id="374" name="Google Shape;374;p38"/>
          <p:cNvPicPr preferRelativeResize="0"/>
          <p:nvPr/>
        </p:nvPicPr>
        <p:blipFill rotWithShape="1">
          <a:blip r:embed="rId3">
            <a:alphaModFix/>
          </a:blip>
          <a:srcRect b="6601" l="4286" r="0" t="10784"/>
          <a:stretch/>
        </p:blipFill>
        <p:spPr>
          <a:xfrm>
            <a:off x="4597876" y="1839137"/>
            <a:ext cx="2996247" cy="711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233680" y="121280"/>
            <a:ext cx="1164336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Naïve Bayesian Classification</a:t>
            </a:r>
            <a:endParaRPr sz="4000"/>
          </a:p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Naïve Bayesian classifier, or simple Bayesian classifier, works as follows: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Let D be a training set of tuples and their associated class labels. As usual, each tuple is represented by an n-dimensional attribute vector, X = (x</a:t>
            </a:r>
            <a:r>
              <a:rPr baseline="-25000" lang="en-US"/>
              <a:t>1</a:t>
            </a:r>
            <a:r>
              <a:rPr lang="en-US"/>
              <a:t>, x</a:t>
            </a:r>
            <a:r>
              <a:rPr baseline="-25000" lang="en-US"/>
              <a:t>2</a:t>
            </a:r>
            <a:r>
              <a:rPr lang="en-US"/>
              <a:t>,…, x</a:t>
            </a:r>
            <a:r>
              <a:rPr baseline="-25000" lang="en-US"/>
              <a:t>n</a:t>
            </a:r>
            <a:r>
              <a:rPr lang="en-US"/>
              <a:t>), depicting n measurements made on the tuple from n attributes, respectively, A</a:t>
            </a:r>
            <a:r>
              <a:rPr baseline="-25000" lang="en-US"/>
              <a:t>1</a:t>
            </a:r>
            <a:r>
              <a:rPr lang="en-US"/>
              <a:t>, A</a:t>
            </a:r>
            <a:r>
              <a:rPr baseline="-25000" lang="en-US"/>
              <a:t>2</a:t>
            </a:r>
            <a:r>
              <a:rPr lang="en-US"/>
              <a:t>,…, A</a:t>
            </a:r>
            <a:r>
              <a:rPr baseline="-25000" lang="en-US"/>
              <a:t>n</a:t>
            </a:r>
            <a:r>
              <a:rPr lang="en-US"/>
              <a:t>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that there are m classes, C1, C2,:::, Cm. Given a tuple, X, the classifier will predict that X belongs to the class having the highest posterior probability, conditioned on X. That is, the na¨ıve Bayesian classifier predicts that tuple X belongs to the class Ci if and only if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0"/>
          <p:cNvSpPr txBox="1"/>
          <p:nvPr>
            <p:ph type="title"/>
          </p:nvPr>
        </p:nvSpPr>
        <p:spPr>
          <a:xfrm>
            <a:off x="203200" y="121280"/>
            <a:ext cx="117754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Summary</a:t>
            </a:r>
            <a:endParaRPr sz="4000"/>
          </a:p>
        </p:txBody>
      </p:sp>
      <p:sp>
        <p:nvSpPr>
          <p:cNvPr id="386" name="Google Shape;386;p40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 sets are made up of data objects. A data object represents an entity. Data objects are described by attributes. Attributes can be nominal, binary, ordinal, or numeric.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values of a nominal (or categorical) attribute are symbols or names of things, where each value represents some kind of category, code, or state.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Binary attributes are nominal attributes with only two possible states (such as 1 and 0 or true and false). If the two states are equally important, the attribute is symmetric; otherwise it is asymmetric.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 ordinal attribute is an attribute with possible values that have a meaningful order or ranking among them, but the magnitude between successive values is not known.</a:t>
            </a:r>
            <a:endParaRPr sz="2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type="title"/>
          </p:nvPr>
        </p:nvSpPr>
        <p:spPr>
          <a:xfrm>
            <a:off x="203200" y="121280"/>
            <a:ext cx="11775440" cy="71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References</a:t>
            </a:r>
            <a:endParaRPr sz="4000"/>
          </a:p>
        </p:txBody>
      </p:sp>
      <p:sp>
        <p:nvSpPr>
          <p:cNvPr id="392" name="Google Shape;392;p41"/>
          <p:cNvSpPr txBox="1"/>
          <p:nvPr>
            <p:ph idx="1" type="body"/>
          </p:nvPr>
        </p:nvSpPr>
        <p:spPr>
          <a:xfrm>
            <a:off x="731520" y="792480"/>
            <a:ext cx="10816046" cy="59094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Jiawei Han, Micheline Kamber and Jian Pei, </a:t>
            </a:r>
            <a:r>
              <a:rPr b="1" i="1" lang="en-US"/>
              <a:t>Data Mining: Concepts and Techniques</a:t>
            </a:r>
            <a:r>
              <a:rPr lang="en-US"/>
              <a:t>, Morgan Kaufmann, 3rd Edition.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Tan, Pang-Ning, Michael Steinbach, and Vipin Kumar, </a:t>
            </a:r>
            <a:r>
              <a:rPr b="1" i="1" lang="en-US"/>
              <a:t>Introduction to data mining,</a:t>
            </a:r>
            <a:r>
              <a:rPr lang="en-US"/>
              <a:t> Pearson India.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2023-09-04T03:01:19Z</dcterms:created>
  <dc:creator>Kuldeep Singh</dc:creator>
</cp:coreProperties>
</file>