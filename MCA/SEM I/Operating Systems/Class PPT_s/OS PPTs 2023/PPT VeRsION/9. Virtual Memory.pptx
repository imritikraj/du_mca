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120" r:id="rId1"/>
  </p:sldMasterIdLst>
  <p:notesMasterIdLst>
    <p:notesMasterId r:id="rId49"/>
  </p:notesMasterIdLst>
  <p:handoutMasterIdLst>
    <p:handoutMasterId r:id="rId50"/>
  </p:handoutMasterIdLst>
  <p:sldIdLst>
    <p:sldId id="331" r:id="rId2"/>
    <p:sldId id="334" r:id="rId3"/>
    <p:sldId id="442" r:id="rId4"/>
    <p:sldId id="335" r:id="rId5"/>
    <p:sldId id="443" r:id="rId6"/>
    <p:sldId id="337" r:id="rId7"/>
    <p:sldId id="338" r:id="rId8"/>
    <p:sldId id="446" r:id="rId9"/>
    <p:sldId id="445" r:id="rId10"/>
    <p:sldId id="447" r:id="rId11"/>
    <p:sldId id="409" r:id="rId12"/>
    <p:sldId id="341" r:id="rId13"/>
    <p:sldId id="410" r:id="rId14"/>
    <p:sldId id="343" r:id="rId15"/>
    <p:sldId id="344" r:id="rId16"/>
    <p:sldId id="345" r:id="rId17"/>
    <p:sldId id="347" r:id="rId18"/>
    <p:sldId id="412" r:id="rId19"/>
    <p:sldId id="348" r:id="rId20"/>
    <p:sldId id="349" r:id="rId21"/>
    <p:sldId id="350" r:id="rId22"/>
    <p:sldId id="451" r:id="rId23"/>
    <p:sldId id="452" r:id="rId24"/>
    <p:sldId id="355" r:id="rId25"/>
    <p:sldId id="356" r:id="rId26"/>
    <p:sldId id="357" r:id="rId27"/>
    <p:sldId id="358" r:id="rId28"/>
    <p:sldId id="359" r:id="rId29"/>
    <p:sldId id="453" r:id="rId30"/>
    <p:sldId id="450" r:id="rId31"/>
    <p:sldId id="360" r:id="rId32"/>
    <p:sldId id="361" r:id="rId33"/>
    <p:sldId id="431" r:id="rId34"/>
    <p:sldId id="363" r:id="rId35"/>
    <p:sldId id="364" r:id="rId36"/>
    <p:sldId id="434" r:id="rId37"/>
    <p:sldId id="454" r:id="rId38"/>
    <p:sldId id="428" r:id="rId39"/>
    <p:sldId id="429" r:id="rId40"/>
    <p:sldId id="455" r:id="rId41"/>
    <p:sldId id="456" r:id="rId42"/>
    <p:sldId id="448" r:id="rId43"/>
    <p:sldId id="457" r:id="rId44"/>
    <p:sldId id="370" r:id="rId45"/>
    <p:sldId id="416" r:id="rId46"/>
    <p:sldId id="458" r:id="rId47"/>
    <p:sldId id="378" r:id="rId48"/>
  </p:sldIdLst>
  <p:sldSz cx="9144000" cy="6858000" type="screen4x3"/>
  <p:notesSz cx="7086600" cy="93726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90" autoAdjust="0"/>
    <p:restoredTop sz="94660"/>
  </p:normalViewPr>
  <p:slideViewPr>
    <p:cSldViewPr snapToGrid="0">
      <p:cViewPr varScale="1">
        <p:scale>
          <a:sx n="104" d="100"/>
          <a:sy n="104" d="100"/>
        </p:scale>
        <p:origin x="1680" y="120"/>
      </p:cViewPr>
      <p:guideLst>
        <p:guide orient="horz" pos="816"/>
        <p:guide pos="44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220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e6793c7ac87b5dd5" providerId="LiveId" clId="{7AAFB53E-9A32-4788-8F13-7E06E6D141D5}"/>
    <pc:docChg chg="modSld">
      <pc:chgData name="" userId="e6793c7ac87b5dd5" providerId="LiveId" clId="{7AAFB53E-9A32-4788-8F13-7E06E6D141D5}" dt="2024-04-09T06:57:49.316" v="4" actId="113"/>
      <pc:docMkLst>
        <pc:docMk/>
      </pc:docMkLst>
      <pc:sldChg chg="modSp">
        <pc:chgData name="" userId="e6793c7ac87b5dd5" providerId="LiveId" clId="{7AAFB53E-9A32-4788-8F13-7E06E6D141D5}" dt="2024-04-04T03:12:52.854" v="0" actId="113"/>
        <pc:sldMkLst>
          <pc:docMk/>
          <pc:sldMk cId="0" sldId="357"/>
        </pc:sldMkLst>
        <pc:spChg chg="mod">
          <ac:chgData name="" userId="e6793c7ac87b5dd5" providerId="LiveId" clId="{7AAFB53E-9A32-4788-8F13-7E06E6D141D5}" dt="2024-04-04T03:12:52.854" v="0" actId="113"/>
          <ac:spMkLst>
            <pc:docMk/>
            <pc:sldMk cId="0" sldId="357"/>
            <ac:spMk id="34819" creationId="{36D9B5FA-26B2-48A5-8A7B-413D741468EE}"/>
          </ac:spMkLst>
        </pc:spChg>
      </pc:sldChg>
      <pc:sldChg chg="modSp">
        <pc:chgData name="" userId="e6793c7ac87b5dd5" providerId="LiveId" clId="{7AAFB53E-9A32-4788-8F13-7E06E6D141D5}" dt="2024-04-04T03:13:05.405" v="1" actId="113"/>
        <pc:sldMkLst>
          <pc:docMk/>
          <pc:sldMk cId="0" sldId="359"/>
        </pc:sldMkLst>
        <pc:spChg chg="mod">
          <ac:chgData name="" userId="e6793c7ac87b5dd5" providerId="LiveId" clId="{7AAFB53E-9A32-4788-8F13-7E06E6D141D5}" dt="2024-04-04T03:13:05.405" v="1" actId="113"/>
          <ac:spMkLst>
            <pc:docMk/>
            <pc:sldMk cId="0" sldId="359"/>
            <ac:spMk id="36867" creationId="{7C092E50-7A55-4657-89B6-77C0309E7E14}"/>
          </ac:spMkLst>
        </pc:spChg>
      </pc:sldChg>
      <pc:sldChg chg="modSp">
        <pc:chgData name="" userId="e6793c7ac87b5dd5" providerId="LiveId" clId="{7AAFB53E-9A32-4788-8F13-7E06E6D141D5}" dt="2024-04-09T06:57:49.316" v="4" actId="113"/>
        <pc:sldMkLst>
          <pc:docMk/>
          <pc:sldMk cId="2101624769" sldId="434"/>
        </pc:sldMkLst>
        <pc:spChg chg="mod">
          <ac:chgData name="" userId="e6793c7ac87b5dd5" providerId="LiveId" clId="{7AAFB53E-9A32-4788-8F13-7E06E6D141D5}" dt="2024-04-09T06:57:49.316" v="4" actId="113"/>
          <ac:spMkLst>
            <pc:docMk/>
            <pc:sldMk cId="2101624769" sldId="434"/>
            <ac:spMk id="43011" creationId="{00218A1E-F600-4BE7-9C24-6205C33F8040}"/>
          </ac:spMkLst>
        </pc:spChg>
      </pc:sldChg>
      <pc:sldChg chg="modSp">
        <pc:chgData name="" userId="e6793c7ac87b5dd5" providerId="LiveId" clId="{7AAFB53E-9A32-4788-8F13-7E06E6D141D5}" dt="2024-04-09T06:57:35.171" v="3" actId="113"/>
        <pc:sldMkLst>
          <pc:docMk/>
          <pc:sldMk cId="4273452262" sldId="454"/>
        </pc:sldMkLst>
        <pc:spChg chg="mod">
          <ac:chgData name="" userId="e6793c7ac87b5dd5" providerId="LiveId" clId="{7AAFB53E-9A32-4788-8F13-7E06E6D141D5}" dt="2024-04-09T06:57:35.171" v="3" actId="113"/>
          <ac:spMkLst>
            <pc:docMk/>
            <pc:sldMk cId="4273452262" sldId="454"/>
            <ac:spMk id="43011" creationId="{00218A1E-F600-4BE7-9C24-6205C33F804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C594209-1678-4B2A-B4BD-A47AA0BEBB4E}"/>
              </a:ext>
            </a:extLst>
          </p:cNvPr>
          <p:cNvSpPr>
            <a:spLocks noGrp="1" noChangeArrowheads="1"/>
          </p:cNvSpPr>
          <p:nvPr>
            <p:ph type="hdr" sz="quarter"/>
          </p:nvPr>
        </p:nvSpPr>
        <p:spPr bwMode="auto">
          <a:xfrm>
            <a:off x="0" y="0"/>
            <a:ext cx="3106738"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3B38C903-E9C1-4EEE-9C85-26502C5E8418}"/>
              </a:ext>
            </a:extLst>
          </p:cNvPr>
          <p:cNvSpPr>
            <a:spLocks noGrp="1" noChangeArrowheads="1"/>
          </p:cNvSpPr>
          <p:nvPr>
            <p:ph type="dt" sz="quarter" idx="1"/>
          </p:nvPr>
        </p:nvSpPr>
        <p:spPr bwMode="auto">
          <a:xfrm>
            <a:off x="3994150" y="0"/>
            <a:ext cx="3105150" cy="446088"/>
          </a:xfrm>
          <a:prstGeom prst="rect">
            <a:avLst/>
          </a:prstGeom>
          <a:noFill/>
          <a:ln w="9525">
            <a:noFill/>
            <a:miter lim="800000"/>
            <a:headEnd/>
            <a:tailEnd/>
          </a:ln>
        </p:spPr>
        <p:txBody>
          <a:bodyPr vert="horz" wrap="none" lIns="89090" tIns="44546" rIns="89090" bIns="44546" numCol="1" anchor="ctr" anchorCtr="0" compatLnSpc="1">
            <a:prstTxWarp prst="textNoShape">
              <a:avLst/>
            </a:prstTxWarp>
          </a:bodyPr>
          <a:lstStyle>
            <a:lvl1pPr algn="r" defTabSz="89146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E850B4EB-9FB5-4ED4-996A-5001077F375C}"/>
              </a:ext>
            </a:extLst>
          </p:cNvPr>
          <p:cNvSpPr>
            <a:spLocks noGrp="1" noChangeArrowheads="1"/>
          </p:cNvSpPr>
          <p:nvPr>
            <p:ph type="ftr" sz="quarter" idx="2"/>
          </p:nvPr>
        </p:nvSpPr>
        <p:spPr bwMode="auto">
          <a:xfrm>
            <a:off x="0" y="8939213"/>
            <a:ext cx="3106738"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defTabSz="89146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628AB70D-4AAF-4011-9DC4-6EE495450C17}"/>
              </a:ext>
            </a:extLst>
          </p:cNvPr>
          <p:cNvSpPr>
            <a:spLocks noGrp="1" noChangeArrowheads="1"/>
          </p:cNvSpPr>
          <p:nvPr>
            <p:ph type="sldNum" sz="quarter" idx="3"/>
          </p:nvPr>
        </p:nvSpPr>
        <p:spPr bwMode="auto">
          <a:xfrm>
            <a:off x="3994150" y="8939213"/>
            <a:ext cx="3105150" cy="446087"/>
          </a:xfrm>
          <a:prstGeom prst="rect">
            <a:avLst/>
          </a:prstGeom>
          <a:noFill/>
          <a:ln w="9525">
            <a:noFill/>
            <a:miter lim="800000"/>
            <a:headEnd/>
            <a:tailEnd/>
          </a:ln>
        </p:spPr>
        <p:txBody>
          <a:bodyPr vert="horz" wrap="none" lIns="89090" tIns="44546" rIns="89090" bIns="44546" numCol="1" anchor="b" anchorCtr="0" compatLnSpc="1">
            <a:prstTxWarp prst="textNoShape">
              <a:avLst/>
            </a:prstTxWarp>
          </a:bodyPr>
          <a:lstStyle>
            <a:lvl1pPr algn="r" defTabSz="890588">
              <a:defRPr sz="1100">
                <a:latin typeface="Helvetica" panose="020B0604020202020204" pitchFamily="34" charset="0"/>
              </a:defRPr>
            </a:lvl1pPr>
          </a:lstStyle>
          <a:p>
            <a:fld id="{82C72706-C095-41BF-ABD3-54ADB8CE3108}" type="slidenum">
              <a:rPr lang="en-US" altLang="en-US"/>
              <a:pPr/>
              <a:t>‹#›</a:t>
            </a:fld>
            <a:endParaRPr lang="en-US" altLang="en-US"/>
          </a:p>
        </p:txBody>
      </p:sp>
    </p:spTree>
    <p:extLst>
      <p:ext uri="{BB962C8B-B14F-4D97-AF65-F5344CB8AC3E}">
        <p14:creationId xmlns:p14="http://schemas.microsoft.com/office/powerpoint/2010/main" val="31676410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03BE6C0C-13A5-439B-BE94-9E35C63CD4ED}"/>
              </a:ext>
            </a:extLst>
          </p:cNvPr>
          <p:cNvSpPr>
            <a:spLocks noGrp="1" noChangeArrowheads="1"/>
          </p:cNvSpPr>
          <p:nvPr>
            <p:ph type="hdr" sz="quarter"/>
          </p:nvPr>
        </p:nvSpPr>
        <p:spPr bwMode="auto">
          <a:xfrm>
            <a:off x="0"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4822FACF-CE45-4AC3-B2A2-36D2B0BD3E2F}"/>
              </a:ext>
            </a:extLst>
          </p:cNvPr>
          <p:cNvSpPr>
            <a:spLocks noGrp="1" noChangeArrowheads="1"/>
          </p:cNvSpPr>
          <p:nvPr>
            <p:ph type="dt" idx="1"/>
          </p:nvPr>
        </p:nvSpPr>
        <p:spPr bwMode="auto">
          <a:xfrm>
            <a:off x="4016375" y="0"/>
            <a:ext cx="3070225" cy="466725"/>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lvl1pPr algn="r" defTabSz="939909">
              <a:defRPr sz="1200">
                <a:latin typeface="Times New Roman" charset="0"/>
                <a:ea typeface="ＭＳ Ｐゴシック" charset="-128"/>
                <a:cs typeface="ＭＳ Ｐゴシック" charset="-128"/>
              </a:defRPr>
            </a:lvl1pPr>
          </a:lstStyle>
          <a:p>
            <a:pPr>
              <a:defRPr/>
            </a:pPr>
            <a:endParaRPr lang="en-US"/>
          </a:p>
        </p:txBody>
      </p:sp>
      <p:sp>
        <p:nvSpPr>
          <p:cNvPr id="90116" name="Rectangle 4">
            <a:extLst>
              <a:ext uri="{FF2B5EF4-FFF2-40B4-BE49-F238E27FC236}">
                <a16:creationId xmlns:a16="http://schemas.microsoft.com/office/drawing/2014/main" id="{EF3471BA-404F-42D2-A7C9-714D69CA27C6}"/>
              </a:ext>
            </a:extLst>
          </p:cNvPr>
          <p:cNvSpPr>
            <a:spLocks noGrp="1" noRot="1" noChangeAspect="1" noChangeArrowheads="1" noTextEdit="1"/>
          </p:cNvSpPr>
          <p:nvPr>
            <p:ph type="sldImg" idx="2"/>
          </p:nvPr>
        </p:nvSpPr>
        <p:spPr bwMode="auto">
          <a:xfrm>
            <a:off x="1200150" y="704850"/>
            <a:ext cx="4687888" cy="35147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A65F13DF-CA13-4724-A04B-D47B56442119}"/>
              </a:ext>
            </a:extLst>
          </p:cNvPr>
          <p:cNvSpPr>
            <a:spLocks noGrp="1" noChangeArrowheads="1"/>
          </p:cNvSpPr>
          <p:nvPr>
            <p:ph type="body" sz="quarter" idx="3"/>
          </p:nvPr>
        </p:nvSpPr>
        <p:spPr bwMode="auto">
          <a:xfrm>
            <a:off x="944563" y="4452938"/>
            <a:ext cx="5197475" cy="4214812"/>
          </a:xfrm>
          <a:prstGeom prst="rect">
            <a:avLst/>
          </a:prstGeom>
          <a:noFill/>
          <a:ln w="9525">
            <a:noFill/>
            <a:miter lim="800000"/>
            <a:headEnd/>
            <a:tailEnd/>
          </a:ln>
        </p:spPr>
        <p:txBody>
          <a:bodyPr vert="horz" wrap="none" lIns="94035" tIns="47017" rIns="94035" bIns="470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DA6E394C-E4A1-4942-8688-4E6C278D77D7}"/>
              </a:ext>
            </a:extLst>
          </p:cNvPr>
          <p:cNvSpPr>
            <a:spLocks noGrp="1" noChangeArrowheads="1"/>
          </p:cNvSpPr>
          <p:nvPr>
            <p:ph type="ftr" sz="quarter" idx="4"/>
          </p:nvPr>
        </p:nvSpPr>
        <p:spPr bwMode="auto">
          <a:xfrm>
            <a:off x="0"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defTabSz="939909">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527B09FD-7807-493C-9E6C-6D565DCA0BF4}"/>
              </a:ext>
            </a:extLst>
          </p:cNvPr>
          <p:cNvSpPr>
            <a:spLocks noGrp="1" noChangeArrowheads="1"/>
          </p:cNvSpPr>
          <p:nvPr>
            <p:ph type="sldNum" sz="quarter" idx="5"/>
          </p:nvPr>
        </p:nvSpPr>
        <p:spPr bwMode="auto">
          <a:xfrm>
            <a:off x="4016375" y="8905875"/>
            <a:ext cx="3070225" cy="466725"/>
          </a:xfrm>
          <a:prstGeom prst="rect">
            <a:avLst/>
          </a:prstGeom>
          <a:noFill/>
          <a:ln w="9525">
            <a:noFill/>
            <a:miter lim="800000"/>
            <a:headEnd/>
            <a:tailEnd/>
          </a:ln>
        </p:spPr>
        <p:txBody>
          <a:bodyPr vert="horz" wrap="none" lIns="94035" tIns="47017" rIns="94035" bIns="47017" numCol="1" anchor="b" anchorCtr="0" compatLnSpc="1">
            <a:prstTxWarp prst="textNoShape">
              <a:avLst/>
            </a:prstTxWarp>
          </a:bodyPr>
          <a:lstStyle>
            <a:lvl1pPr algn="r" defTabSz="939800">
              <a:defRPr sz="1200">
                <a:latin typeface="Times New Roman" panose="02020603050405020304" pitchFamily="18" charset="0"/>
              </a:defRPr>
            </a:lvl1pPr>
          </a:lstStyle>
          <a:p>
            <a:fld id="{FFC2CB2C-F279-41F0-AC48-D923156805A3}" type="slidenum">
              <a:rPr lang="en-US" altLang="en-US"/>
              <a:pPr/>
              <a:t>‹#›</a:t>
            </a:fld>
            <a:endParaRPr lang="en-US" altLang="en-US"/>
          </a:p>
        </p:txBody>
      </p:sp>
    </p:spTree>
    <p:extLst>
      <p:ext uri="{BB962C8B-B14F-4D97-AF65-F5344CB8AC3E}">
        <p14:creationId xmlns:p14="http://schemas.microsoft.com/office/powerpoint/2010/main" val="79874120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8A920543-D350-443A-A721-991FEA8129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75653E0-F2FD-4551-8B22-FE330671DA1C}"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809E82CE-770C-49D3-84E8-6A6FC8AFBC7A}"/>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1892899B-C57A-458A-8DEF-195B98857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39671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1000D4E-8A67-4003-8E87-772D9024C6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F365149-E38C-4DAC-84B8-8F4AFF2A5D63}"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D4E0BBA3-E5B3-4DF0-BCF9-576ABB3C3BFB}"/>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822619B1-76CC-405A-8360-27F1944D1B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78221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71000D4E-8A67-4003-8E87-772D9024C6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F365149-E38C-4DAC-84B8-8F4AFF2A5D63}"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D4E0BBA3-E5B3-4DF0-BCF9-576ABB3C3BFB}"/>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822619B1-76CC-405A-8360-27F1944D1B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117980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7EDF6219-82C1-4A93-ABED-5E34596BBC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A3B3F0-AAF5-4CFC-A7B5-497CCE8C3F5E}"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95235" name="Rectangle 2">
            <a:extLst>
              <a:ext uri="{FF2B5EF4-FFF2-40B4-BE49-F238E27FC236}">
                <a16:creationId xmlns:a16="http://schemas.microsoft.com/office/drawing/2014/main" id="{1956D3A9-AF53-4EE2-8367-5C87C40B8BD2}"/>
              </a:ext>
            </a:extLst>
          </p:cNvPr>
          <p:cNvSpPr>
            <a:spLocks noGrp="1" noRot="1" noChangeAspect="1" noChangeArrowheads="1" noTextEdit="1"/>
          </p:cNvSpPr>
          <p:nvPr>
            <p:ph type="sldImg"/>
          </p:nvPr>
        </p:nvSpPr>
        <p:spPr>
          <a:ln/>
        </p:spPr>
      </p:sp>
      <p:sp>
        <p:nvSpPr>
          <p:cNvPr id="95236" name="Rectangle 3">
            <a:extLst>
              <a:ext uri="{FF2B5EF4-FFF2-40B4-BE49-F238E27FC236}">
                <a16:creationId xmlns:a16="http://schemas.microsoft.com/office/drawing/2014/main" id="{EDD8E06E-9ABA-4101-95DC-533C74A921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21905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7412E0F5-3DB3-4276-9E28-E97E37598C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47D0DB0-2893-40A2-A92B-B204CAA7AA0A}"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76849717-E504-4367-AE73-45E19248425F}"/>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E07A02F3-4A7A-4C49-8E28-03B39609B5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4390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CABBBA32-327C-4520-BB88-E93BCE413C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8553D4C-F3A2-40EC-A353-CAF60F6FAB16}"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98307" name="Rectangle 2">
            <a:extLst>
              <a:ext uri="{FF2B5EF4-FFF2-40B4-BE49-F238E27FC236}">
                <a16:creationId xmlns:a16="http://schemas.microsoft.com/office/drawing/2014/main" id="{D77ED832-6662-429B-8811-E6909535F8F2}"/>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01340DBE-8380-4A63-8CC7-AB75088D56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12683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2FEA61-84E0-4F6E-A5DE-438DD3F1BB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98E264-0F87-448A-8621-D998F18CE072}"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70867D87-173B-443F-8109-C247DF510552}"/>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72E0E792-E4EE-44D7-9914-9DC91BCBD3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262705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2FEA61-84E0-4F6E-A5DE-438DD3F1BB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98E264-0F87-448A-8621-D998F18CE072}"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70867D87-173B-443F-8109-C247DF510552}"/>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72E0E792-E4EE-44D7-9914-9DC91BCBD3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44235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2FEA61-84E0-4F6E-A5DE-438DD3F1BB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898E264-0F87-448A-8621-D998F18CE072}"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70867D87-173B-443F-8109-C247DF510552}"/>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72E0E792-E4EE-44D7-9914-9DC91BCBD3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23244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AFBD6615-ED48-4079-BAA7-A84844D677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48E5558-88DF-40FE-90FF-9EB1FEE63A86}"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B825ED8D-9E3E-4698-BB5C-C026B0475BB8}"/>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0D5306E4-3AAE-4121-B023-8B43D082CA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57096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0BFD4EBE-353D-4C31-99D7-B7C3FEC6C1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B80A18-0C17-4A8A-A28E-1B3AD0E8B888}"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102403" name="Rectangle 2">
            <a:extLst>
              <a:ext uri="{FF2B5EF4-FFF2-40B4-BE49-F238E27FC236}">
                <a16:creationId xmlns:a16="http://schemas.microsoft.com/office/drawing/2014/main" id="{8A02C982-0312-4EC7-A741-67B0BEDA4925}"/>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11F7861C-35C5-4B12-8A55-F7A16557D9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40892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E2EC3CC7-E29A-4D50-9A98-532553638A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86C72E5-BDBA-4628-BBAF-85FBB5CCE3BE}"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B01CE6FA-B36D-49C3-8371-51A4E976452C}"/>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8274DE9-BC41-40F6-83AC-5A3D3773C2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9208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AA015233-DFC5-4181-9DBD-191581D3DF9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3AA9686-8C45-4B6B-B192-53184893EC9B}" type="slidenum">
              <a:rPr lang="en-US" altLang="en-US">
                <a:latin typeface="Times New Roman" panose="02020603050405020304" pitchFamily="18" charset="0"/>
              </a:rPr>
              <a:pPr/>
              <a:t>14</a:t>
            </a:fld>
            <a:endParaRPr lang="en-US" altLang="en-US">
              <a:latin typeface="Times New Roman" panose="02020603050405020304" pitchFamily="18" charset="0"/>
            </a:endParaRPr>
          </a:p>
        </p:txBody>
      </p:sp>
      <p:sp>
        <p:nvSpPr>
          <p:cNvPr id="104451" name="Rectangle 2">
            <a:extLst>
              <a:ext uri="{FF2B5EF4-FFF2-40B4-BE49-F238E27FC236}">
                <a16:creationId xmlns:a16="http://schemas.microsoft.com/office/drawing/2014/main" id="{D606F670-2456-4E74-98E3-6F8992538806}"/>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81CE9A51-74EA-466B-956F-199FC346E1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733175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6551FA5F-3DAF-4F79-96DF-B76D1641D9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4D4E91-7487-49F0-9D91-43B839F06F41}"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105475" name="Rectangle 2">
            <a:extLst>
              <a:ext uri="{FF2B5EF4-FFF2-40B4-BE49-F238E27FC236}">
                <a16:creationId xmlns:a16="http://schemas.microsoft.com/office/drawing/2014/main" id="{167C6B9E-26B1-4F34-923D-B2966B894411}"/>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C351E2D8-3E9B-4911-A879-EA20F380F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6986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3BE82472-66AF-4BF7-A2A7-57FD11ECB4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E009F0B-5F82-4126-923B-E013C3AAF972}"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108547" name="Rectangle 2">
            <a:extLst>
              <a:ext uri="{FF2B5EF4-FFF2-40B4-BE49-F238E27FC236}">
                <a16:creationId xmlns:a16="http://schemas.microsoft.com/office/drawing/2014/main" id="{93C9793E-0DAB-48C2-A22A-A9ACDD8828C5}"/>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7AC332B0-F66D-4C3F-8DDB-E1E0D7FC2D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80814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66F09507-C2E2-47B2-82A8-B5E3C87D79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B546AF-CFB6-4A26-A155-B7AC52B1171E}"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109571" name="Rectangle 2">
            <a:extLst>
              <a:ext uri="{FF2B5EF4-FFF2-40B4-BE49-F238E27FC236}">
                <a16:creationId xmlns:a16="http://schemas.microsoft.com/office/drawing/2014/main" id="{84A5CD44-BF84-48EC-B0BC-E076CADF8C2B}"/>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F26D7BA3-2768-4887-B710-E8BBC3F5A3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58838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3ABA041F-CBD6-47AF-B833-FA2229A9BA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018407F-AAA5-4963-A6A5-D6FE6F7F8BA8}"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110595" name="Rectangle 2">
            <a:extLst>
              <a:ext uri="{FF2B5EF4-FFF2-40B4-BE49-F238E27FC236}">
                <a16:creationId xmlns:a16="http://schemas.microsoft.com/office/drawing/2014/main" id="{76824097-C234-4268-8A44-3B4C9960D14A}"/>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27E9339F-4D5C-4423-AB79-A4E63110E99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819924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26C1E9B0-A878-46DB-8C55-CED0E9E8922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5802788-C8C7-415D-889B-42AFD28A494F}"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111619" name="Rectangle 2">
            <a:extLst>
              <a:ext uri="{FF2B5EF4-FFF2-40B4-BE49-F238E27FC236}">
                <a16:creationId xmlns:a16="http://schemas.microsoft.com/office/drawing/2014/main" id="{70E474D5-321A-4ED0-BC07-F4E9910BD7AB}"/>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C002F093-C941-47F5-A1B8-8DC559F3F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474523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90C51AA2-08CA-4188-A0D0-CDB58CB18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E4C9D0-7D0A-45DF-B0CE-6AB3AEE439B1}"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99033DF3-330A-4632-AE16-C1DAED31B0B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5A0E66-0ED9-4D39-8C8C-9D502F65B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93294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90C51AA2-08CA-4188-A0D0-CDB58CB18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E4C9D0-7D0A-45DF-B0CE-6AB3AEE439B1}"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99033DF3-330A-4632-AE16-C1DAED31B0B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5A0E66-0ED9-4D39-8C8C-9D502F65B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620317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30CCC09F-8FEA-4870-9E40-37BBE71005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BCE3FF5-CEA2-48B8-900D-389C7BA3E78B}"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A081F303-3AE6-4FDF-9914-380C5084DCFD}"/>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4F7AB753-E023-44B0-B607-E3C978A6E2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55592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BEDA1708-FBD0-46B6-B6E0-9DACFC6E822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1FD1554-F607-4188-A668-41EC0D745C1C}"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117763" name="Rectangle 2">
            <a:extLst>
              <a:ext uri="{FF2B5EF4-FFF2-40B4-BE49-F238E27FC236}">
                <a16:creationId xmlns:a16="http://schemas.microsoft.com/office/drawing/2014/main" id="{360FA1B4-6A09-4A5E-8B97-24767F39BC02}"/>
              </a:ext>
            </a:extLst>
          </p:cNvPr>
          <p:cNvSpPr>
            <a:spLocks noGrp="1" noRot="1" noChangeAspect="1" noChangeArrowheads="1" noTextEdit="1"/>
          </p:cNvSpPr>
          <p:nvPr>
            <p:ph type="sldImg"/>
          </p:nvPr>
        </p:nvSpPr>
        <p:spPr>
          <a:ln/>
        </p:spPr>
      </p:sp>
      <p:sp>
        <p:nvSpPr>
          <p:cNvPr id="117764" name="Rectangle 3">
            <a:extLst>
              <a:ext uri="{FF2B5EF4-FFF2-40B4-BE49-F238E27FC236}">
                <a16:creationId xmlns:a16="http://schemas.microsoft.com/office/drawing/2014/main" id="{F52D03A7-D598-4B7B-B4F2-C1353D7B2B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678412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8047A01C-D4F1-483C-95F6-D9DE64F05F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9C2251A-E27D-4976-912A-372946474BDD}"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118787" name="Rectangle 2">
            <a:extLst>
              <a:ext uri="{FF2B5EF4-FFF2-40B4-BE49-F238E27FC236}">
                <a16:creationId xmlns:a16="http://schemas.microsoft.com/office/drawing/2014/main" id="{377D733F-0F22-4399-A6D3-B09E70F2D1C0}"/>
              </a:ext>
            </a:extLst>
          </p:cNvPr>
          <p:cNvSpPr>
            <a:spLocks noGrp="1" noRot="1" noChangeAspect="1" noChangeArrowheads="1" noTextEdit="1"/>
          </p:cNvSpPr>
          <p:nvPr>
            <p:ph type="sldImg"/>
          </p:nvPr>
        </p:nvSpPr>
        <p:spPr>
          <a:ln/>
        </p:spPr>
      </p:sp>
      <p:sp>
        <p:nvSpPr>
          <p:cNvPr id="118788" name="Rectangle 3">
            <a:extLst>
              <a:ext uri="{FF2B5EF4-FFF2-40B4-BE49-F238E27FC236}">
                <a16:creationId xmlns:a16="http://schemas.microsoft.com/office/drawing/2014/main" id="{6FF7E3D3-1282-4112-B6EE-171A10838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952600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6694149F-4152-4367-835B-291215C667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8CBD02-7938-4655-89C2-245E2DD80BF2}"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119811" name="Rectangle 2">
            <a:extLst>
              <a:ext uri="{FF2B5EF4-FFF2-40B4-BE49-F238E27FC236}">
                <a16:creationId xmlns:a16="http://schemas.microsoft.com/office/drawing/2014/main" id="{2F98E2D8-A745-4482-8D31-1C44102899FD}"/>
              </a:ext>
            </a:extLst>
          </p:cNvPr>
          <p:cNvSpPr>
            <a:spLocks noGrp="1" noRot="1" noChangeAspect="1" noChangeArrowheads="1" noTextEdit="1"/>
          </p:cNvSpPr>
          <p:nvPr>
            <p:ph type="sldImg"/>
          </p:nvPr>
        </p:nvSpPr>
        <p:spPr>
          <a:ln/>
        </p:spPr>
      </p:sp>
      <p:sp>
        <p:nvSpPr>
          <p:cNvPr id="119812" name="Rectangle 3">
            <a:extLst>
              <a:ext uri="{FF2B5EF4-FFF2-40B4-BE49-F238E27FC236}">
                <a16:creationId xmlns:a16="http://schemas.microsoft.com/office/drawing/2014/main" id="{4AD3CFA0-D397-4059-BF40-57150D5F1A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81778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90C51AA2-08CA-4188-A0D0-CDB58CB18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E4C9D0-7D0A-45DF-B0CE-6AB3AEE439B1}"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99033DF3-330A-4632-AE16-C1DAED31B0B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5A0E66-0ED9-4D39-8C8C-9D502F65B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74175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90C51AA2-08CA-4188-A0D0-CDB58CB18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E4C9D0-7D0A-45DF-B0CE-6AB3AEE439B1}"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99033DF3-330A-4632-AE16-C1DAED31B0B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5A0E66-0ED9-4D39-8C8C-9D502F65B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182790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90C51AA2-08CA-4188-A0D0-CDB58CB18B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E4C9D0-7D0A-45DF-B0CE-6AB3AEE439B1}"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120835" name="Rectangle 2">
            <a:extLst>
              <a:ext uri="{FF2B5EF4-FFF2-40B4-BE49-F238E27FC236}">
                <a16:creationId xmlns:a16="http://schemas.microsoft.com/office/drawing/2014/main" id="{99033DF3-330A-4632-AE16-C1DAED31B0B5}"/>
              </a:ext>
            </a:extLst>
          </p:cNvPr>
          <p:cNvSpPr>
            <a:spLocks noGrp="1" noRot="1" noChangeAspect="1" noChangeArrowheads="1" noTextEdit="1"/>
          </p:cNvSpPr>
          <p:nvPr>
            <p:ph type="sldImg"/>
          </p:nvPr>
        </p:nvSpPr>
        <p:spPr>
          <a:ln/>
        </p:spPr>
      </p:sp>
      <p:sp>
        <p:nvSpPr>
          <p:cNvPr id="120836" name="Rectangle 3">
            <a:extLst>
              <a:ext uri="{FF2B5EF4-FFF2-40B4-BE49-F238E27FC236}">
                <a16:creationId xmlns:a16="http://schemas.microsoft.com/office/drawing/2014/main" id="{EC5A0E66-0ED9-4D39-8C8C-9D502F65B2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999210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9C520A68-97AF-4954-BF27-3B60903A2D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6D5DB69-22AD-4E1E-A59B-E2B46FD50CA7}"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121859" name="Rectangle 2">
            <a:extLst>
              <a:ext uri="{FF2B5EF4-FFF2-40B4-BE49-F238E27FC236}">
                <a16:creationId xmlns:a16="http://schemas.microsoft.com/office/drawing/2014/main" id="{6D96FEF4-316D-4EC7-948A-A33AE5D7CB97}"/>
              </a:ext>
            </a:extLst>
          </p:cNvPr>
          <p:cNvSpPr>
            <a:spLocks noGrp="1" noRot="1" noChangeAspect="1" noChangeArrowheads="1" noTextEdit="1"/>
          </p:cNvSpPr>
          <p:nvPr>
            <p:ph type="sldImg"/>
          </p:nvPr>
        </p:nvSpPr>
        <p:spPr>
          <a:ln/>
        </p:spPr>
      </p:sp>
      <p:sp>
        <p:nvSpPr>
          <p:cNvPr id="121860" name="Rectangle 3">
            <a:extLst>
              <a:ext uri="{FF2B5EF4-FFF2-40B4-BE49-F238E27FC236}">
                <a16:creationId xmlns:a16="http://schemas.microsoft.com/office/drawing/2014/main" id="{2B50E5CE-2EAD-485C-9DC4-25D3E4546E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274699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A64CD54C-44CE-436F-93BE-552425E6C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9EFB345-C37B-41EB-99D5-09E432045D94}"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122883" name="Rectangle 2">
            <a:extLst>
              <a:ext uri="{FF2B5EF4-FFF2-40B4-BE49-F238E27FC236}">
                <a16:creationId xmlns:a16="http://schemas.microsoft.com/office/drawing/2014/main" id="{29DAD370-8DFA-4D0F-8574-87D667E4749C}"/>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AA98057B-1F4A-419C-B813-443BAD14DB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146647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A64CD54C-44CE-436F-93BE-552425E6C2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9EFB345-C37B-41EB-99D5-09E432045D94}"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122883" name="Rectangle 2">
            <a:extLst>
              <a:ext uri="{FF2B5EF4-FFF2-40B4-BE49-F238E27FC236}">
                <a16:creationId xmlns:a16="http://schemas.microsoft.com/office/drawing/2014/main" id="{29DAD370-8DFA-4D0F-8574-87D667E4749C}"/>
              </a:ext>
            </a:extLst>
          </p:cNvPr>
          <p:cNvSpPr>
            <a:spLocks noGrp="1" noRot="1" noChangeAspect="1" noChangeArrowheads="1" noTextEdit="1"/>
          </p:cNvSpPr>
          <p:nvPr>
            <p:ph type="sldImg"/>
          </p:nvPr>
        </p:nvSpPr>
        <p:spPr>
          <a:ln/>
        </p:spPr>
      </p:sp>
      <p:sp>
        <p:nvSpPr>
          <p:cNvPr id="122884" name="Rectangle 3">
            <a:extLst>
              <a:ext uri="{FF2B5EF4-FFF2-40B4-BE49-F238E27FC236}">
                <a16:creationId xmlns:a16="http://schemas.microsoft.com/office/drawing/2014/main" id="{AA98057B-1F4A-419C-B813-443BAD14DB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080037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69926037-2DFC-49C1-BFE5-BEEB906707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A720897-7524-49C1-AB7E-87D63B342608}"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
        <p:nvSpPr>
          <p:cNvPr id="124931" name="Rectangle 2">
            <a:extLst>
              <a:ext uri="{FF2B5EF4-FFF2-40B4-BE49-F238E27FC236}">
                <a16:creationId xmlns:a16="http://schemas.microsoft.com/office/drawing/2014/main" id="{31EBDBDF-5FCA-4213-A6C0-A7B61F0EDD65}"/>
              </a:ext>
            </a:extLst>
          </p:cNvPr>
          <p:cNvSpPr>
            <a:spLocks noGrp="1" noRot="1" noChangeAspect="1" noChangeArrowheads="1" noTextEdit="1"/>
          </p:cNvSpPr>
          <p:nvPr>
            <p:ph type="sldImg"/>
          </p:nvPr>
        </p:nvSpPr>
        <p:spPr>
          <a:ln/>
        </p:spPr>
      </p:sp>
      <p:sp>
        <p:nvSpPr>
          <p:cNvPr id="124932" name="Rectangle 3">
            <a:extLst>
              <a:ext uri="{FF2B5EF4-FFF2-40B4-BE49-F238E27FC236}">
                <a16:creationId xmlns:a16="http://schemas.microsoft.com/office/drawing/2014/main" id="{4B5706BF-EA71-4A33-91AF-EA4A2A0C53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807698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6CBA23C-2721-468E-BF26-9B4A852354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65F5A3-B020-4290-AD98-D5279638C08E}"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125955" name="Rectangle 2">
            <a:extLst>
              <a:ext uri="{FF2B5EF4-FFF2-40B4-BE49-F238E27FC236}">
                <a16:creationId xmlns:a16="http://schemas.microsoft.com/office/drawing/2014/main" id="{20008BC1-ECF1-41C8-9E3A-3EF0899AF3B8}"/>
              </a:ext>
            </a:extLst>
          </p:cNvPr>
          <p:cNvSpPr>
            <a:spLocks noGrp="1" noRot="1" noChangeAspect="1" noChangeArrowheads="1" noTextEdit="1"/>
          </p:cNvSpPr>
          <p:nvPr>
            <p:ph type="sldImg"/>
          </p:nvPr>
        </p:nvSpPr>
        <p:spPr>
          <a:ln/>
        </p:spPr>
      </p:sp>
      <p:sp>
        <p:nvSpPr>
          <p:cNvPr id="125956" name="Rectangle 3">
            <a:extLst>
              <a:ext uri="{FF2B5EF4-FFF2-40B4-BE49-F238E27FC236}">
                <a16:creationId xmlns:a16="http://schemas.microsoft.com/office/drawing/2014/main" id="{AE97A9E2-2C5D-40BF-956A-508D26D46D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754844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79C6C28-A40F-4623-9D7D-7346DF865F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E5443D-CFE2-4772-BFAF-AEDA3BB82639}"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126979" name="Rectangle 2">
            <a:extLst>
              <a:ext uri="{FF2B5EF4-FFF2-40B4-BE49-F238E27FC236}">
                <a16:creationId xmlns:a16="http://schemas.microsoft.com/office/drawing/2014/main" id="{FAB53808-5F2A-46E3-A99B-9661F40E0F7B}"/>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8D83F4BE-5527-406F-84C4-756486D506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034859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79C6C28-A40F-4623-9D7D-7346DF865F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E5443D-CFE2-4772-BFAF-AEDA3BB82639}"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126979" name="Rectangle 2">
            <a:extLst>
              <a:ext uri="{FF2B5EF4-FFF2-40B4-BE49-F238E27FC236}">
                <a16:creationId xmlns:a16="http://schemas.microsoft.com/office/drawing/2014/main" id="{FAB53808-5F2A-46E3-A99B-9661F40E0F7B}"/>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8D83F4BE-5527-406F-84C4-756486D506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297434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779C6C28-A40F-4623-9D7D-7346DF865F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E5443D-CFE2-4772-BFAF-AEDA3BB82639}"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126979" name="Rectangle 2">
            <a:extLst>
              <a:ext uri="{FF2B5EF4-FFF2-40B4-BE49-F238E27FC236}">
                <a16:creationId xmlns:a16="http://schemas.microsoft.com/office/drawing/2014/main" id="{FAB53808-5F2A-46E3-A99B-9661F40E0F7B}"/>
              </a:ext>
            </a:extLst>
          </p:cNvPr>
          <p:cNvSpPr>
            <a:spLocks noGrp="1" noRot="1" noChangeAspect="1" noChangeArrowheads="1" noTextEdit="1"/>
          </p:cNvSpPr>
          <p:nvPr>
            <p:ph type="sldImg"/>
          </p:nvPr>
        </p:nvSpPr>
        <p:spPr>
          <a:ln/>
        </p:spPr>
      </p:sp>
      <p:sp>
        <p:nvSpPr>
          <p:cNvPr id="126980" name="Rectangle 3">
            <a:extLst>
              <a:ext uri="{FF2B5EF4-FFF2-40B4-BE49-F238E27FC236}">
                <a16:creationId xmlns:a16="http://schemas.microsoft.com/office/drawing/2014/main" id="{8D83F4BE-5527-406F-84C4-756486D506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70099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B12ECC0-6236-49B0-ADB5-B045D66C4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0AF29B-E1F3-4565-9FEC-4E13442F52B7}"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129027" name="Rectangle 2">
            <a:extLst>
              <a:ext uri="{FF2B5EF4-FFF2-40B4-BE49-F238E27FC236}">
                <a16:creationId xmlns:a16="http://schemas.microsoft.com/office/drawing/2014/main" id="{9D1B6244-C5E7-4D86-A203-764BEF822B83}"/>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E5412847-FD60-400B-AA9D-2092F9AB4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338218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B12ECC0-6236-49B0-ADB5-B045D66C4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0AF29B-E1F3-4565-9FEC-4E13442F52B7}"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129027" name="Rectangle 2">
            <a:extLst>
              <a:ext uri="{FF2B5EF4-FFF2-40B4-BE49-F238E27FC236}">
                <a16:creationId xmlns:a16="http://schemas.microsoft.com/office/drawing/2014/main" id="{9D1B6244-C5E7-4D86-A203-764BEF822B83}"/>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E5412847-FD60-400B-AA9D-2092F9AB4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58294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B12ECC0-6236-49B0-ADB5-B045D66C4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0AF29B-E1F3-4565-9FEC-4E13442F52B7}"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129027" name="Rectangle 2">
            <a:extLst>
              <a:ext uri="{FF2B5EF4-FFF2-40B4-BE49-F238E27FC236}">
                <a16:creationId xmlns:a16="http://schemas.microsoft.com/office/drawing/2014/main" id="{9D1B6244-C5E7-4D86-A203-764BEF822B83}"/>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E5412847-FD60-400B-AA9D-2092F9AB4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664589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B12ECC0-6236-49B0-ADB5-B045D66C4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0AF29B-E1F3-4565-9FEC-4E13442F52B7}"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129027" name="Rectangle 2">
            <a:extLst>
              <a:ext uri="{FF2B5EF4-FFF2-40B4-BE49-F238E27FC236}">
                <a16:creationId xmlns:a16="http://schemas.microsoft.com/office/drawing/2014/main" id="{9D1B6244-C5E7-4D86-A203-764BEF822B83}"/>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E5412847-FD60-400B-AA9D-2092F9AB4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73746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a:extLst>
              <a:ext uri="{FF2B5EF4-FFF2-40B4-BE49-F238E27FC236}">
                <a16:creationId xmlns:a16="http://schemas.microsoft.com/office/drawing/2014/main" id="{9B12ECC0-6236-49B0-ADB5-B045D66C40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D0AF29B-E1F3-4565-9FEC-4E13442F52B7}"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129027" name="Rectangle 2">
            <a:extLst>
              <a:ext uri="{FF2B5EF4-FFF2-40B4-BE49-F238E27FC236}">
                <a16:creationId xmlns:a16="http://schemas.microsoft.com/office/drawing/2014/main" id="{9D1B6244-C5E7-4D86-A203-764BEF822B83}"/>
              </a:ext>
            </a:extLst>
          </p:cNvPr>
          <p:cNvSpPr>
            <a:spLocks noGrp="1" noRot="1" noChangeAspect="1" noChangeArrowheads="1" noTextEdit="1"/>
          </p:cNvSpPr>
          <p:nvPr>
            <p:ph type="sldImg"/>
          </p:nvPr>
        </p:nvSpPr>
        <p:spPr>
          <a:ln/>
        </p:spPr>
      </p:sp>
      <p:sp>
        <p:nvSpPr>
          <p:cNvPr id="129028" name="Rectangle 3">
            <a:extLst>
              <a:ext uri="{FF2B5EF4-FFF2-40B4-BE49-F238E27FC236}">
                <a16:creationId xmlns:a16="http://schemas.microsoft.com/office/drawing/2014/main" id="{E5412847-FD60-400B-AA9D-2092F9AB4C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07193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173C5A7B-AD1F-42C6-ACEC-C22E37FDEF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9E28EDC-8892-4BD4-9B03-820979DFF076}"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132099" name="Rectangle 2">
            <a:extLst>
              <a:ext uri="{FF2B5EF4-FFF2-40B4-BE49-F238E27FC236}">
                <a16:creationId xmlns:a16="http://schemas.microsoft.com/office/drawing/2014/main" id="{D57D674F-0290-48DC-AE81-36542FB42F18}"/>
              </a:ext>
            </a:extLst>
          </p:cNvPr>
          <p:cNvSpPr>
            <a:spLocks noGrp="1" noRot="1" noChangeAspect="1" noChangeArrowheads="1" noTextEdit="1"/>
          </p:cNvSpPr>
          <p:nvPr>
            <p:ph type="sldImg"/>
          </p:nvPr>
        </p:nvSpPr>
        <p:spPr>
          <a:ln/>
        </p:spPr>
      </p:sp>
      <p:sp>
        <p:nvSpPr>
          <p:cNvPr id="132100" name="Rectangle 3">
            <a:extLst>
              <a:ext uri="{FF2B5EF4-FFF2-40B4-BE49-F238E27FC236}">
                <a16:creationId xmlns:a16="http://schemas.microsoft.com/office/drawing/2014/main" id="{3DD1A532-1569-4A5E-88FC-8C5BA0E7A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754560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805B1C17-66FA-4D85-BCF6-7A91DE02FC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5281E3-0C39-498B-AF39-48565B4544FA}"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134147" name="Rectangle 2">
            <a:extLst>
              <a:ext uri="{FF2B5EF4-FFF2-40B4-BE49-F238E27FC236}">
                <a16:creationId xmlns:a16="http://schemas.microsoft.com/office/drawing/2014/main" id="{1F9038FE-BD6E-44F1-ACE4-DD73792DB1A5}"/>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6096AB29-C31A-45C0-B5E1-9D36AC040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139873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805B1C17-66FA-4D85-BCF6-7A91DE02FC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5281E3-0C39-498B-AF39-48565B4544FA}"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134147" name="Rectangle 2">
            <a:extLst>
              <a:ext uri="{FF2B5EF4-FFF2-40B4-BE49-F238E27FC236}">
                <a16:creationId xmlns:a16="http://schemas.microsoft.com/office/drawing/2014/main" id="{1F9038FE-BD6E-44F1-ACE4-DD73792DB1A5}"/>
              </a:ext>
            </a:extLst>
          </p:cNvPr>
          <p:cNvSpPr>
            <a:spLocks noGrp="1" noRot="1" noChangeAspect="1" noChangeArrowheads="1" noTextEdit="1"/>
          </p:cNvSpPr>
          <p:nvPr>
            <p:ph type="sldImg"/>
          </p:nvPr>
        </p:nvSpPr>
        <p:spPr>
          <a:ln/>
        </p:spPr>
      </p:sp>
      <p:sp>
        <p:nvSpPr>
          <p:cNvPr id="134148" name="Rectangle 3">
            <a:extLst>
              <a:ext uri="{FF2B5EF4-FFF2-40B4-BE49-F238E27FC236}">
                <a16:creationId xmlns:a16="http://schemas.microsoft.com/office/drawing/2014/main" id="{6096AB29-C31A-45C0-B5E1-9D36AC040B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1871909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BE2D0BFB-ECA4-4C07-8994-8A88F29AAD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FC82682-D545-467D-8124-18513B1E9CEB}"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138243" name="Rectangle 2">
            <a:extLst>
              <a:ext uri="{FF2B5EF4-FFF2-40B4-BE49-F238E27FC236}">
                <a16:creationId xmlns:a16="http://schemas.microsoft.com/office/drawing/2014/main" id="{5A43AED6-E6E9-43A7-AC93-64E1E9990A89}"/>
              </a:ext>
            </a:extLst>
          </p:cNvPr>
          <p:cNvSpPr>
            <a:spLocks noGrp="1" noRot="1" noChangeAspect="1" noChangeArrowheads="1" noTextEdit="1"/>
          </p:cNvSpPr>
          <p:nvPr>
            <p:ph type="sldImg"/>
          </p:nvPr>
        </p:nvSpPr>
        <p:spPr>
          <a:ln/>
        </p:spPr>
      </p:sp>
      <p:sp>
        <p:nvSpPr>
          <p:cNvPr id="138244" name="Rectangle 3">
            <a:extLst>
              <a:ext uri="{FF2B5EF4-FFF2-40B4-BE49-F238E27FC236}">
                <a16:creationId xmlns:a16="http://schemas.microsoft.com/office/drawing/2014/main" id="{772FBEB7-042D-4152-8A9C-1370E47C76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260309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4ED2F846-2AE4-48EB-B280-7241E87F2C28}"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2594178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2F846-2AE4-48EB-B280-7241E87F2C28}"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617399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D2F846-2AE4-48EB-B280-7241E87F2C28}"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420520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ED2F846-2AE4-48EB-B280-7241E87F2C28}"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3391883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ED2F846-2AE4-48EB-B280-7241E87F2C28}" type="datetimeFigureOut">
              <a:rPr lang="en-US" smtClean="0"/>
              <a:t>4/9/2024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25690079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ED2F846-2AE4-48EB-B280-7241E87F2C28}" type="datetimeFigureOut">
              <a:rPr lang="en-US" smtClean="0"/>
              <a:t>4/9/2024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108691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2F846-2AE4-48EB-B280-7241E87F2C28}" type="datetimeFigureOut">
              <a:rPr lang="en-US" smtClean="0"/>
              <a:t>4/9/2024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4059511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D2F846-2AE4-48EB-B280-7241E87F2C28}"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2611286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ED2F846-2AE4-48EB-B280-7241E87F2C28}" type="datetimeFigureOut">
              <a:rPr lang="en-US" smtClean="0"/>
              <a:t>4/9/2024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2807243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2F846-2AE4-48EB-B280-7241E87F2C28}"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416764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2F846-2AE4-48EB-B280-7241E87F2C28}" type="datetimeFigureOut">
              <a:rPr lang="en-US" smtClean="0"/>
              <a:t>4/9/2024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DEA7AF-B5E0-40FB-BE05-8F3F53534819}" type="slidenum">
              <a:rPr lang="en-US" smtClean="0"/>
              <a:t>‹#›</a:t>
            </a:fld>
            <a:endParaRPr lang="en-US"/>
          </a:p>
        </p:txBody>
      </p:sp>
    </p:spTree>
    <p:extLst>
      <p:ext uri="{BB962C8B-B14F-4D97-AF65-F5344CB8AC3E}">
        <p14:creationId xmlns:p14="http://schemas.microsoft.com/office/powerpoint/2010/main" val="2270481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898336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ED2F846-2AE4-48EB-B280-7241E87F2C28}" type="datetimeFigureOut">
              <a:rPr lang="en-US" smtClean="0"/>
              <a:t>4/9/2024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BDEA7AF-B5E0-40FB-BE05-8F3F53534819}" type="slidenum">
              <a:rPr lang="en-US" smtClean="0"/>
              <a:t>‹#›</a:t>
            </a:fld>
            <a:endParaRPr lang="en-US"/>
          </a:p>
        </p:txBody>
      </p:sp>
    </p:spTree>
    <p:extLst>
      <p:ext uri="{BB962C8B-B14F-4D97-AF65-F5344CB8AC3E}">
        <p14:creationId xmlns:p14="http://schemas.microsoft.com/office/powerpoint/2010/main" val="1744950900"/>
      </p:ext>
    </p:extLst>
  </p:cSld>
  <p:clrMap bg1="lt1" tx1="dk1" bg2="lt2" tx2="dk2" accent1="accent1" accent2="accent2" accent3="accent3" accent4="accent4" accent5="accent5" accent6="accent6" hlink="hlink" folHlink="folHlink"/>
  <p:sldLayoutIdLst>
    <p:sldLayoutId id="2147484121" r:id="rId1"/>
    <p:sldLayoutId id="2147484122" r:id="rId2"/>
    <p:sldLayoutId id="2147484123" r:id="rId3"/>
    <p:sldLayoutId id="2147484124" r:id="rId4"/>
    <p:sldLayoutId id="2147484125" r:id="rId5"/>
    <p:sldLayoutId id="2147484126" r:id="rId6"/>
    <p:sldLayoutId id="2147484127" r:id="rId7"/>
    <p:sldLayoutId id="2147484128" r:id="rId8"/>
    <p:sldLayoutId id="2147484129" r:id="rId9"/>
    <p:sldLayoutId id="2147484130" r:id="rId10"/>
    <p:sldLayoutId id="2147484131" r:id="rId11"/>
    <p:sldLayoutId id="214748413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BCD139-3A6D-4B81-8226-0503E6A6358F}"/>
              </a:ext>
            </a:extLst>
          </p:cNvPr>
          <p:cNvSpPr>
            <a:spLocks noGrp="1" noChangeArrowheads="1"/>
          </p:cNvSpPr>
          <p:nvPr>
            <p:ph type="ctrTitle"/>
          </p:nvPr>
        </p:nvSpPr>
        <p:spPr>
          <a:xfrm>
            <a:off x="814387" y="2220913"/>
            <a:ext cx="7772400" cy="2127250"/>
          </a:xfrm>
        </p:spPr>
        <p:txBody>
          <a:bodyPr>
            <a:normAutofit/>
          </a:bodyPr>
          <a:lstStyle/>
          <a:p>
            <a:pPr algn="ctr" eaLnBrk="1" hangingPunct="1"/>
            <a:r>
              <a:rPr lang="en-US" altLang="en-US" sz="4400" dirty="0"/>
              <a:t>Virtual Memory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CCC7638-093C-4CC4-960F-79B01FBE9FF9}"/>
              </a:ext>
            </a:extLst>
          </p:cNvPr>
          <p:cNvSpPr>
            <a:spLocks noGrp="1" noChangeArrowheads="1"/>
          </p:cNvSpPr>
          <p:nvPr>
            <p:ph type="title"/>
          </p:nvPr>
        </p:nvSpPr>
        <p:spPr>
          <a:xfrm>
            <a:off x="457200" y="139539"/>
            <a:ext cx="8229600" cy="576262"/>
          </a:xfrm>
        </p:spPr>
        <p:txBody>
          <a:bodyPr>
            <a:noAutofit/>
          </a:bodyPr>
          <a:lstStyle/>
          <a:p>
            <a:pPr algn="ctr" eaLnBrk="1" hangingPunct="1"/>
            <a:r>
              <a:rPr lang="en-US" altLang="en-US" sz="4000" dirty="0"/>
              <a:t>Background</a:t>
            </a:r>
          </a:p>
        </p:txBody>
      </p:sp>
      <p:sp>
        <p:nvSpPr>
          <p:cNvPr id="7171" name="Rectangle 3">
            <a:extLst>
              <a:ext uri="{FF2B5EF4-FFF2-40B4-BE49-F238E27FC236}">
                <a16:creationId xmlns:a16="http://schemas.microsoft.com/office/drawing/2014/main" id="{F8BAF45D-7AF6-46D9-974E-C552BF29A153}"/>
              </a:ext>
            </a:extLst>
          </p:cNvPr>
          <p:cNvSpPr>
            <a:spLocks noGrp="1" noChangeArrowheads="1"/>
          </p:cNvSpPr>
          <p:nvPr>
            <p:ph idx="1"/>
          </p:nvPr>
        </p:nvSpPr>
        <p:spPr>
          <a:xfrm>
            <a:off x="585789" y="715801"/>
            <a:ext cx="8101012" cy="6142199"/>
          </a:xfrm>
        </p:spPr>
        <p:txBody>
          <a:bodyPr>
            <a:noAutofit/>
          </a:bodyPr>
          <a:lstStyle/>
          <a:p>
            <a:pPr marL="228600" indent="-228600" algn="just"/>
            <a:r>
              <a:rPr lang="en-US" altLang="en-US" sz="2800" dirty="0"/>
              <a:t>In multiprogramming, we need to keep many processes in memory simultaneously to execute them. </a:t>
            </a:r>
          </a:p>
          <a:p>
            <a:pPr marL="228600" indent="-228600" algn="just"/>
            <a:r>
              <a:rPr lang="en-US" altLang="en-US" sz="2800" dirty="0"/>
              <a:t>However, they tend to require that an entire process be in memory before it can execute.</a:t>
            </a:r>
          </a:p>
          <a:p>
            <a:pPr marL="228600" indent="-228600" algn="just"/>
            <a:r>
              <a:rPr lang="en-US" altLang="en-US" sz="2800" dirty="0"/>
              <a:t>But entire program rarely used at same time, </a:t>
            </a:r>
            <a:r>
              <a:rPr lang="en-US" altLang="en-US" sz="2800" dirty="0" err="1"/>
              <a:t>eg</a:t>
            </a:r>
            <a:r>
              <a:rPr lang="en-US" altLang="en-US" sz="2800" dirty="0"/>
              <a:t>. Error code, unusual routines, large data structures.</a:t>
            </a:r>
          </a:p>
          <a:p>
            <a:pPr marL="228600" indent="-228600" algn="just"/>
            <a:r>
              <a:rPr lang="en-US" altLang="en-US" sz="2800" dirty="0"/>
              <a:t>Arrays, lists, and tables are often allocated more memory than they actually need. </a:t>
            </a:r>
          </a:p>
          <a:p>
            <a:pPr marL="228600" indent="-228600" algn="just"/>
            <a:r>
              <a:rPr lang="en-US" altLang="en-US" sz="2800" dirty="0"/>
              <a:t>An array may be declared 100 by 100 elements, even though it is seldom larger than 10 by 10 elements. Consider ability to execute partially-loaded program.</a:t>
            </a:r>
          </a:p>
          <a:p>
            <a:pPr marL="228600" indent="-228600" algn="just"/>
            <a:endParaRPr lang="en-US"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CCC7638-093C-4CC4-960F-79B01FBE9FF9}"/>
              </a:ext>
            </a:extLst>
          </p:cNvPr>
          <p:cNvSpPr>
            <a:spLocks noGrp="1" noChangeArrowheads="1"/>
          </p:cNvSpPr>
          <p:nvPr>
            <p:ph type="title"/>
          </p:nvPr>
        </p:nvSpPr>
        <p:spPr>
          <a:xfrm>
            <a:off x="457200" y="139539"/>
            <a:ext cx="8229600" cy="576262"/>
          </a:xfrm>
        </p:spPr>
        <p:txBody>
          <a:bodyPr>
            <a:noAutofit/>
          </a:bodyPr>
          <a:lstStyle/>
          <a:p>
            <a:pPr algn="ctr" eaLnBrk="1" hangingPunct="1"/>
            <a:r>
              <a:rPr lang="en-US" altLang="en-US" sz="4000" dirty="0"/>
              <a:t>Background</a:t>
            </a:r>
          </a:p>
        </p:txBody>
      </p:sp>
      <p:sp>
        <p:nvSpPr>
          <p:cNvPr id="7171" name="Rectangle 3">
            <a:extLst>
              <a:ext uri="{FF2B5EF4-FFF2-40B4-BE49-F238E27FC236}">
                <a16:creationId xmlns:a16="http://schemas.microsoft.com/office/drawing/2014/main" id="{F8BAF45D-7AF6-46D9-974E-C552BF29A153}"/>
              </a:ext>
            </a:extLst>
          </p:cNvPr>
          <p:cNvSpPr>
            <a:spLocks noGrp="1" noChangeArrowheads="1"/>
          </p:cNvSpPr>
          <p:nvPr>
            <p:ph idx="1"/>
          </p:nvPr>
        </p:nvSpPr>
        <p:spPr>
          <a:xfrm>
            <a:off x="585789" y="715801"/>
            <a:ext cx="8101012" cy="6142199"/>
          </a:xfrm>
        </p:spPr>
        <p:txBody>
          <a:bodyPr>
            <a:noAutofit/>
          </a:bodyPr>
          <a:lstStyle/>
          <a:p>
            <a:pPr marL="0" indent="0" algn="just">
              <a:buNone/>
            </a:pPr>
            <a:r>
              <a:rPr lang="en-US" altLang="en-US" sz="2800" dirty="0"/>
              <a:t>The ability to execute a program that is only partially in memory would confer many benefits:</a:t>
            </a:r>
          </a:p>
          <a:p>
            <a:pPr marL="285750" indent="-285750" algn="just"/>
            <a:r>
              <a:rPr lang="en-US" altLang="en-US" sz="2800" dirty="0"/>
              <a:t>A program would no longer be constrained by the </a:t>
            </a:r>
            <a:r>
              <a:rPr lang="en-US" altLang="en-US" sz="2800" b="1" dirty="0"/>
              <a:t>amount of physical memory </a:t>
            </a:r>
            <a:r>
              <a:rPr lang="en-US" altLang="en-US" sz="2800" dirty="0"/>
              <a:t>that is available. Users would be able to write programs for an </a:t>
            </a:r>
            <a:r>
              <a:rPr lang="en-US" altLang="en-US" sz="2800" b="1" dirty="0"/>
              <a:t>extremely large</a:t>
            </a:r>
            <a:r>
              <a:rPr lang="en-US" altLang="en-US" sz="2800" dirty="0"/>
              <a:t> virtual address space, simplifying the programming task.</a:t>
            </a:r>
          </a:p>
          <a:p>
            <a:pPr marL="285750" indent="-285750" algn="just"/>
            <a:r>
              <a:rPr lang="en-US" altLang="en-US" sz="2800" dirty="0"/>
              <a:t>Because each program could take less physical memory, more programs could be run at the same time, with a corresponding </a:t>
            </a:r>
            <a:r>
              <a:rPr lang="en-US" altLang="en-US" sz="2800" b="1" dirty="0"/>
              <a:t>increase in CPU utilization</a:t>
            </a:r>
            <a:r>
              <a:rPr lang="en-US" altLang="en-US" sz="2800" dirty="0"/>
              <a:t> and </a:t>
            </a:r>
            <a:r>
              <a:rPr lang="en-US" altLang="en-US" sz="2800" b="1" dirty="0"/>
              <a:t>throughput</a:t>
            </a:r>
            <a:r>
              <a:rPr lang="en-US" altLang="en-US" sz="2800" dirty="0"/>
              <a:t> but with no increase in response time or turnaround time.</a:t>
            </a:r>
          </a:p>
          <a:p>
            <a:pPr marL="285750" indent="-285750" algn="just"/>
            <a:r>
              <a:rPr lang="en-US" altLang="en-US" sz="2800" dirty="0"/>
              <a:t>Less I/O would be needed to load or swap portions of programs into memory, so each program would run faster.</a:t>
            </a:r>
          </a:p>
        </p:txBody>
      </p:sp>
    </p:spTree>
    <p:extLst>
      <p:ext uri="{BB962C8B-B14F-4D97-AF65-F5344CB8AC3E}">
        <p14:creationId xmlns:p14="http://schemas.microsoft.com/office/powerpoint/2010/main" val="3675779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ABD8A388-8E27-4EE5-81A8-60463D778F0D}"/>
              </a:ext>
            </a:extLst>
          </p:cNvPr>
          <p:cNvSpPr>
            <a:spLocks noGrp="1" noChangeArrowheads="1"/>
          </p:cNvSpPr>
          <p:nvPr>
            <p:ph type="title"/>
          </p:nvPr>
        </p:nvSpPr>
        <p:spPr>
          <a:xfrm>
            <a:off x="457200" y="89318"/>
            <a:ext cx="8229600" cy="576262"/>
          </a:xfrm>
        </p:spPr>
        <p:txBody>
          <a:bodyPr>
            <a:noAutofit/>
          </a:bodyPr>
          <a:lstStyle/>
          <a:p>
            <a:pPr algn="ctr" eaLnBrk="1" hangingPunct="1"/>
            <a:r>
              <a:rPr lang="en-US" altLang="en-US" sz="4000" dirty="0"/>
              <a:t>Virtual memory </a:t>
            </a:r>
          </a:p>
        </p:txBody>
      </p:sp>
      <p:sp>
        <p:nvSpPr>
          <p:cNvPr id="8195" name="Rectangle 3">
            <a:extLst>
              <a:ext uri="{FF2B5EF4-FFF2-40B4-BE49-F238E27FC236}">
                <a16:creationId xmlns:a16="http://schemas.microsoft.com/office/drawing/2014/main" id="{C522901F-947A-433D-9A89-77363C3CEF9D}"/>
              </a:ext>
            </a:extLst>
          </p:cNvPr>
          <p:cNvSpPr>
            <a:spLocks noGrp="1" noChangeArrowheads="1"/>
          </p:cNvSpPr>
          <p:nvPr>
            <p:ph idx="1"/>
          </p:nvPr>
        </p:nvSpPr>
        <p:spPr>
          <a:xfrm>
            <a:off x="614363" y="665580"/>
            <a:ext cx="8072437" cy="6192420"/>
          </a:xfrm>
        </p:spPr>
        <p:txBody>
          <a:bodyPr>
            <a:normAutofit lnSpcReduction="10000"/>
          </a:bodyPr>
          <a:lstStyle/>
          <a:p>
            <a:pPr marL="228600" lvl="1" indent="-228600" algn="just">
              <a:lnSpc>
                <a:spcPct val="100000"/>
              </a:lnSpc>
            </a:pPr>
            <a:r>
              <a:rPr lang="en-US" altLang="en-US" sz="3000" dirty="0"/>
              <a:t>Virtual memory is a technique that allows the execution of processes that are </a:t>
            </a:r>
            <a:r>
              <a:rPr lang="en-US" altLang="en-US" sz="3000" b="1" dirty="0"/>
              <a:t>not completely in memory</a:t>
            </a:r>
            <a:r>
              <a:rPr lang="en-US" altLang="en-US" sz="3000" dirty="0"/>
              <a:t>. </a:t>
            </a:r>
          </a:p>
          <a:p>
            <a:pPr marL="228600" lvl="1" indent="-228600" algn="just">
              <a:lnSpc>
                <a:spcPct val="100000"/>
              </a:lnSpc>
            </a:pPr>
            <a:r>
              <a:rPr lang="en-US" altLang="en-US" sz="3000" dirty="0"/>
              <a:t>One major advantage of this scheme is that </a:t>
            </a:r>
            <a:r>
              <a:rPr lang="en-US" altLang="en-US" sz="3000" b="1" dirty="0"/>
              <a:t>programs can be larger than physical memory</a:t>
            </a:r>
            <a:r>
              <a:rPr lang="en-US" altLang="en-US" sz="3000" dirty="0"/>
              <a:t>. </a:t>
            </a:r>
          </a:p>
          <a:p>
            <a:pPr marL="228600" lvl="1" indent="-228600" algn="just"/>
            <a:r>
              <a:rPr lang="en-US" altLang="en-US" sz="3000" dirty="0"/>
              <a:t>Only part of the program needs to be in memory for execution.</a:t>
            </a:r>
          </a:p>
          <a:p>
            <a:pPr marL="228600" lvl="1" indent="-228600" algn="just"/>
            <a:r>
              <a:rPr lang="en-US" altLang="en-US" sz="3000" dirty="0"/>
              <a:t>Logical address space can therefore be much larger than physical address space.</a:t>
            </a:r>
          </a:p>
          <a:p>
            <a:pPr marL="228600" lvl="1" indent="-228600" algn="just"/>
            <a:r>
              <a:rPr lang="en-US" altLang="en-US" sz="3000" dirty="0"/>
              <a:t>Allows address spaces to be shared by several processes.</a:t>
            </a:r>
          </a:p>
          <a:p>
            <a:pPr marL="228600" lvl="1" indent="-228600" algn="just"/>
            <a:r>
              <a:rPr lang="en-US" altLang="en-US" sz="3000" dirty="0"/>
              <a:t>More programs running concurrently.</a:t>
            </a:r>
          </a:p>
          <a:p>
            <a:pPr marL="228600" lvl="1" indent="-228600" algn="just"/>
            <a:r>
              <a:rPr lang="en-US" altLang="en-US" sz="3000" dirty="0"/>
              <a:t>This technique frees programmers from the concerns of memory-storage limitations.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8334937-C42E-4E7B-B0E3-358B7E80837F}"/>
              </a:ext>
            </a:extLst>
          </p:cNvPr>
          <p:cNvSpPr>
            <a:spLocks noGrp="1" noChangeArrowheads="1"/>
          </p:cNvSpPr>
          <p:nvPr>
            <p:ph type="title"/>
          </p:nvPr>
        </p:nvSpPr>
        <p:spPr>
          <a:xfrm>
            <a:off x="1" y="73922"/>
            <a:ext cx="9143999" cy="608013"/>
          </a:xfrm>
        </p:spPr>
        <p:txBody>
          <a:bodyPr>
            <a:noAutofit/>
          </a:bodyPr>
          <a:lstStyle/>
          <a:p>
            <a:pPr eaLnBrk="1" hangingPunct="1"/>
            <a:r>
              <a:rPr lang="en-US" altLang="en-US" dirty="0"/>
              <a:t>Virtual Memory that is Larger than Physical Memory</a:t>
            </a:r>
          </a:p>
        </p:txBody>
      </p:sp>
      <p:pic>
        <p:nvPicPr>
          <p:cNvPr id="10243" name="Picture 4" descr="B:\os-book\os10-dir\Slides-WORK-area\Figures-dir\ch10\JPG-dir\10_01.jpg">
            <a:extLst>
              <a:ext uri="{FF2B5EF4-FFF2-40B4-BE49-F238E27FC236}">
                <a16:creationId xmlns:a16="http://schemas.microsoft.com/office/drawing/2014/main" id="{75959D58-FD0D-4362-987B-001456C2B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4" y="803365"/>
            <a:ext cx="7443786" cy="5902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0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0F0B8DB-E097-4BE3-81BB-00866E68FD0A}"/>
              </a:ext>
            </a:extLst>
          </p:cNvPr>
          <p:cNvSpPr>
            <a:spLocks noGrp="1" noChangeArrowheads="1"/>
          </p:cNvSpPr>
          <p:nvPr>
            <p:ph type="title"/>
          </p:nvPr>
        </p:nvSpPr>
        <p:spPr>
          <a:xfrm>
            <a:off x="811213" y="103612"/>
            <a:ext cx="7743825" cy="576262"/>
          </a:xfrm>
        </p:spPr>
        <p:txBody>
          <a:bodyPr>
            <a:noAutofit/>
          </a:bodyPr>
          <a:lstStyle/>
          <a:p>
            <a:pPr eaLnBrk="1" hangingPunct="1"/>
            <a:r>
              <a:rPr lang="en-US" altLang="en-US" sz="4000" dirty="0"/>
              <a:t>Virtual-address Space</a:t>
            </a:r>
          </a:p>
        </p:txBody>
      </p:sp>
      <p:pic>
        <p:nvPicPr>
          <p:cNvPr id="11267" name="Picture 5">
            <a:extLst>
              <a:ext uri="{FF2B5EF4-FFF2-40B4-BE49-F238E27FC236}">
                <a16:creationId xmlns:a16="http://schemas.microsoft.com/office/drawing/2014/main" id="{E67654BE-83C9-4844-8B55-CE9FFDB0F5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5252" y="406692"/>
            <a:ext cx="2666998" cy="5904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3">
            <a:extLst>
              <a:ext uri="{FF2B5EF4-FFF2-40B4-BE49-F238E27FC236}">
                <a16:creationId xmlns:a16="http://schemas.microsoft.com/office/drawing/2014/main" id="{2B1431A7-1D96-4E21-A5C9-CBD53450BE42}"/>
              </a:ext>
            </a:extLst>
          </p:cNvPr>
          <p:cNvSpPr txBox="1">
            <a:spLocks noChangeArrowheads="1"/>
          </p:cNvSpPr>
          <p:nvPr/>
        </p:nvSpPr>
        <p:spPr bwMode="auto">
          <a:xfrm>
            <a:off x="354001" y="679874"/>
            <a:ext cx="5991251" cy="6178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defRPr>
                <a:solidFill>
                  <a:schemeClr val="tx1"/>
                </a:solidFill>
                <a:latin typeface="Verdana" panose="020B0604030504040204" pitchFamily="34" charset="0"/>
                <a:ea typeface="MS PGothic" panose="020B0600070205080204" pitchFamily="34" charset="-128"/>
              </a:defRPr>
            </a:lvl1pPr>
            <a:lvl2pPr marL="1060450" indent="-407988">
              <a:defRPr>
                <a:solidFill>
                  <a:schemeClr val="tx1"/>
                </a:solidFill>
                <a:latin typeface="Verdana" panose="020B0604030504040204" pitchFamily="34" charset="0"/>
                <a:ea typeface="MS PGothic" panose="020B0600070205080204" pitchFamily="34" charset="-128"/>
              </a:defRPr>
            </a:lvl2pPr>
            <a:lvl3pPr marL="1550988" indent="-325438">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342900" indent="-342900" algn="just">
              <a:spcBef>
                <a:spcPct val="35000"/>
              </a:spcBef>
              <a:buSzPct val="110000"/>
              <a:buFont typeface="Arial" panose="020B0604020202020204" pitchFamily="34" charset="0"/>
              <a:buChar char="•"/>
            </a:pPr>
            <a:r>
              <a:rPr kumimoji="1" lang="en-US" altLang="en-US" sz="2600" dirty="0">
                <a:latin typeface="+mn-lt"/>
              </a:rPr>
              <a:t>We allow the heap to grow upward in memory as it is used for dynamic memory allocation. </a:t>
            </a:r>
          </a:p>
          <a:p>
            <a:pPr marL="342900" indent="-342900" algn="just">
              <a:spcBef>
                <a:spcPct val="35000"/>
              </a:spcBef>
              <a:buSzPct val="110000"/>
              <a:buFont typeface="Arial" panose="020B0604020202020204" pitchFamily="34" charset="0"/>
              <a:buChar char="•"/>
            </a:pPr>
            <a:r>
              <a:rPr kumimoji="1" lang="en-US" altLang="en-US" sz="2600" dirty="0">
                <a:latin typeface="+mn-lt"/>
              </a:rPr>
              <a:t>Similarly, we allow for the stack to grow downward in memory through successive function calls. </a:t>
            </a:r>
          </a:p>
          <a:p>
            <a:pPr marL="342900" indent="-342900" algn="just">
              <a:spcBef>
                <a:spcPct val="35000"/>
              </a:spcBef>
              <a:buSzPct val="110000"/>
              <a:buFont typeface="Arial" panose="020B0604020202020204" pitchFamily="34" charset="0"/>
              <a:buChar char="•"/>
            </a:pPr>
            <a:r>
              <a:rPr kumimoji="1" lang="en-US" altLang="en-US" sz="2600" dirty="0">
                <a:latin typeface="+mn-lt"/>
              </a:rPr>
              <a:t>The large blank space (or hole) between the heap and the stack is part of the virtual address space but will require actual physical pages only if the heap or stack grows. </a:t>
            </a:r>
          </a:p>
          <a:p>
            <a:pPr marL="342900" indent="-342900" algn="just">
              <a:spcBef>
                <a:spcPct val="35000"/>
              </a:spcBef>
              <a:buSzPct val="110000"/>
              <a:buFont typeface="Arial" panose="020B0604020202020204" pitchFamily="34" charset="0"/>
              <a:buChar char="•"/>
            </a:pPr>
            <a:r>
              <a:rPr kumimoji="1" lang="en-US" altLang="en-US" sz="2600" dirty="0">
                <a:latin typeface="+mn-lt"/>
              </a:rPr>
              <a:t>Virtual address spaces that include holes are known as sparse address spaces.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82E1AA8-C0F1-47D6-90C4-29E3C8F7FBEF}"/>
              </a:ext>
            </a:extLst>
          </p:cNvPr>
          <p:cNvSpPr>
            <a:spLocks noGrp="1" noChangeArrowheads="1"/>
          </p:cNvSpPr>
          <p:nvPr>
            <p:ph type="title"/>
          </p:nvPr>
        </p:nvSpPr>
        <p:spPr>
          <a:xfrm>
            <a:off x="428625" y="92688"/>
            <a:ext cx="8226293" cy="576262"/>
          </a:xfrm>
        </p:spPr>
        <p:txBody>
          <a:bodyPr>
            <a:noAutofit/>
          </a:bodyPr>
          <a:lstStyle/>
          <a:p>
            <a:pPr algn="ctr" eaLnBrk="1" hangingPunct="1"/>
            <a:r>
              <a:rPr lang="en-US" altLang="en-US" sz="4000" dirty="0"/>
              <a:t>Page sharing using Virtual Memory</a:t>
            </a:r>
          </a:p>
        </p:txBody>
      </p:sp>
      <p:sp>
        <p:nvSpPr>
          <p:cNvPr id="2" name="TextBox 1"/>
          <p:cNvSpPr txBox="1"/>
          <p:nvPr/>
        </p:nvSpPr>
        <p:spPr>
          <a:xfrm>
            <a:off x="428625" y="800100"/>
            <a:ext cx="8358188" cy="6124754"/>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a:latin typeface="+mn-lt"/>
              </a:rPr>
              <a:t>In addition to separating logical memory from physical memory, virtual memory allows files and memory to be shared by two or more processes through page sharing.</a:t>
            </a:r>
          </a:p>
          <a:p>
            <a:pPr marL="285750" indent="-285750" algn="just">
              <a:buFont typeface="Arial" panose="020B0604020202020204" pitchFamily="34" charset="0"/>
              <a:buChar char="•"/>
            </a:pPr>
            <a:r>
              <a:rPr lang="en-US" sz="2800" dirty="0">
                <a:latin typeface="+mn-lt"/>
              </a:rPr>
              <a:t>Benefits of shared pages:</a:t>
            </a:r>
          </a:p>
          <a:p>
            <a:pPr marL="285750" indent="-285750" algn="just">
              <a:buFont typeface="Arial" panose="020B0604020202020204" pitchFamily="34" charset="0"/>
              <a:buChar char="•"/>
            </a:pPr>
            <a:r>
              <a:rPr lang="en-US" sz="2800" dirty="0">
                <a:latin typeface="+mn-lt"/>
              </a:rPr>
              <a:t>System libraries such as the standard C library can be shared by several processes through mapping of the shared object into a virtual address space. </a:t>
            </a:r>
          </a:p>
          <a:p>
            <a:pPr marL="285750" indent="-285750" algn="just">
              <a:buFont typeface="Arial" panose="020B0604020202020204" pitchFamily="34" charset="0"/>
              <a:buChar char="•"/>
            </a:pPr>
            <a:r>
              <a:rPr lang="en-US" sz="2800" dirty="0">
                <a:latin typeface="+mn-lt"/>
              </a:rPr>
              <a:t>Although each process considers the libraries to be part of its virtual address space, the actual pages where the libraries reside in physical memory are shared by all the processes. </a:t>
            </a:r>
          </a:p>
          <a:p>
            <a:pPr marL="285750" indent="-285750" algn="just">
              <a:buFont typeface="Arial" panose="020B0604020202020204" pitchFamily="34" charset="0"/>
              <a:buChar char="•"/>
            </a:pPr>
            <a:r>
              <a:rPr lang="en-US" sz="2800" dirty="0">
                <a:latin typeface="+mn-lt"/>
              </a:rPr>
              <a:t>Typically, a library is mapped read-only into the space of each process that is linked with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7951"/>
            <a:ext cx="7886700" cy="692149"/>
          </a:xfrm>
        </p:spPr>
        <p:txBody>
          <a:bodyPr/>
          <a:lstStyle/>
          <a:p>
            <a:r>
              <a:rPr lang="en-US" altLang="en-US" sz="3600" dirty="0"/>
              <a:t>Shared library using Virtual Memory</a:t>
            </a:r>
            <a:endParaRPr lang="en-US" dirty="0"/>
          </a:p>
        </p:txBody>
      </p:sp>
      <p:pic>
        <p:nvPicPr>
          <p:cNvPr id="3" name="Picture 6">
            <a:extLst>
              <a:ext uri="{FF2B5EF4-FFF2-40B4-BE49-F238E27FC236}">
                <a16:creationId xmlns:a16="http://schemas.microsoft.com/office/drawing/2014/main" id="{C513F0E0-9020-4F02-8008-BA6516EC25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163" y="1500185"/>
            <a:ext cx="8221402"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1387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82E1AA8-C0F1-47D6-90C4-29E3C8F7FBEF}"/>
              </a:ext>
            </a:extLst>
          </p:cNvPr>
          <p:cNvSpPr>
            <a:spLocks noGrp="1" noChangeArrowheads="1"/>
          </p:cNvSpPr>
          <p:nvPr>
            <p:ph type="title"/>
          </p:nvPr>
        </p:nvSpPr>
        <p:spPr>
          <a:xfrm>
            <a:off x="428625" y="92688"/>
            <a:ext cx="8226293" cy="576262"/>
          </a:xfrm>
        </p:spPr>
        <p:txBody>
          <a:bodyPr>
            <a:noAutofit/>
          </a:bodyPr>
          <a:lstStyle/>
          <a:p>
            <a:pPr algn="ctr"/>
            <a:r>
              <a:rPr lang="en-US" altLang="en-US" sz="4000" dirty="0"/>
              <a:t>Page sharing using Virtual Memory</a:t>
            </a:r>
          </a:p>
        </p:txBody>
      </p:sp>
      <p:sp>
        <p:nvSpPr>
          <p:cNvPr id="5" name="TextBox 4"/>
          <p:cNvSpPr txBox="1"/>
          <p:nvPr/>
        </p:nvSpPr>
        <p:spPr>
          <a:xfrm>
            <a:off x="428625" y="800100"/>
            <a:ext cx="8358188" cy="3970318"/>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a:latin typeface="+mn-lt"/>
              </a:rPr>
              <a:t>Two or more processes can communicate through the use of shared memory.</a:t>
            </a:r>
          </a:p>
          <a:p>
            <a:pPr marL="285750" indent="-285750" algn="just">
              <a:buFont typeface="Arial" panose="020B0604020202020204" pitchFamily="34" charset="0"/>
              <a:buChar char="•"/>
            </a:pPr>
            <a:r>
              <a:rPr lang="en-US" sz="2800" dirty="0">
                <a:latin typeface="+mn-lt"/>
              </a:rPr>
              <a:t>Virtual memory allows one process to create a region of memory that it can share with another process.</a:t>
            </a:r>
          </a:p>
          <a:p>
            <a:pPr marL="285750" indent="-285750" algn="just">
              <a:buFont typeface="Arial" panose="020B0604020202020204" pitchFamily="34" charset="0"/>
              <a:buChar char="•"/>
            </a:pPr>
            <a:r>
              <a:rPr lang="en-US" sz="2800" dirty="0">
                <a:latin typeface="+mn-lt"/>
              </a:rPr>
              <a:t>Processes sharing this region consider it part of their virtual address space.</a:t>
            </a:r>
          </a:p>
          <a:p>
            <a:pPr marL="285750" indent="-285750" algn="just">
              <a:buFont typeface="Arial" panose="020B0604020202020204" pitchFamily="34" charset="0"/>
              <a:buChar char="•"/>
            </a:pPr>
            <a:r>
              <a:rPr lang="en-US" sz="2800" dirty="0">
                <a:latin typeface="+mn-lt"/>
              </a:rPr>
              <a:t>Pages can be shared during process creation with the fork() system call, thus speeding up process creation.</a:t>
            </a:r>
          </a:p>
          <a:p>
            <a:pPr marL="285750" indent="-285750" algn="just">
              <a:buFont typeface="Arial" panose="020B0604020202020204" pitchFamily="34" charset="0"/>
              <a:buChar char="•"/>
            </a:pPr>
            <a:endParaRPr lang="en-US" sz="2800" dirty="0">
              <a:latin typeface="+mn-lt"/>
            </a:endParaRPr>
          </a:p>
        </p:txBody>
      </p:sp>
    </p:spTree>
    <p:extLst>
      <p:ext uri="{BB962C8B-B14F-4D97-AF65-F5344CB8AC3E}">
        <p14:creationId xmlns:p14="http://schemas.microsoft.com/office/powerpoint/2010/main" val="41637798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82E1AA8-C0F1-47D6-90C4-29E3C8F7FBEF}"/>
              </a:ext>
            </a:extLst>
          </p:cNvPr>
          <p:cNvSpPr>
            <a:spLocks noGrp="1" noChangeArrowheads="1"/>
          </p:cNvSpPr>
          <p:nvPr>
            <p:ph type="title"/>
          </p:nvPr>
        </p:nvSpPr>
        <p:spPr>
          <a:xfrm>
            <a:off x="428625" y="92688"/>
            <a:ext cx="8226293" cy="576262"/>
          </a:xfrm>
        </p:spPr>
        <p:txBody>
          <a:bodyPr>
            <a:noAutofit/>
          </a:bodyPr>
          <a:lstStyle/>
          <a:p>
            <a:pPr algn="ctr"/>
            <a:r>
              <a:rPr lang="en-US" altLang="en-US" sz="4000" dirty="0"/>
              <a:t>Demand Paging</a:t>
            </a:r>
          </a:p>
        </p:txBody>
      </p:sp>
      <p:sp>
        <p:nvSpPr>
          <p:cNvPr id="5" name="TextBox 4"/>
          <p:cNvSpPr txBox="1"/>
          <p:nvPr/>
        </p:nvSpPr>
        <p:spPr>
          <a:xfrm>
            <a:off x="428625" y="668950"/>
            <a:ext cx="8358188" cy="5693866"/>
          </a:xfrm>
          <a:prstGeom prst="rect">
            <a:avLst/>
          </a:prstGeom>
          <a:noFill/>
        </p:spPr>
        <p:txBody>
          <a:bodyPr wrap="square" rtlCol="0">
            <a:spAutoFit/>
          </a:bodyPr>
          <a:lstStyle/>
          <a:p>
            <a:pPr marL="285750" indent="-285750" algn="just">
              <a:buFont typeface="Arial" panose="020B0604020202020204" pitchFamily="34" charset="0"/>
              <a:buChar char="•"/>
            </a:pPr>
            <a:r>
              <a:rPr lang="en-US" sz="2800" dirty="0">
                <a:latin typeface="+mn-lt"/>
              </a:rPr>
              <a:t>Demand paging technique is commonly used to implement virtual memory concept. With demand-paged virtual memory, pages are loaded only when they are demanded during program execution.</a:t>
            </a:r>
          </a:p>
          <a:p>
            <a:pPr marL="285750" indent="-285750" algn="just">
              <a:buFont typeface="Arial" panose="020B0604020202020204" pitchFamily="34" charset="0"/>
              <a:buChar char="•"/>
            </a:pPr>
            <a:r>
              <a:rPr lang="en-US" sz="2800" dirty="0">
                <a:latin typeface="+mn-lt"/>
              </a:rPr>
              <a:t>Pages that are never accessed are thus never loaded into physical memory. </a:t>
            </a:r>
          </a:p>
          <a:p>
            <a:pPr marL="285750" indent="-285750" algn="just">
              <a:buFont typeface="Arial" panose="020B0604020202020204" pitchFamily="34" charset="0"/>
              <a:buChar char="•"/>
            </a:pPr>
            <a:r>
              <a:rPr lang="en-US" sz="2800" dirty="0">
                <a:latin typeface="+mn-lt"/>
              </a:rPr>
              <a:t>A demand-paging system is similar to a paging system with swapping where processes reside in secondary memory (usually an HDD device). </a:t>
            </a:r>
          </a:p>
          <a:p>
            <a:pPr marL="285750" indent="-285750" algn="just">
              <a:buFont typeface="Arial" panose="020B0604020202020204" pitchFamily="34" charset="0"/>
              <a:buChar char="•"/>
            </a:pPr>
            <a:r>
              <a:rPr lang="en-US" sz="2800" dirty="0">
                <a:latin typeface="+mn-lt"/>
              </a:rPr>
              <a:t>Demand paging explains one of the primary benefits of virtual memory—by loading only the portions of programs that are needed, memory is used more efficiently.</a:t>
            </a:r>
          </a:p>
        </p:txBody>
      </p:sp>
    </p:spTree>
    <p:extLst>
      <p:ext uri="{BB962C8B-B14F-4D97-AF65-F5344CB8AC3E}">
        <p14:creationId xmlns:p14="http://schemas.microsoft.com/office/powerpoint/2010/main" val="221464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9C06DF40-C8BE-4D63-864C-842E26CBB173}"/>
              </a:ext>
            </a:extLst>
          </p:cNvPr>
          <p:cNvSpPr>
            <a:spLocks noGrp="1" noChangeArrowheads="1"/>
          </p:cNvSpPr>
          <p:nvPr>
            <p:ph type="title"/>
          </p:nvPr>
        </p:nvSpPr>
        <p:spPr>
          <a:xfrm>
            <a:off x="457200" y="123081"/>
            <a:ext cx="8229600" cy="576262"/>
          </a:xfrm>
        </p:spPr>
        <p:txBody>
          <a:bodyPr>
            <a:noAutofit/>
          </a:bodyPr>
          <a:lstStyle/>
          <a:p>
            <a:pPr algn="ctr" eaLnBrk="1" hangingPunct="1"/>
            <a:r>
              <a:rPr lang="en-US" altLang="en-US" sz="4000" dirty="0"/>
              <a:t>Demand Paging</a:t>
            </a:r>
          </a:p>
        </p:txBody>
      </p:sp>
      <p:sp>
        <p:nvSpPr>
          <p:cNvPr id="14339" name="Rectangle 3">
            <a:extLst>
              <a:ext uri="{FF2B5EF4-FFF2-40B4-BE49-F238E27FC236}">
                <a16:creationId xmlns:a16="http://schemas.microsoft.com/office/drawing/2014/main" id="{4FA26912-DDBD-4FE1-BFA7-E72BE4D7C085}"/>
              </a:ext>
            </a:extLst>
          </p:cNvPr>
          <p:cNvSpPr>
            <a:spLocks noGrp="1" noChangeArrowheads="1"/>
          </p:cNvSpPr>
          <p:nvPr>
            <p:ph idx="1"/>
          </p:nvPr>
        </p:nvSpPr>
        <p:spPr>
          <a:xfrm>
            <a:off x="271458" y="570754"/>
            <a:ext cx="5157792" cy="5774193"/>
          </a:xfrm>
        </p:spPr>
        <p:txBody>
          <a:bodyPr>
            <a:noAutofit/>
          </a:bodyPr>
          <a:lstStyle/>
          <a:p>
            <a:pPr>
              <a:lnSpc>
                <a:spcPct val="90000"/>
              </a:lnSpc>
            </a:pPr>
            <a:r>
              <a:rPr lang="en-US" altLang="en-US" sz="2800" dirty="0"/>
              <a:t>Could bring entire process into memory at load time</a:t>
            </a:r>
          </a:p>
          <a:p>
            <a:pPr>
              <a:lnSpc>
                <a:spcPct val="90000"/>
              </a:lnSpc>
            </a:pPr>
            <a:r>
              <a:rPr lang="en-US" altLang="en-US" sz="2800" dirty="0"/>
              <a:t>Or bring a page into memory only when it is needed</a:t>
            </a:r>
          </a:p>
          <a:p>
            <a:pPr lvl="1">
              <a:lnSpc>
                <a:spcPct val="90000"/>
              </a:lnSpc>
            </a:pPr>
            <a:r>
              <a:rPr lang="en-US" altLang="en-US" sz="2800" dirty="0"/>
              <a:t>Less I/O needed, no unnecessary I/O</a:t>
            </a:r>
          </a:p>
          <a:p>
            <a:pPr lvl="1">
              <a:lnSpc>
                <a:spcPct val="90000"/>
              </a:lnSpc>
            </a:pPr>
            <a:r>
              <a:rPr lang="en-US" altLang="en-US" sz="2800" dirty="0"/>
              <a:t>Faster response</a:t>
            </a:r>
          </a:p>
          <a:p>
            <a:pPr lvl="1">
              <a:lnSpc>
                <a:spcPct val="90000"/>
              </a:lnSpc>
            </a:pPr>
            <a:r>
              <a:rPr lang="en-US" altLang="en-US" sz="2800" dirty="0"/>
              <a:t>More users</a:t>
            </a:r>
          </a:p>
          <a:p>
            <a:r>
              <a:rPr lang="en-US" altLang="en-US" sz="2800" b="1" dirty="0">
                <a:sym typeface="Symbol" panose="05050102010706020507" pitchFamily="18" charset="2"/>
              </a:rPr>
              <a:t>Lazy swapper </a:t>
            </a:r>
            <a:r>
              <a:rPr lang="en-US" altLang="en-US" sz="2800" dirty="0">
                <a:sym typeface="Symbol" panose="05050102010706020507" pitchFamily="18" charset="2"/>
              </a:rPr>
              <a:t>– never swaps a page into memory unless page will be needed</a:t>
            </a:r>
          </a:p>
          <a:p>
            <a:pPr marL="800100" lvl="1" indent="-342900"/>
            <a:r>
              <a:rPr lang="en-US" altLang="en-US" sz="2800" dirty="0">
                <a:sym typeface="Symbol" panose="05050102010706020507" pitchFamily="18" charset="2"/>
              </a:rPr>
              <a:t>Swapper that deals with pages is a </a:t>
            </a:r>
            <a:r>
              <a:rPr lang="en-US" altLang="en-US" sz="2800" b="1" dirty="0">
                <a:sym typeface="Symbol" panose="05050102010706020507" pitchFamily="18" charset="2"/>
              </a:rPr>
              <a:t>pager</a:t>
            </a:r>
          </a:p>
          <a:p>
            <a:pPr marL="342900" lvl="1" indent="0">
              <a:lnSpc>
                <a:spcPct val="90000"/>
              </a:lnSpc>
              <a:buNone/>
            </a:pPr>
            <a:endParaRPr lang="en-US" altLang="en-US" sz="2800" dirty="0"/>
          </a:p>
        </p:txBody>
      </p:sp>
      <p:pic>
        <p:nvPicPr>
          <p:cNvPr id="14340" name="Picture 4" descr="9">
            <a:extLst>
              <a:ext uri="{FF2B5EF4-FFF2-40B4-BE49-F238E27FC236}">
                <a16:creationId xmlns:a16="http://schemas.microsoft.com/office/drawing/2014/main" id="{A3D70552-8B37-46D6-A4A0-489B357F42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9540" y="1014413"/>
            <a:ext cx="3833186"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0D871474-8C29-4C4D-A06C-A16B6A83DC61}"/>
              </a:ext>
            </a:extLst>
          </p:cNvPr>
          <p:cNvSpPr>
            <a:spLocks noGrp="1" noChangeArrowheads="1"/>
          </p:cNvSpPr>
          <p:nvPr>
            <p:ph type="title"/>
          </p:nvPr>
        </p:nvSpPr>
        <p:spPr>
          <a:xfrm>
            <a:off x="457200" y="120495"/>
            <a:ext cx="8229600" cy="576262"/>
          </a:xfrm>
        </p:spPr>
        <p:txBody>
          <a:bodyPr>
            <a:noAutofit/>
          </a:bodyPr>
          <a:lstStyle/>
          <a:p>
            <a:pPr algn="ctr" eaLnBrk="1" hangingPunct="1"/>
            <a:r>
              <a:rPr lang="en-US" altLang="en-US" sz="4000" dirty="0"/>
              <a:t>Page table with Valid-Invalid Bit</a:t>
            </a:r>
          </a:p>
        </p:txBody>
      </p:sp>
      <p:sp>
        <p:nvSpPr>
          <p:cNvPr id="16387" name="Rectangle 3">
            <a:extLst>
              <a:ext uri="{FF2B5EF4-FFF2-40B4-BE49-F238E27FC236}">
                <a16:creationId xmlns:a16="http://schemas.microsoft.com/office/drawing/2014/main" id="{72DE0254-5503-4CC6-82D6-9AD27FDC1284}"/>
              </a:ext>
            </a:extLst>
          </p:cNvPr>
          <p:cNvSpPr>
            <a:spLocks noGrp="1" noChangeArrowheads="1"/>
          </p:cNvSpPr>
          <p:nvPr>
            <p:ph idx="1"/>
          </p:nvPr>
        </p:nvSpPr>
        <p:spPr>
          <a:xfrm>
            <a:off x="849086" y="725333"/>
            <a:ext cx="7952014" cy="5613122"/>
          </a:xfrm>
        </p:spPr>
        <p:txBody>
          <a:bodyPr>
            <a:noAutofit/>
          </a:bodyPr>
          <a:lstStyle/>
          <a:p>
            <a:r>
              <a:rPr lang="en-US" altLang="en-US" sz="2800" dirty="0"/>
              <a:t>With each page table entry a valid–invalid bit is associated</a:t>
            </a:r>
          </a:p>
          <a:p>
            <a:r>
              <a:rPr lang="en-US" altLang="en-US" sz="2800" dirty="0">
                <a:sym typeface="Symbol" panose="05050102010706020507" pitchFamily="18" charset="2"/>
              </a:rPr>
              <a:t>A bit is set to </a:t>
            </a:r>
            <a:r>
              <a:rPr lang="en-US" altLang="en-US" sz="2800" b="1" dirty="0">
                <a:sym typeface="Symbol" panose="05050102010706020507" pitchFamily="18" charset="2"/>
              </a:rPr>
              <a:t>valid</a:t>
            </a:r>
            <a:r>
              <a:rPr lang="en-US" altLang="en-US" sz="2800" dirty="0">
                <a:sym typeface="Symbol" panose="05050102010706020507" pitchFamily="18" charset="2"/>
              </a:rPr>
              <a:t>, the associated page is both legal and in memory. </a:t>
            </a:r>
          </a:p>
          <a:p>
            <a:r>
              <a:rPr lang="en-US" altLang="en-US" sz="2800" dirty="0">
                <a:sym typeface="Symbol" panose="05050102010706020507" pitchFamily="18" charset="2"/>
              </a:rPr>
              <a:t>If the bit is set to </a:t>
            </a:r>
            <a:r>
              <a:rPr lang="en-US" altLang="en-US" sz="2800" b="1" dirty="0">
                <a:sym typeface="Symbol" panose="05050102010706020507" pitchFamily="18" charset="2"/>
              </a:rPr>
              <a:t>invalid</a:t>
            </a:r>
            <a:r>
              <a:rPr lang="en-US" altLang="en-US" sz="2800" dirty="0">
                <a:sym typeface="Symbol" panose="05050102010706020507" pitchFamily="18" charset="2"/>
              </a:rPr>
              <a:t>, the page either is not valid or is valid but is currently in secondary storage. </a:t>
            </a:r>
          </a:p>
          <a:p>
            <a:pPr marL="0" indent="0">
              <a:buNone/>
            </a:pPr>
            <a:r>
              <a:rPr lang="en-US" altLang="en-US" sz="2000" dirty="0"/>
              <a:t>	</a:t>
            </a:r>
            <a:r>
              <a:rPr lang="en-US" altLang="en-US" sz="2800" dirty="0"/>
              <a:t>(</a:t>
            </a:r>
            <a:r>
              <a:rPr lang="en-US" altLang="en-US" sz="2800" b="1" dirty="0"/>
              <a:t>v</a:t>
            </a:r>
            <a:r>
              <a:rPr lang="en-US" altLang="en-US" sz="2800" dirty="0"/>
              <a:t> </a:t>
            </a:r>
            <a:r>
              <a:rPr lang="en-US" altLang="en-US" sz="2800" dirty="0">
                <a:sym typeface="Symbol" panose="05050102010706020507" pitchFamily="18" charset="2"/>
              </a:rPr>
              <a:t> in-memory, </a:t>
            </a:r>
            <a:r>
              <a:rPr lang="en-US" altLang="en-US" sz="2800" b="1" dirty="0" err="1">
                <a:sym typeface="Symbol" panose="05050102010706020507" pitchFamily="18" charset="2"/>
              </a:rPr>
              <a:t>i</a:t>
            </a:r>
            <a:r>
              <a:rPr lang="en-US" altLang="en-US" sz="2800" dirty="0">
                <a:sym typeface="Symbol" panose="05050102010706020507" pitchFamily="18" charset="2"/>
              </a:rPr>
              <a:t>  not-in-memory)</a:t>
            </a:r>
          </a:p>
          <a:p>
            <a:pPr marL="0" indent="0">
              <a:buNone/>
            </a:pP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br>
              <a:rPr lang="en-US" altLang="en-US" sz="2000" dirty="0">
                <a:sym typeface="Symbol" panose="05050102010706020507" pitchFamily="18" charset="2"/>
              </a:rPr>
            </a:br>
            <a:endParaRPr lang="en-US" altLang="en-US" sz="2800" dirty="0">
              <a:sym typeface="Symbol" panose="05050102010706020507" pitchFamily="18" charset="2"/>
            </a:endParaRPr>
          </a:p>
        </p:txBody>
      </p:sp>
      <p:pic>
        <p:nvPicPr>
          <p:cNvPr id="16388" name="Picture 1">
            <a:extLst>
              <a:ext uri="{FF2B5EF4-FFF2-40B4-BE49-F238E27FC236}">
                <a16:creationId xmlns:a16="http://schemas.microsoft.com/office/drawing/2014/main" id="{6076F79C-4BBB-4218-90FB-18A6D83B8BE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79554" y="3836099"/>
            <a:ext cx="3364059" cy="3024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5B154921-491D-443E-816A-3E1D64EAD983}"/>
              </a:ext>
            </a:extLst>
          </p:cNvPr>
          <p:cNvSpPr>
            <a:spLocks noGrp="1" noChangeArrowheads="1"/>
          </p:cNvSpPr>
          <p:nvPr>
            <p:ph type="title"/>
          </p:nvPr>
        </p:nvSpPr>
        <p:spPr>
          <a:xfrm>
            <a:off x="157162" y="102090"/>
            <a:ext cx="8872537" cy="540847"/>
          </a:xfrm>
        </p:spPr>
        <p:txBody>
          <a:bodyPr>
            <a:noAutofit/>
          </a:bodyPr>
          <a:lstStyle/>
          <a:p>
            <a:pPr algn="ctr"/>
            <a:r>
              <a:rPr lang="en-US" altLang="en-US" sz="4000" dirty="0"/>
              <a:t>Page table with Valid-Invalid Bit</a:t>
            </a:r>
          </a:p>
        </p:txBody>
      </p:sp>
      <p:pic>
        <p:nvPicPr>
          <p:cNvPr id="17411" name="Picture 2" descr="B:\os-book\os10-dir\Slides-WORK-area\Figures-dir\ch10\JPG-dir\10_04.jpg">
            <a:extLst>
              <a:ext uri="{FF2B5EF4-FFF2-40B4-BE49-F238E27FC236}">
                <a16:creationId xmlns:a16="http://schemas.microsoft.com/office/drawing/2014/main" id="{EE8B21A0-27D4-48EC-AA1E-673C6BCAF8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2638" y="1246188"/>
            <a:ext cx="4805362" cy="465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6614AF0F-0564-40AA-8F76-6152AC6E0CC9}"/>
              </a:ext>
            </a:extLst>
          </p:cNvPr>
          <p:cNvSpPr>
            <a:spLocks noGrp="1" noChangeArrowheads="1"/>
          </p:cNvSpPr>
          <p:nvPr>
            <p:ph type="title"/>
          </p:nvPr>
        </p:nvSpPr>
        <p:spPr>
          <a:xfrm>
            <a:off x="457200" y="102794"/>
            <a:ext cx="8229600" cy="576262"/>
          </a:xfrm>
        </p:spPr>
        <p:txBody>
          <a:bodyPr>
            <a:noAutofit/>
          </a:bodyPr>
          <a:lstStyle/>
          <a:p>
            <a:pPr algn="ctr" eaLnBrk="1" hangingPunct="1"/>
            <a:r>
              <a:rPr lang="en-US" altLang="en-US" sz="4000" dirty="0"/>
              <a:t>Steps in Handling Page Fault</a:t>
            </a:r>
          </a:p>
        </p:txBody>
      </p:sp>
      <p:sp>
        <p:nvSpPr>
          <p:cNvPr id="18435" name="Rectangle 3">
            <a:extLst>
              <a:ext uri="{FF2B5EF4-FFF2-40B4-BE49-F238E27FC236}">
                <a16:creationId xmlns:a16="http://schemas.microsoft.com/office/drawing/2014/main" id="{663B1E5A-B195-422A-B1B4-080156B3A5F1}"/>
              </a:ext>
            </a:extLst>
          </p:cNvPr>
          <p:cNvSpPr>
            <a:spLocks noGrp="1" noChangeArrowheads="1"/>
          </p:cNvSpPr>
          <p:nvPr>
            <p:ph idx="1"/>
          </p:nvPr>
        </p:nvSpPr>
        <p:spPr>
          <a:xfrm>
            <a:off x="642938" y="679056"/>
            <a:ext cx="7915275" cy="5907481"/>
          </a:xfrm>
        </p:spPr>
        <p:txBody>
          <a:bodyPr>
            <a:noAutofit/>
          </a:bodyPr>
          <a:lstStyle/>
          <a:p>
            <a:pPr marL="342900" indent="-342900">
              <a:lnSpc>
                <a:spcPct val="90000"/>
              </a:lnSpc>
              <a:buFont typeface="+mj-lt"/>
              <a:buAutoNum type="arabicPeriod"/>
              <a:defRPr/>
            </a:pPr>
            <a:r>
              <a:rPr lang="en-US" altLang="en-US" sz="2800" dirty="0"/>
              <a:t>If there is a reference to a page, first reference to that page will trap to operating system </a:t>
            </a:r>
          </a:p>
          <a:p>
            <a:pPr marL="342900" lvl="1" indent="-342900">
              <a:lnSpc>
                <a:spcPct val="90000"/>
              </a:lnSpc>
              <a:defRPr/>
            </a:pPr>
            <a:r>
              <a:rPr lang="en-US" altLang="en-US" sz="2400" dirty="0">
                <a:sym typeface="Symbol" pitchFamily="18" charset="2"/>
              </a:rPr>
              <a:t>Page fault</a:t>
            </a:r>
          </a:p>
          <a:p>
            <a:pPr marL="342900" indent="-342900">
              <a:lnSpc>
                <a:spcPct val="90000"/>
              </a:lnSpc>
              <a:buFont typeface="Monotype Sorts" pitchFamily="-84" charset="2"/>
              <a:buAutoNum type="arabicPeriod"/>
              <a:defRPr/>
            </a:pPr>
            <a:r>
              <a:rPr lang="en-US" altLang="en-US" sz="2800" dirty="0">
                <a:sym typeface="Symbol" pitchFamily="18" charset="2"/>
              </a:rPr>
              <a:t>Operating system looks at another table to decide:</a:t>
            </a:r>
          </a:p>
          <a:p>
            <a:pPr marL="342900" lvl="1" indent="-342900">
              <a:lnSpc>
                <a:spcPct val="90000"/>
              </a:lnSpc>
              <a:defRPr/>
            </a:pPr>
            <a:r>
              <a:rPr lang="en-US" altLang="en-US" sz="2400" dirty="0"/>
              <a:t>Invalid reference </a:t>
            </a:r>
            <a:r>
              <a:rPr lang="en-US" altLang="en-US" sz="2400" dirty="0">
                <a:sym typeface="Symbol" pitchFamily="18" charset="2"/>
              </a:rPr>
              <a:t> abort</a:t>
            </a:r>
          </a:p>
          <a:p>
            <a:pPr marL="342900" lvl="1" indent="-342900">
              <a:lnSpc>
                <a:spcPct val="90000"/>
              </a:lnSpc>
              <a:defRPr/>
            </a:pPr>
            <a:r>
              <a:rPr lang="en-US" altLang="en-US" sz="2400" dirty="0">
                <a:sym typeface="Symbol" pitchFamily="18" charset="2"/>
              </a:rPr>
              <a:t>Just not in memory (go to step 3)</a:t>
            </a:r>
          </a:p>
          <a:p>
            <a:pPr marL="342900" indent="-342900">
              <a:lnSpc>
                <a:spcPct val="90000"/>
              </a:lnSpc>
              <a:buFont typeface="Monotype Sorts" pitchFamily="-84" charset="2"/>
              <a:buAutoNum type="arabicPeriod"/>
              <a:defRPr/>
            </a:pPr>
            <a:r>
              <a:rPr lang="en-US" altLang="en-US" sz="2800" dirty="0">
                <a:sym typeface="Symbol" pitchFamily="18" charset="2"/>
              </a:rPr>
              <a:t>Find free frame (what if there is none?)</a:t>
            </a:r>
          </a:p>
          <a:p>
            <a:pPr marL="342900" indent="-342900">
              <a:lnSpc>
                <a:spcPct val="90000"/>
              </a:lnSpc>
              <a:buFont typeface="Monotype Sorts" pitchFamily="-84" charset="2"/>
              <a:buAutoNum type="arabicPeriod"/>
              <a:defRPr/>
            </a:pPr>
            <a:r>
              <a:rPr lang="en-US" altLang="en-US" sz="2800" dirty="0">
                <a:sym typeface="Symbol" pitchFamily="18" charset="2"/>
              </a:rPr>
              <a:t>Swap page into frame via scheduled disk operation</a:t>
            </a:r>
          </a:p>
          <a:p>
            <a:pPr marL="342900" indent="-342900">
              <a:lnSpc>
                <a:spcPct val="90000"/>
              </a:lnSpc>
              <a:buFont typeface="Monotype Sorts" pitchFamily="-84" charset="2"/>
              <a:buAutoNum type="arabicPeriod"/>
              <a:defRPr/>
            </a:pPr>
            <a:r>
              <a:rPr lang="en-US" altLang="en-US" sz="2800" dirty="0">
                <a:sym typeface="Symbol" pitchFamily="18" charset="2"/>
              </a:rPr>
              <a:t>Reset tables to indicate page now in memory</a:t>
            </a:r>
            <a:br>
              <a:rPr lang="en-US" altLang="en-US" sz="2800" dirty="0">
                <a:sym typeface="Symbol" pitchFamily="18" charset="2"/>
              </a:rPr>
            </a:br>
            <a:r>
              <a:rPr lang="en-US" altLang="en-US" sz="2800" dirty="0">
                <a:sym typeface="Symbol" pitchFamily="18" charset="2"/>
              </a:rPr>
              <a:t>Set validation bit = </a:t>
            </a:r>
            <a:r>
              <a:rPr lang="en-US" altLang="en-US" sz="2800" b="1" dirty="0">
                <a:sym typeface="Symbol" pitchFamily="18" charset="2"/>
              </a:rPr>
              <a:t>v</a:t>
            </a:r>
            <a:endParaRPr lang="en-US" altLang="en-US" sz="2800" dirty="0">
              <a:sym typeface="Symbol" pitchFamily="18" charset="2"/>
            </a:endParaRPr>
          </a:p>
          <a:p>
            <a:pPr marL="342900" indent="-342900">
              <a:lnSpc>
                <a:spcPct val="90000"/>
              </a:lnSpc>
              <a:buFont typeface="Monotype Sorts" pitchFamily="-84" charset="2"/>
              <a:buAutoNum type="arabicPeriod"/>
              <a:defRPr/>
            </a:pPr>
            <a:r>
              <a:rPr lang="en-US" altLang="en-US" sz="2800" dirty="0">
                <a:sym typeface="Symbol" pitchFamily="18" charset="2"/>
              </a:rPr>
              <a:t>Restart the instruction that caused the page fault</a:t>
            </a:r>
          </a:p>
          <a:p>
            <a:pPr marL="342900" indent="-342900">
              <a:lnSpc>
                <a:spcPct val="90000"/>
              </a:lnSpc>
              <a:buFont typeface="Monotype Sorts" pitchFamily="-84" charset="2"/>
              <a:buNone/>
              <a:defRPr/>
            </a:pPr>
            <a:endParaRPr lang="en-US" altLang="en-US" sz="2800" dirty="0">
              <a:sym typeface="Symbol" pitchFamily="18" charset="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45744E8-6995-495D-B4E9-CB8155552BF9}"/>
              </a:ext>
            </a:extLst>
          </p:cNvPr>
          <p:cNvSpPr>
            <a:spLocks noGrp="1" noChangeArrowheads="1"/>
          </p:cNvSpPr>
          <p:nvPr>
            <p:ph type="title"/>
          </p:nvPr>
        </p:nvSpPr>
        <p:spPr>
          <a:xfrm>
            <a:off x="328898" y="120207"/>
            <a:ext cx="8515059" cy="576262"/>
          </a:xfrm>
        </p:spPr>
        <p:txBody>
          <a:bodyPr>
            <a:noAutofit/>
          </a:bodyPr>
          <a:lstStyle/>
          <a:p>
            <a:pPr algn="ctr" eaLnBrk="1" hangingPunct="1"/>
            <a:r>
              <a:rPr lang="en-US" altLang="en-US" sz="4000" dirty="0"/>
              <a:t>Steps in Handling a Page Fault</a:t>
            </a:r>
          </a:p>
        </p:txBody>
      </p:sp>
      <p:pic>
        <p:nvPicPr>
          <p:cNvPr id="19459" name="Picture 4" descr="9">
            <a:extLst>
              <a:ext uri="{FF2B5EF4-FFF2-40B4-BE49-F238E27FC236}">
                <a16:creationId xmlns:a16="http://schemas.microsoft.com/office/drawing/2014/main" id="{4C87B603-A2E7-4FAE-A0CB-D034C6085D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0" y="814918"/>
            <a:ext cx="6929438" cy="5782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6455FCDC-9CE5-4011-94EB-761285813292}"/>
              </a:ext>
            </a:extLst>
          </p:cNvPr>
          <p:cNvSpPr>
            <a:spLocks noGrp="1"/>
          </p:cNvSpPr>
          <p:nvPr>
            <p:ph type="title"/>
          </p:nvPr>
        </p:nvSpPr>
        <p:spPr>
          <a:xfrm>
            <a:off x="457200" y="124636"/>
            <a:ext cx="8229600" cy="576262"/>
          </a:xfrm>
        </p:spPr>
        <p:txBody>
          <a:bodyPr>
            <a:noAutofit/>
          </a:bodyPr>
          <a:lstStyle/>
          <a:p>
            <a:pPr algn="ctr"/>
            <a:r>
              <a:rPr lang="en-US" altLang="en-US" sz="4000" dirty="0"/>
              <a:t>Aspects of Demand Paging</a:t>
            </a:r>
          </a:p>
        </p:txBody>
      </p:sp>
      <p:sp>
        <p:nvSpPr>
          <p:cNvPr id="20483" name="Content Placeholder 2">
            <a:extLst>
              <a:ext uri="{FF2B5EF4-FFF2-40B4-BE49-F238E27FC236}">
                <a16:creationId xmlns:a16="http://schemas.microsoft.com/office/drawing/2014/main" id="{AAD11580-A239-44B3-BA48-43549630E239}"/>
              </a:ext>
            </a:extLst>
          </p:cNvPr>
          <p:cNvSpPr>
            <a:spLocks noGrp="1"/>
          </p:cNvSpPr>
          <p:nvPr>
            <p:ph idx="1"/>
          </p:nvPr>
        </p:nvSpPr>
        <p:spPr>
          <a:xfrm>
            <a:off x="657226" y="700898"/>
            <a:ext cx="8029574" cy="5828490"/>
          </a:xfrm>
        </p:spPr>
        <p:txBody>
          <a:bodyPr>
            <a:noAutofit/>
          </a:bodyPr>
          <a:lstStyle/>
          <a:p>
            <a:pPr algn="just"/>
            <a:r>
              <a:rPr lang="en-US" altLang="en-US" sz="2800" b="1" dirty="0"/>
              <a:t>Pure demand paging: </a:t>
            </a:r>
            <a:r>
              <a:rPr lang="en-US" altLang="en-US" sz="2800" dirty="0"/>
              <a:t>start process with </a:t>
            </a:r>
            <a:r>
              <a:rPr lang="en-US" altLang="en-US" sz="2800" i="1" dirty="0"/>
              <a:t>no</a:t>
            </a:r>
            <a:r>
              <a:rPr lang="en-US" altLang="en-US" sz="2800" dirty="0"/>
              <a:t> pages in memory</a:t>
            </a:r>
          </a:p>
          <a:p>
            <a:pPr lvl="1" indent="-285750" algn="just">
              <a:buFont typeface="Wingdings" panose="05000000000000000000" pitchFamily="2" charset="2"/>
              <a:buChar char="ü"/>
            </a:pPr>
            <a:r>
              <a:rPr lang="en-US" altLang="en-US" sz="2800" dirty="0"/>
              <a:t>OS sets instruction pointer to first instruction of process, non-memory-resident -&gt; page fault</a:t>
            </a:r>
          </a:p>
          <a:p>
            <a:pPr lvl="1" indent="-285750" algn="just">
              <a:buFont typeface="Wingdings" panose="05000000000000000000" pitchFamily="2" charset="2"/>
              <a:buChar char="ü"/>
            </a:pPr>
            <a:r>
              <a:rPr lang="en-US" altLang="en-US" sz="2800" dirty="0"/>
              <a:t>And for every other process pages on first access</a:t>
            </a:r>
            <a:endParaRPr lang="en-US" altLang="en-US" sz="2800" b="1" dirty="0">
              <a:latin typeface="+mj-lt"/>
            </a:endParaRPr>
          </a:p>
          <a:p>
            <a:pPr algn="just"/>
            <a:r>
              <a:rPr lang="en-US" altLang="en-US" sz="2800" dirty="0"/>
              <a:t>Hardware support needed for demand paging</a:t>
            </a:r>
          </a:p>
          <a:p>
            <a:pPr lvl="1" indent="-285750" algn="just">
              <a:buFont typeface="Wingdings" panose="05000000000000000000" pitchFamily="2" charset="2"/>
              <a:buChar char="ü"/>
            </a:pPr>
            <a:r>
              <a:rPr lang="en-US" altLang="en-US" sz="2800" dirty="0"/>
              <a:t>Page table with valid / invalid bit</a:t>
            </a:r>
          </a:p>
          <a:p>
            <a:pPr lvl="1" indent="-285750" algn="just">
              <a:buFont typeface="Wingdings" panose="05000000000000000000" pitchFamily="2" charset="2"/>
              <a:buChar char="ü"/>
            </a:pPr>
            <a:r>
              <a:rPr lang="en-US" altLang="en-US" sz="2800" dirty="0"/>
              <a:t>Secondary memory (swap device with </a:t>
            </a:r>
            <a:r>
              <a:rPr lang="en-US" altLang="en-US" sz="2800" b="1" dirty="0">
                <a:latin typeface="+mj-lt"/>
              </a:rPr>
              <a:t>swap space</a:t>
            </a:r>
            <a:r>
              <a:rPr lang="en-US" altLang="en-US" sz="2800" dirty="0"/>
              <a:t>)</a:t>
            </a:r>
          </a:p>
          <a:p>
            <a:pPr lvl="1" indent="-285750" algn="just">
              <a:buFont typeface="Wingdings" panose="05000000000000000000" pitchFamily="2" charset="2"/>
              <a:buChar char="ü"/>
            </a:pPr>
            <a:r>
              <a:rPr lang="en-US" altLang="en-US" sz="2800" dirty="0"/>
              <a:t>Instruction restart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43106162-FA5D-4204-BC6B-FC492CAB83B5}"/>
              </a:ext>
            </a:extLst>
          </p:cNvPr>
          <p:cNvSpPr>
            <a:spLocks noGrp="1" noChangeArrowheads="1"/>
          </p:cNvSpPr>
          <p:nvPr>
            <p:ph type="title"/>
          </p:nvPr>
        </p:nvSpPr>
        <p:spPr>
          <a:xfrm>
            <a:off x="200026" y="118035"/>
            <a:ext cx="8765262" cy="576263"/>
          </a:xfrm>
        </p:spPr>
        <p:txBody>
          <a:bodyPr>
            <a:noAutofit/>
          </a:bodyPr>
          <a:lstStyle/>
          <a:p>
            <a:pPr algn="ctr" eaLnBrk="1" hangingPunct="1"/>
            <a:r>
              <a:rPr lang="en-US" altLang="en-US" sz="4000" dirty="0"/>
              <a:t>Stages in Demand Paging – Worse Case</a:t>
            </a:r>
          </a:p>
        </p:txBody>
      </p:sp>
      <p:sp>
        <p:nvSpPr>
          <p:cNvPr id="23555" name="Rectangle 3">
            <a:extLst>
              <a:ext uri="{FF2B5EF4-FFF2-40B4-BE49-F238E27FC236}">
                <a16:creationId xmlns:a16="http://schemas.microsoft.com/office/drawing/2014/main" id="{D59FD618-6420-46F8-ADA3-3B84918F6C03}"/>
              </a:ext>
            </a:extLst>
          </p:cNvPr>
          <p:cNvSpPr>
            <a:spLocks noGrp="1" noChangeArrowheads="1"/>
          </p:cNvSpPr>
          <p:nvPr>
            <p:ph idx="1"/>
          </p:nvPr>
        </p:nvSpPr>
        <p:spPr>
          <a:xfrm>
            <a:off x="614363" y="800100"/>
            <a:ext cx="7915275" cy="5134990"/>
          </a:xfrm>
        </p:spPr>
        <p:txBody>
          <a:bodyPr>
            <a:noAutofit/>
          </a:bodyPr>
          <a:lstStyle/>
          <a:p>
            <a:pPr marL="400050" indent="-400050" algn="just">
              <a:buFont typeface="Arial" panose="020B0604020202020204" pitchFamily="34" charset="0"/>
              <a:buAutoNum type="arabicPeriod"/>
              <a:tabLst>
                <a:tab pos="2163763" algn="l"/>
                <a:tab pos="2855913" algn="l"/>
              </a:tabLst>
            </a:pPr>
            <a:r>
              <a:rPr lang="en-US" altLang="en-US" sz="2800" dirty="0"/>
              <a:t>Trap to the operating system</a:t>
            </a:r>
          </a:p>
          <a:p>
            <a:pPr marL="400050" indent="-400050" algn="just">
              <a:buFont typeface="Arial" panose="020B0604020202020204" pitchFamily="34" charset="0"/>
              <a:buAutoNum type="arabicPeriod"/>
              <a:tabLst>
                <a:tab pos="2163763" algn="l"/>
                <a:tab pos="2855913" algn="l"/>
              </a:tabLst>
            </a:pPr>
            <a:r>
              <a:rPr lang="en-US" altLang="en-US" sz="2800" dirty="0"/>
              <a:t>Save the user registers and process state</a:t>
            </a:r>
          </a:p>
          <a:p>
            <a:pPr marL="400050" indent="-400050" algn="just">
              <a:buFont typeface="Arial" panose="020B0604020202020204" pitchFamily="34" charset="0"/>
              <a:buAutoNum type="arabicPeriod"/>
              <a:tabLst>
                <a:tab pos="2163763" algn="l"/>
                <a:tab pos="2855913" algn="l"/>
              </a:tabLst>
            </a:pPr>
            <a:r>
              <a:rPr lang="en-US" altLang="en-US" sz="2800" dirty="0"/>
              <a:t>Determine that the interrupt was a page fault</a:t>
            </a:r>
          </a:p>
          <a:p>
            <a:pPr marL="400050" indent="-400050" algn="just">
              <a:buFont typeface="Arial" panose="020B0604020202020204" pitchFamily="34" charset="0"/>
              <a:buAutoNum type="arabicPeriod"/>
              <a:tabLst>
                <a:tab pos="2163763" algn="l"/>
                <a:tab pos="2855913" algn="l"/>
              </a:tabLst>
            </a:pPr>
            <a:r>
              <a:rPr lang="en-US" altLang="en-US" sz="2800" dirty="0"/>
              <a:t>Check that the page reference was legal and determine the location of the page on the disk</a:t>
            </a:r>
          </a:p>
          <a:p>
            <a:pPr marL="400050" indent="-400050" algn="just">
              <a:buFont typeface="Arial" panose="020B0604020202020204" pitchFamily="34" charset="0"/>
              <a:buAutoNum type="arabicPeriod"/>
              <a:tabLst>
                <a:tab pos="2163763" algn="l"/>
                <a:tab pos="2855913" algn="l"/>
              </a:tabLst>
            </a:pPr>
            <a:r>
              <a:rPr lang="en-US" altLang="en-US" sz="2800" dirty="0"/>
              <a:t>Issue a read from the disk to a free frame:</a:t>
            </a:r>
          </a:p>
          <a:p>
            <a:pPr marL="800100" lvl="1" indent="-342900" algn="just">
              <a:buFont typeface="+mj-lt"/>
              <a:buAutoNum type="alphaLcParenR"/>
              <a:tabLst>
                <a:tab pos="2163763" algn="l"/>
                <a:tab pos="2855913" algn="l"/>
              </a:tabLst>
            </a:pPr>
            <a:r>
              <a:rPr lang="en-US" altLang="en-US" sz="2800" dirty="0"/>
              <a:t>Wait in a queue for this device until the read request is serviced</a:t>
            </a:r>
          </a:p>
          <a:p>
            <a:pPr marL="798513" lvl="1" indent="-341313" algn="just">
              <a:buFont typeface="Arial" panose="020B0604020202020204" pitchFamily="34" charset="0"/>
              <a:buAutoNum type="alphaLcParenR"/>
              <a:tabLst>
                <a:tab pos="2163763" algn="l"/>
                <a:tab pos="2855913" algn="l"/>
              </a:tabLst>
            </a:pPr>
            <a:r>
              <a:rPr lang="en-US" altLang="en-US" sz="2800" dirty="0"/>
              <a:t>Wait for the device seek and/or latency time</a:t>
            </a:r>
          </a:p>
          <a:p>
            <a:pPr marL="798513" lvl="1" indent="-341313" algn="just">
              <a:buFont typeface="Arial" panose="020B0604020202020204" pitchFamily="34" charset="0"/>
              <a:buAutoNum type="alphaLcParenR"/>
              <a:tabLst>
                <a:tab pos="2163763" algn="l"/>
                <a:tab pos="2855913" algn="l"/>
              </a:tabLst>
            </a:pPr>
            <a:r>
              <a:rPr lang="en-US" altLang="en-US" sz="2800" dirty="0"/>
              <a:t>Begin the transfer of the page to a free frame</a:t>
            </a:r>
          </a:p>
          <a:p>
            <a:pPr algn="just">
              <a:tabLst>
                <a:tab pos="2163763" algn="l"/>
                <a:tab pos="2855913" algn="l"/>
              </a:tabLst>
            </a:pPr>
            <a:endParaRPr lang="en-US" altLang="en-US" sz="2800" dirty="0">
              <a:sym typeface="Symbol" panose="05050102010706020507" pitchFamily="18" charset="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004CF6A9-3B99-4D5B-BF8C-4531B091334A}"/>
              </a:ext>
            </a:extLst>
          </p:cNvPr>
          <p:cNvSpPr>
            <a:spLocks noGrp="1" noChangeArrowheads="1"/>
          </p:cNvSpPr>
          <p:nvPr>
            <p:ph idx="1"/>
          </p:nvPr>
        </p:nvSpPr>
        <p:spPr>
          <a:xfrm>
            <a:off x="700088" y="722874"/>
            <a:ext cx="7986712" cy="5906527"/>
          </a:xfrm>
        </p:spPr>
        <p:txBody>
          <a:bodyPr>
            <a:noAutofit/>
          </a:bodyPr>
          <a:lstStyle/>
          <a:p>
            <a:pPr marL="342900" indent="-342900" algn="just">
              <a:buFont typeface="Monotype Sorts" pitchFamily="-84" charset="2"/>
              <a:buAutoNum type="arabicPeriod" startAt="6"/>
              <a:tabLst>
                <a:tab pos="2163763" algn="l"/>
                <a:tab pos="2855913" algn="l"/>
              </a:tabLst>
            </a:pPr>
            <a:r>
              <a:rPr lang="en-US" altLang="en-US" sz="2800" dirty="0"/>
              <a:t>While waiting, allocate the CPU to some other user</a:t>
            </a:r>
          </a:p>
          <a:p>
            <a:pPr marL="342900" indent="-342900" algn="just">
              <a:buFont typeface="Monotype Sorts" pitchFamily="-84" charset="2"/>
              <a:buAutoNum type="arabicPeriod" startAt="6"/>
              <a:tabLst>
                <a:tab pos="2163763" algn="l"/>
                <a:tab pos="2855913" algn="l"/>
              </a:tabLst>
            </a:pPr>
            <a:r>
              <a:rPr lang="en-US" altLang="en-US" sz="2800" dirty="0"/>
              <a:t>Receive an interrupt from the disk I/O subsystem (I/O         completed)</a:t>
            </a:r>
          </a:p>
          <a:p>
            <a:pPr marL="342900" indent="-342900" algn="just">
              <a:buFont typeface="Monotype Sorts" pitchFamily="-84" charset="2"/>
              <a:buAutoNum type="arabicPeriod" startAt="6"/>
              <a:tabLst>
                <a:tab pos="2163763" algn="l"/>
                <a:tab pos="2855913" algn="l"/>
              </a:tabLst>
            </a:pPr>
            <a:r>
              <a:rPr lang="en-US" altLang="en-US" sz="2800" dirty="0"/>
              <a:t>Save the registers and process state for the other user</a:t>
            </a:r>
          </a:p>
          <a:p>
            <a:pPr marL="342900" indent="-342900" algn="just">
              <a:buFont typeface="Monotype Sorts" pitchFamily="-84" charset="2"/>
              <a:buAutoNum type="arabicPeriod" startAt="6"/>
              <a:tabLst>
                <a:tab pos="2163763" algn="l"/>
                <a:tab pos="2855913" algn="l"/>
              </a:tabLst>
            </a:pPr>
            <a:r>
              <a:rPr lang="en-US" altLang="en-US" sz="2800" dirty="0"/>
              <a:t>Determine that the interrupt was from the disk</a:t>
            </a:r>
          </a:p>
          <a:p>
            <a:pPr marL="342900" indent="-342900" algn="just">
              <a:buFont typeface="Monotype Sorts" pitchFamily="-84" charset="2"/>
              <a:buAutoNum type="arabicPeriod" startAt="6"/>
              <a:tabLst>
                <a:tab pos="2163763" algn="l"/>
                <a:tab pos="2855913" algn="l"/>
              </a:tabLst>
            </a:pPr>
            <a:r>
              <a:rPr lang="en-US" altLang="en-US" sz="2800" dirty="0"/>
              <a:t> Correct the page table and other tables to show page is now in memory</a:t>
            </a:r>
          </a:p>
          <a:p>
            <a:pPr marL="342900" indent="-342900" algn="just">
              <a:buFont typeface="Monotype Sorts" pitchFamily="-84" charset="2"/>
              <a:buAutoNum type="arabicPeriod" startAt="6"/>
              <a:tabLst>
                <a:tab pos="2163763" algn="l"/>
                <a:tab pos="2855913" algn="l"/>
              </a:tabLst>
            </a:pPr>
            <a:r>
              <a:rPr lang="en-US" altLang="en-US" sz="2800" dirty="0"/>
              <a:t> Wait for the CPU to be allocated to this process again</a:t>
            </a:r>
          </a:p>
          <a:p>
            <a:pPr marL="342900" indent="-342900" algn="just">
              <a:buFont typeface="Monotype Sorts" pitchFamily="-84" charset="2"/>
              <a:buAutoNum type="arabicPeriod" startAt="6"/>
              <a:tabLst>
                <a:tab pos="2163763" algn="l"/>
                <a:tab pos="2855913" algn="l"/>
              </a:tabLst>
            </a:pPr>
            <a:r>
              <a:rPr lang="en-US" altLang="en-US" sz="2800" dirty="0"/>
              <a:t> Restore the user registers, process state, and new page table, and then resume the interrupted instruction.</a:t>
            </a:r>
            <a:endParaRPr lang="en-US" altLang="en-US" sz="2800" dirty="0">
              <a:sym typeface="Symbol" panose="05050102010706020507" pitchFamily="18" charset="2"/>
            </a:endParaRPr>
          </a:p>
        </p:txBody>
      </p:sp>
      <p:sp>
        <p:nvSpPr>
          <p:cNvPr id="5" name="Rectangle 2">
            <a:extLst>
              <a:ext uri="{FF2B5EF4-FFF2-40B4-BE49-F238E27FC236}">
                <a16:creationId xmlns:a16="http://schemas.microsoft.com/office/drawing/2014/main" id="{43106162-FA5D-4204-BC6B-FC492CAB83B5}"/>
              </a:ext>
            </a:extLst>
          </p:cNvPr>
          <p:cNvSpPr>
            <a:spLocks noGrp="1" noChangeArrowheads="1"/>
          </p:cNvSpPr>
          <p:nvPr>
            <p:ph type="title"/>
          </p:nvPr>
        </p:nvSpPr>
        <p:spPr>
          <a:xfrm>
            <a:off x="200026" y="118035"/>
            <a:ext cx="8765262" cy="576263"/>
          </a:xfrm>
        </p:spPr>
        <p:txBody>
          <a:bodyPr>
            <a:noAutofit/>
          </a:bodyPr>
          <a:lstStyle/>
          <a:p>
            <a:pPr algn="ctr" eaLnBrk="1" hangingPunct="1"/>
            <a:r>
              <a:rPr lang="en-US" altLang="en-US" sz="4000" dirty="0"/>
              <a:t>Stages in Demand Paging – Worse Case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49FB98C-679E-4682-BAE7-A7064CABE0A6}"/>
              </a:ext>
            </a:extLst>
          </p:cNvPr>
          <p:cNvSpPr>
            <a:spLocks noGrp="1" noChangeArrowheads="1"/>
          </p:cNvSpPr>
          <p:nvPr>
            <p:ph type="title"/>
          </p:nvPr>
        </p:nvSpPr>
        <p:spPr>
          <a:xfrm>
            <a:off x="849086" y="120792"/>
            <a:ext cx="7647312" cy="595015"/>
          </a:xfrm>
        </p:spPr>
        <p:txBody>
          <a:bodyPr>
            <a:noAutofit/>
          </a:bodyPr>
          <a:lstStyle/>
          <a:p>
            <a:pPr algn="ctr" eaLnBrk="1" hangingPunct="1"/>
            <a:r>
              <a:rPr lang="en-US" altLang="en-US" sz="4000" dirty="0"/>
              <a:t>Performance of Demand Paging</a:t>
            </a:r>
          </a:p>
        </p:txBody>
      </p:sp>
      <p:sp>
        <p:nvSpPr>
          <p:cNvPr id="25603" name="Rectangle 3">
            <a:extLst>
              <a:ext uri="{FF2B5EF4-FFF2-40B4-BE49-F238E27FC236}">
                <a16:creationId xmlns:a16="http://schemas.microsoft.com/office/drawing/2014/main" id="{BF03B7D4-70F1-48B6-8A00-4D9695B10502}"/>
              </a:ext>
            </a:extLst>
          </p:cNvPr>
          <p:cNvSpPr>
            <a:spLocks noGrp="1" noChangeArrowheads="1"/>
          </p:cNvSpPr>
          <p:nvPr>
            <p:ph idx="1"/>
          </p:nvPr>
        </p:nvSpPr>
        <p:spPr>
          <a:xfrm>
            <a:off x="571504" y="715807"/>
            <a:ext cx="8039198" cy="5885018"/>
          </a:xfrm>
        </p:spPr>
        <p:txBody>
          <a:bodyPr>
            <a:noAutofit/>
          </a:bodyPr>
          <a:lstStyle/>
          <a:p>
            <a:pPr algn="just">
              <a:tabLst>
                <a:tab pos="2163763" algn="l"/>
                <a:tab pos="2855913" algn="l"/>
              </a:tabLst>
            </a:pPr>
            <a:r>
              <a:rPr lang="en-US" altLang="en-US" sz="2800" dirty="0"/>
              <a:t>Three major activities</a:t>
            </a:r>
          </a:p>
          <a:p>
            <a:pPr lvl="1" algn="just">
              <a:tabLst>
                <a:tab pos="2163763" algn="l"/>
                <a:tab pos="2855913" algn="l"/>
              </a:tabLst>
            </a:pPr>
            <a:r>
              <a:rPr lang="en-US" altLang="en-US" sz="2400" dirty="0"/>
              <a:t>Service the interrupt – careful coding means just several hundred instructions needed.</a:t>
            </a:r>
          </a:p>
          <a:p>
            <a:pPr lvl="1" algn="just">
              <a:tabLst>
                <a:tab pos="2163763" algn="l"/>
                <a:tab pos="2855913" algn="l"/>
              </a:tabLst>
            </a:pPr>
            <a:r>
              <a:rPr lang="en-US" altLang="en-US" sz="2400" dirty="0"/>
              <a:t>Input the page from disk – lots of time.</a:t>
            </a:r>
          </a:p>
          <a:p>
            <a:pPr lvl="1" algn="just">
              <a:tabLst>
                <a:tab pos="2163763" algn="l"/>
                <a:tab pos="2855913" algn="l"/>
              </a:tabLst>
            </a:pPr>
            <a:r>
              <a:rPr lang="en-US" altLang="en-US" sz="2400" dirty="0"/>
              <a:t>Restart the process – again just a small amount of time.</a:t>
            </a:r>
          </a:p>
          <a:p>
            <a:pPr algn="just">
              <a:tabLst>
                <a:tab pos="2163763" algn="l"/>
                <a:tab pos="2855913" algn="l"/>
              </a:tabLst>
            </a:pPr>
            <a:r>
              <a:rPr lang="en-US" altLang="en-US" sz="2800" dirty="0"/>
              <a:t>Page Fault Rate 0 </a:t>
            </a:r>
            <a:r>
              <a:rPr lang="en-US" altLang="en-US" sz="2800" dirty="0">
                <a:sym typeface="Symbol" panose="05050102010706020507" pitchFamily="18" charset="2"/>
              </a:rPr>
              <a:t> </a:t>
            </a:r>
            <a:r>
              <a:rPr lang="en-US" altLang="en-US" sz="2800" i="1" dirty="0">
                <a:sym typeface="Symbol" panose="05050102010706020507" pitchFamily="18" charset="2"/>
              </a:rPr>
              <a:t>p</a:t>
            </a:r>
            <a:r>
              <a:rPr lang="en-US" altLang="en-US" sz="2800" dirty="0">
                <a:sym typeface="Symbol" panose="05050102010706020507" pitchFamily="18" charset="2"/>
              </a:rPr>
              <a:t>  1</a:t>
            </a:r>
          </a:p>
          <a:p>
            <a:pPr lvl="1" algn="just">
              <a:tabLst>
                <a:tab pos="2163763" algn="l"/>
                <a:tab pos="2855913" algn="l"/>
              </a:tabLst>
            </a:pPr>
            <a:r>
              <a:rPr lang="en-US" altLang="en-US" sz="2400" dirty="0">
                <a:sym typeface="Symbol" panose="05050102010706020507" pitchFamily="18" charset="2"/>
              </a:rPr>
              <a:t>if </a:t>
            </a:r>
            <a:r>
              <a:rPr lang="en-US" altLang="en-US" sz="2400" i="1" dirty="0">
                <a:sym typeface="Symbol" panose="05050102010706020507" pitchFamily="18" charset="2"/>
              </a:rPr>
              <a:t>p</a:t>
            </a:r>
            <a:r>
              <a:rPr lang="en-US" altLang="en-US" sz="2400" dirty="0">
                <a:sym typeface="Symbol" panose="05050102010706020507" pitchFamily="18" charset="2"/>
              </a:rPr>
              <a:t> = 0 no page faults </a:t>
            </a:r>
          </a:p>
          <a:p>
            <a:pPr lvl="1" algn="just">
              <a:tabLst>
                <a:tab pos="2163763" algn="l"/>
                <a:tab pos="2855913" algn="l"/>
              </a:tabLst>
            </a:pPr>
            <a:r>
              <a:rPr lang="en-US" altLang="en-US" sz="2400" dirty="0">
                <a:sym typeface="Symbol" panose="05050102010706020507" pitchFamily="18" charset="2"/>
              </a:rPr>
              <a:t>if </a:t>
            </a:r>
            <a:r>
              <a:rPr lang="en-US" altLang="en-US" sz="2400" i="1" dirty="0">
                <a:sym typeface="Symbol" panose="05050102010706020507" pitchFamily="18" charset="2"/>
              </a:rPr>
              <a:t>p</a:t>
            </a:r>
            <a:r>
              <a:rPr lang="en-US" altLang="en-US" sz="2400" dirty="0">
                <a:sym typeface="Symbol" panose="05050102010706020507" pitchFamily="18" charset="2"/>
              </a:rPr>
              <a:t> = 1, every reference is a fault</a:t>
            </a:r>
          </a:p>
          <a:p>
            <a:pPr algn="just">
              <a:tabLst>
                <a:tab pos="2163763" algn="l"/>
                <a:tab pos="2855913" algn="l"/>
              </a:tabLst>
            </a:pPr>
            <a:r>
              <a:rPr lang="en-US" altLang="en-US" sz="2800" dirty="0">
                <a:sym typeface="Symbol" panose="05050102010706020507" pitchFamily="18" charset="2"/>
              </a:rPr>
              <a:t>Effective Access Time (EAT)</a:t>
            </a:r>
          </a:p>
          <a:p>
            <a:pPr algn="just">
              <a:buFont typeface="Monotype Sorts" pitchFamily="-84" charset="2"/>
              <a:buNone/>
              <a:tabLst>
                <a:tab pos="2163763" algn="l"/>
                <a:tab pos="2855913" algn="l"/>
              </a:tabLst>
            </a:pPr>
            <a:r>
              <a:rPr lang="en-US" altLang="en-US" sz="2800" dirty="0">
                <a:sym typeface="Symbol" panose="05050102010706020507" pitchFamily="18" charset="2"/>
              </a:rPr>
              <a:t>	      EAT = (1 – </a:t>
            </a:r>
            <a:r>
              <a:rPr lang="en-US" altLang="en-US" sz="2800" i="1" dirty="0">
                <a:sym typeface="Symbol" panose="05050102010706020507" pitchFamily="18" charset="2"/>
              </a:rPr>
              <a:t>p</a:t>
            </a:r>
            <a:r>
              <a:rPr lang="en-US" altLang="en-US" sz="2800" dirty="0">
                <a:sym typeface="Symbol" panose="05050102010706020507" pitchFamily="18" charset="2"/>
              </a:rPr>
              <a:t>) x memory access</a:t>
            </a:r>
          </a:p>
          <a:p>
            <a:pPr algn="just">
              <a:buFont typeface="Monotype Sorts" pitchFamily="-84" charset="2"/>
              <a:buNone/>
              <a:tabLst>
                <a:tab pos="2163763" algn="l"/>
                <a:tab pos="2855913" algn="l"/>
              </a:tabLst>
            </a:pPr>
            <a:r>
              <a:rPr lang="en-US" altLang="en-US" sz="2800" dirty="0">
                <a:sym typeface="Symbol" panose="05050102010706020507" pitchFamily="18" charset="2"/>
              </a:rPr>
              <a:t>                       	+ </a:t>
            </a:r>
            <a:r>
              <a:rPr lang="en-US" altLang="en-US" sz="2800" i="1" dirty="0">
                <a:sym typeface="Symbol" panose="05050102010706020507" pitchFamily="18" charset="2"/>
              </a:rPr>
              <a:t>p </a:t>
            </a:r>
            <a:r>
              <a:rPr lang="en-US" altLang="en-US" sz="2800" dirty="0">
                <a:sym typeface="Symbol" panose="05050102010706020507" pitchFamily="18" charset="2"/>
              </a:rPr>
              <a:t>x (page fault overhead</a:t>
            </a:r>
          </a:p>
          <a:p>
            <a:pPr algn="just">
              <a:buFont typeface="Monotype Sorts" pitchFamily="-84" charset="2"/>
              <a:buNone/>
              <a:tabLst>
                <a:tab pos="2163763" algn="l"/>
                <a:tab pos="2855913" algn="l"/>
              </a:tabLst>
            </a:pPr>
            <a:r>
              <a:rPr lang="en-US" altLang="en-US" sz="2800" dirty="0">
                <a:sym typeface="Symbol" panose="05050102010706020507" pitchFamily="18" charset="2"/>
              </a:rPr>
              <a:t>	                 	+ swap page out</a:t>
            </a:r>
          </a:p>
          <a:p>
            <a:pPr algn="just">
              <a:buFont typeface="Monotype Sorts" pitchFamily="-84" charset="2"/>
              <a:buNone/>
              <a:tabLst>
                <a:tab pos="2163763" algn="l"/>
                <a:tab pos="2855913" algn="l"/>
              </a:tabLst>
            </a:pPr>
            <a:r>
              <a:rPr lang="en-US" altLang="en-US" sz="2800" dirty="0">
                <a:sym typeface="Symbol" panose="05050102010706020507" pitchFamily="18" charset="2"/>
              </a:rPr>
              <a:t>	                 	+ swap page in )</a:t>
            </a:r>
          </a:p>
          <a:p>
            <a:pPr algn="just">
              <a:buFont typeface="Monotype Sorts" pitchFamily="-84" charset="2"/>
              <a:buNone/>
              <a:tabLst>
                <a:tab pos="2163763" algn="l"/>
                <a:tab pos="2855913" algn="l"/>
              </a:tabLst>
            </a:pPr>
            <a:r>
              <a:rPr lang="en-US" altLang="en-US" sz="2800" dirty="0">
                <a:sym typeface="Symbol" panose="05050102010706020507" pitchFamily="18" charset="2"/>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0E62A0B-D955-48F0-A13C-C90B2C1490E9}"/>
              </a:ext>
            </a:extLst>
          </p:cNvPr>
          <p:cNvSpPr>
            <a:spLocks noGrp="1" noChangeArrowheads="1"/>
          </p:cNvSpPr>
          <p:nvPr>
            <p:ph type="title"/>
          </p:nvPr>
        </p:nvSpPr>
        <p:spPr>
          <a:xfrm>
            <a:off x="738509" y="4130"/>
            <a:ext cx="7751762" cy="576262"/>
          </a:xfrm>
        </p:spPr>
        <p:txBody>
          <a:bodyPr>
            <a:noAutofit/>
          </a:bodyPr>
          <a:lstStyle/>
          <a:p>
            <a:pPr algn="ctr" eaLnBrk="1" hangingPunct="1"/>
            <a:r>
              <a:rPr lang="en-US" altLang="en-US" sz="4000" dirty="0"/>
              <a:t>Demand Paging Example</a:t>
            </a:r>
          </a:p>
        </p:txBody>
      </p:sp>
      <p:sp>
        <p:nvSpPr>
          <p:cNvPr id="26627" name="Rectangle 3">
            <a:extLst>
              <a:ext uri="{FF2B5EF4-FFF2-40B4-BE49-F238E27FC236}">
                <a16:creationId xmlns:a16="http://schemas.microsoft.com/office/drawing/2014/main" id="{C8756104-BFEE-4B66-8D8E-DC274456D3B8}"/>
              </a:ext>
            </a:extLst>
          </p:cNvPr>
          <p:cNvSpPr>
            <a:spLocks noGrp="1" noChangeArrowheads="1"/>
          </p:cNvSpPr>
          <p:nvPr>
            <p:ph idx="1"/>
          </p:nvPr>
        </p:nvSpPr>
        <p:spPr>
          <a:xfrm>
            <a:off x="414338" y="457200"/>
            <a:ext cx="8429625" cy="6286500"/>
          </a:xfrm>
        </p:spPr>
        <p:txBody>
          <a:bodyPr>
            <a:noAutofit/>
          </a:bodyPr>
          <a:lstStyle/>
          <a:p>
            <a:pPr algn="just">
              <a:tabLst>
                <a:tab pos="1773238" algn="l"/>
                <a:tab pos="2278063" algn="l"/>
              </a:tabLst>
            </a:pPr>
            <a:r>
              <a:rPr lang="en-US" altLang="en-US" sz="2800" dirty="0"/>
              <a:t>Memory access time = 200 nanoseconds</a:t>
            </a:r>
          </a:p>
          <a:p>
            <a:pPr algn="just">
              <a:tabLst>
                <a:tab pos="1773238" algn="l"/>
                <a:tab pos="2278063" algn="l"/>
              </a:tabLst>
            </a:pPr>
            <a:r>
              <a:rPr lang="en-US" altLang="en-US" sz="2800" dirty="0"/>
              <a:t>Average page-fault service time = 8 milliseconds</a:t>
            </a:r>
          </a:p>
          <a:p>
            <a:pPr marL="0" indent="0" algn="just">
              <a:buNone/>
              <a:tabLst>
                <a:tab pos="1773238" algn="l"/>
                <a:tab pos="2278063" algn="l"/>
              </a:tabLst>
            </a:pPr>
            <a:r>
              <a:rPr lang="en-US" altLang="en-US" sz="2400" dirty="0"/>
              <a:t>	EAT = (1 – p) x 200 + p (8 milliseconds) </a:t>
            </a:r>
          </a:p>
          <a:p>
            <a:pPr algn="just">
              <a:buFont typeface="Monotype Sorts" pitchFamily="-84" charset="2"/>
              <a:buNone/>
              <a:tabLst>
                <a:tab pos="1773238" algn="l"/>
                <a:tab pos="2278063" algn="l"/>
              </a:tabLst>
            </a:pPr>
            <a:r>
              <a:rPr lang="en-US" altLang="en-US" sz="2400" dirty="0"/>
              <a:t>	        	= (1 – p) x 200 + p x 8,000,000 </a:t>
            </a:r>
          </a:p>
          <a:p>
            <a:pPr algn="just">
              <a:buFont typeface="Monotype Sorts" pitchFamily="-84" charset="2"/>
              <a:buNone/>
              <a:tabLst>
                <a:tab pos="1773238" algn="l"/>
                <a:tab pos="2278063" algn="l"/>
              </a:tabLst>
            </a:pPr>
            <a:r>
              <a:rPr lang="en-US" altLang="en-US" sz="2400" dirty="0"/>
              <a:t>              	= 200 + p x 7,999,800</a:t>
            </a:r>
          </a:p>
          <a:p>
            <a:pPr algn="just">
              <a:tabLst>
                <a:tab pos="1773238" algn="l"/>
                <a:tab pos="2278063" algn="l"/>
              </a:tabLst>
            </a:pPr>
            <a:r>
              <a:rPr lang="en-US" altLang="en-US" sz="2800" dirty="0"/>
              <a:t>The effective access time is directly proportional to the page-fault rate. If one access out of 1,000 causes a page fault, the effective access time is 8.2 microseconds.</a:t>
            </a:r>
          </a:p>
          <a:p>
            <a:pPr algn="just">
              <a:tabLst>
                <a:tab pos="1773238" algn="l"/>
                <a:tab pos="2278063" algn="l"/>
              </a:tabLst>
            </a:pPr>
            <a:r>
              <a:rPr lang="en-US" altLang="en-US" sz="2800" dirty="0"/>
              <a:t>This is a slowdown by a factor of 40</a:t>
            </a:r>
          </a:p>
          <a:p>
            <a:pPr algn="just">
              <a:tabLst>
                <a:tab pos="1773238" algn="l"/>
                <a:tab pos="2278063" algn="l"/>
              </a:tabLst>
            </a:pPr>
            <a:r>
              <a:rPr lang="en-US" altLang="en-US" sz="2800" dirty="0"/>
              <a:t>If we want performance degradation &lt; 10 percent,</a:t>
            </a:r>
          </a:p>
          <a:p>
            <a:pPr>
              <a:tabLst>
                <a:tab pos="1773238" algn="l"/>
                <a:tab pos="2278063" algn="l"/>
              </a:tabLst>
            </a:pPr>
            <a:r>
              <a:rPr lang="en-US" altLang="en-US" sz="2800" dirty="0"/>
              <a:t>Then, we need to keep the probability of page faults : 	</a:t>
            </a:r>
            <a:r>
              <a:rPr lang="en-US" altLang="en-US" sz="2400" dirty="0"/>
              <a:t>220 &gt; 200 + 7,999,800 x p</a:t>
            </a:r>
            <a:br>
              <a:rPr lang="en-US" altLang="en-US" sz="2400" dirty="0"/>
            </a:br>
            <a:r>
              <a:rPr lang="en-US" altLang="en-US" sz="2400" dirty="0"/>
              <a:t>	20 &gt; 7,999,800 x p</a:t>
            </a:r>
          </a:p>
          <a:p>
            <a:pPr marL="342900" lvl="1" indent="0">
              <a:buNone/>
              <a:tabLst>
                <a:tab pos="1773238" algn="l"/>
                <a:tab pos="2278063" algn="l"/>
              </a:tabLst>
            </a:pPr>
            <a:r>
              <a:rPr lang="en-US" altLang="en-US" sz="2400" dirty="0"/>
              <a:t>	p &lt; .0000025</a:t>
            </a:r>
          </a:p>
          <a:p>
            <a:pPr lvl="1">
              <a:tabLst>
                <a:tab pos="1773238" algn="l"/>
                <a:tab pos="2278063" algn="l"/>
              </a:tabLst>
            </a:pPr>
            <a:r>
              <a:rPr lang="en-US" altLang="en-US" sz="2400" dirty="0"/>
              <a:t>one page fault in every 400,000 memory accesses</a:t>
            </a:r>
            <a:endParaRPr lang="en-US"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B22C3E1-32B8-4B21-A8D6-B32484188E74}"/>
              </a:ext>
            </a:extLst>
          </p:cNvPr>
          <p:cNvSpPr>
            <a:spLocks noGrp="1"/>
          </p:cNvSpPr>
          <p:nvPr>
            <p:ph type="title"/>
          </p:nvPr>
        </p:nvSpPr>
        <p:spPr>
          <a:xfrm>
            <a:off x="585429" y="87488"/>
            <a:ext cx="8229600" cy="576262"/>
          </a:xfrm>
        </p:spPr>
        <p:txBody>
          <a:bodyPr>
            <a:noAutofit/>
          </a:bodyPr>
          <a:lstStyle/>
          <a:p>
            <a:pPr algn="ctr"/>
            <a:r>
              <a:rPr lang="en-US" altLang="en-US" sz="4000" dirty="0"/>
              <a:t>Demand Paging Optimizations</a:t>
            </a:r>
          </a:p>
        </p:txBody>
      </p:sp>
      <p:sp>
        <p:nvSpPr>
          <p:cNvPr id="27651" name="Content Placeholder 2">
            <a:extLst>
              <a:ext uri="{FF2B5EF4-FFF2-40B4-BE49-F238E27FC236}">
                <a16:creationId xmlns:a16="http://schemas.microsoft.com/office/drawing/2014/main" id="{8BEE743C-DD76-4F41-B07D-C4DE4208A223}"/>
              </a:ext>
            </a:extLst>
          </p:cNvPr>
          <p:cNvSpPr>
            <a:spLocks noGrp="1"/>
          </p:cNvSpPr>
          <p:nvPr>
            <p:ph idx="1"/>
          </p:nvPr>
        </p:nvSpPr>
        <p:spPr>
          <a:xfrm>
            <a:off x="585429" y="720902"/>
            <a:ext cx="8101371" cy="5979936"/>
          </a:xfrm>
        </p:spPr>
        <p:txBody>
          <a:bodyPr>
            <a:normAutofit/>
          </a:bodyPr>
          <a:lstStyle/>
          <a:p>
            <a:pPr algn="just"/>
            <a:r>
              <a:rPr lang="en-US" altLang="en-US" sz="2800" dirty="0"/>
              <a:t>It is important to keep the page-fault rate low in a demand-paging system. Otherwise, the effective access time increases, slowing process execution dramatically.</a:t>
            </a:r>
          </a:p>
          <a:p>
            <a:pPr algn="just"/>
            <a:r>
              <a:rPr lang="en-US" altLang="en-US" sz="2800" dirty="0"/>
              <a:t>One option for the system to gain better paging throughput is by copying an entire file image into the swap space at process startup and then performing demand paging from the swap space. </a:t>
            </a:r>
          </a:p>
          <a:p>
            <a:pPr algn="just"/>
            <a:r>
              <a:rPr lang="en-US" altLang="en-US" sz="2800" dirty="0"/>
              <a:t>During page replacement, swap out only modified pages. The unmodified pages are simply removed from the physical memory.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47214C7-1AE6-4D0E-9FB9-EBC768731FBD}"/>
              </a:ext>
            </a:extLst>
          </p:cNvPr>
          <p:cNvSpPr>
            <a:spLocks noGrp="1" noChangeArrowheads="1"/>
          </p:cNvSpPr>
          <p:nvPr>
            <p:ph type="title"/>
          </p:nvPr>
        </p:nvSpPr>
        <p:spPr>
          <a:xfrm>
            <a:off x="451686" y="103858"/>
            <a:ext cx="7861041" cy="576262"/>
          </a:xfrm>
        </p:spPr>
        <p:txBody>
          <a:bodyPr>
            <a:noAutofit/>
          </a:bodyPr>
          <a:lstStyle/>
          <a:p>
            <a:pPr algn="ctr"/>
            <a:r>
              <a:rPr lang="en-US" altLang="en-US" sz="3600" dirty="0"/>
              <a:t>Demand Paging Optimizations</a:t>
            </a:r>
          </a:p>
        </p:txBody>
      </p:sp>
      <p:sp>
        <p:nvSpPr>
          <p:cNvPr id="36867" name="Rectangle 3">
            <a:extLst>
              <a:ext uri="{FF2B5EF4-FFF2-40B4-BE49-F238E27FC236}">
                <a16:creationId xmlns:a16="http://schemas.microsoft.com/office/drawing/2014/main" id="{7C092E50-7A55-4657-89B6-77C0309E7E14}"/>
              </a:ext>
            </a:extLst>
          </p:cNvPr>
          <p:cNvSpPr>
            <a:spLocks noGrp="1" noChangeArrowheads="1"/>
          </p:cNvSpPr>
          <p:nvPr>
            <p:ph idx="1"/>
          </p:nvPr>
        </p:nvSpPr>
        <p:spPr>
          <a:xfrm>
            <a:off x="628650" y="680121"/>
            <a:ext cx="7929563" cy="5849268"/>
          </a:xfrm>
        </p:spPr>
        <p:txBody>
          <a:bodyPr>
            <a:noAutofit/>
          </a:bodyPr>
          <a:lstStyle/>
          <a:p>
            <a:pPr algn="just">
              <a:tabLst>
                <a:tab pos="3144838" algn="ctr"/>
              </a:tabLst>
            </a:pPr>
            <a:r>
              <a:rPr lang="en-US" altLang="en-US" sz="2800" dirty="0"/>
              <a:t>If no frames are free, two page transfers (one for the page-out and one for the page-in) are required. This situation effectively doubles the page-fault service time and increases the effective access time accordingly. </a:t>
            </a:r>
          </a:p>
          <a:p>
            <a:pPr algn="just">
              <a:tabLst>
                <a:tab pos="3144838" algn="ctr"/>
              </a:tabLst>
            </a:pPr>
            <a:r>
              <a:rPr lang="en-US" altLang="en-US" sz="2800" dirty="0"/>
              <a:t>We can reduce this overhead by using a </a:t>
            </a:r>
            <a:r>
              <a:rPr lang="en-US" altLang="en-US" sz="2800" b="1" dirty="0"/>
              <a:t>modify bit </a:t>
            </a:r>
            <a:r>
              <a:rPr lang="en-US" altLang="en-US" sz="2800" dirty="0"/>
              <a:t>(or dirty bit). </a:t>
            </a:r>
          </a:p>
          <a:p>
            <a:pPr algn="just">
              <a:tabLst>
                <a:tab pos="3144838" algn="ctr"/>
              </a:tabLst>
            </a:pPr>
            <a:r>
              <a:rPr lang="en-US" altLang="en-US" sz="2800" dirty="0"/>
              <a:t>When this scheme is used, each page or frame has a modify bit associated with it in the hardware. The modify bit for a page is set by the hardware whenever any byte in the page is written into, indicating that the page has been modified. When we select a page for replacement, we examine its modify bit. If the bit is set, </a:t>
            </a:r>
          </a:p>
        </p:txBody>
      </p:sp>
    </p:spTree>
    <p:extLst>
      <p:ext uri="{BB962C8B-B14F-4D97-AF65-F5344CB8AC3E}">
        <p14:creationId xmlns:p14="http://schemas.microsoft.com/office/powerpoint/2010/main" val="295600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47214C7-1AE6-4D0E-9FB9-EBC768731FBD}"/>
              </a:ext>
            </a:extLst>
          </p:cNvPr>
          <p:cNvSpPr>
            <a:spLocks noGrp="1" noChangeArrowheads="1"/>
          </p:cNvSpPr>
          <p:nvPr>
            <p:ph type="title"/>
          </p:nvPr>
        </p:nvSpPr>
        <p:spPr>
          <a:xfrm>
            <a:off x="451686" y="103858"/>
            <a:ext cx="7861041" cy="576262"/>
          </a:xfrm>
        </p:spPr>
        <p:txBody>
          <a:bodyPr>
            <a:noAutofit/>
          </a:bodyPr>
          <a:lstStyle/>
          <a:p>
            <a:pPr algn="ctr"/>
            <a:r>
              <a:rPr lang="en-US" altLang="en-US" sz="3600" dirty="0"/>
              <a:t>Demand Paging Optimizations</a:t>
            </a:r>
          </a:p>
        </p:txBody>
      </p:sp>
      <p:sp>
        <p:nvSpPr>
          <p:cNvPr id="36867" name="Rectangle 3">
            <a:extLst>
              <a:ext uri="{FF2B5EF4-FFF2-40B4-BE49-F238E27FC236}">
                <a16:creationId xmlns:a16="http://schemas.microsoft.com/office/drawing/2014/main" id="{7C092E50-7A55-4657-89B6-77C0309E7E14}"/>
              </a:ext>
            </a:extLst>
          </p:cNvPr>
          <p:cNvSpPr>
            <a:spLocks noGrp="1" noChangeArrowheads="1"/>
          </p:cNvSpPr>
          <p:nvPr>
            <p:ph idx="1"/>
          </p:nvPr>
        </p:nvSpPr>
        <p:spPr>
          <a:xfrm>
            <a:off x="628650" y="680121"/>
            <a:ext cx="7929563" cy="5849268"/>
          </a:xfrm>
        </p:spPr>
        <p:txBody>
          <a:bodyPr>
            <a:noAutofit/>
          </a:bodyPr>
          <a:lstStyle/>
          <a:p>
            <a:pPr algn="just">
              <a:tabLst>
                <a:tab pos="3144838" algn="ctr"/>
              </a:tabLst>
            </a:pPr>
            <a:r>
              <a:rPr lang="en-US" altLang="en-US" sz="2800" dirty="0"/>
              <a:t>We know that the page has been modified since it was read in from secondary storage. </a:t>
            </a:r>
          </a:p>
          <a:p>
            <a:pPr algn="just">
              <a:tabLst>
                <a:tab pos="3144838" algn="ctr"/>
              </a:tabLst>
            </a:pPr>
            <a:r>
              <a:rPr lang="en-US" altLang="en-US" sz="2800" dirty="0"/>
              <a:t>In this case, we must write the page to storage. If the modify bit is not set, however, the page has not been modified since it was read into memory. In this case, we need not write the memory page to storage: it is already there. </a:t>
            </a:r>
          </a:p>
          <a:p>
            <a:pPr algn="just">
              <a:tabLst>
                <a:tab pos="3144838" algn="ctr"/>
              </a:tabLst>
            </a:pPr>
            <a:r>
              <a:rPr lang="en-US" altLang="en-US" sz="2800" dirty="0"/>
              <a:t>This technique also applies to read-only pages. Such pages cannot be modified; thus, they may be discarded when desired.</a:t>
            </a:r>
          </a:p>
          <a:p>
            <a:pPr algn="just">
              <a:tabLst>
                <a:tab pos="3144838" algn="ctr"/>
              </a:tabLst>
            </a:pPr>
            <a:r>
              <a:rPr lang="en-US" altLang="en-US" sz="2800" dirty="0"/>
              <a:t>This scheme can significantly reduce the time required to service a page fault, since it reduces I/O time by </a:t>
            </a:r>
            <a:r>
              <a:rPr lang="en-US" altLang="en-US" sz="2800" b="1" dirty="0"/>
              <a:t>one-half</a:t>
            </a:r>
            <a:r>
              <a:rPr lang="en-US" altLang="en-US" sz="2800" dirty="0"/>
              <a:t> if the </a:t>
            </a:r>
            <a:r>
              <a:rPr lang="en-US" altLang="en-US" sz="2800" b="1" dirty="0"/>
              <a:t>page has not been modified</a:t>
            </a:r>
            <a:r>
              <a:rPr lang="en-US" altLang="en-US" sz="2800" dirty="0"/>
              <a:t>.</a:t>
            </a:r>
          </a:p>
        </p:txBody>
      </p:sp>
    </p:spTree>
    <p:extLst>
      <p:ext uri="{BB962C8B-B14F-4D97-AF65-F5344CB8AC3E}">
        <p14:creationId xmlns:p14="http://schemas.microsoft.com/office/powerpoint/2010/main" val="2204490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9B00CC0E-9E33-4072-9D8C-43E000475714}"/>
              </a:ext>
            </a:extLst>
          </p:cNvPr>
          <p:cNvSpPr>
            <a:spLocks noGrp="1" noChangeArrowheads="1"/>
          </p:cNvSpPr>
          <p:nvPr>
            <p:ph type="title"/>
          </p:nvPr>
        </p:nvSpPr>
        <p:spPr>
          <a:xfrm>
            <a:off x="831394" y="142875"/>
            <a:ext cx="7724775" cy="668955"/>
          </a:xfrm>
        </p:spPr>
        <p:txBody>
          <a:bodyPr>
            <a:noAutofit/>
          </a:bodyPr>
          <a:lstStyle/>
          <a:p>
            <a:pPr algn="ctr" eaLnBrk="1" hangingPunct="1"/>
            <a:r>
              <a:rPr lang="en-US" altLang="en-US" sz="4000" dirty="0"/>
              <a:t>Page Replacement</a:t>
            </a:r>
          </a:p>
        </p:txBody>
      </p:sp>
      <p:sp>
        <p:nvSpPr>
          <p:cNvPr id="32771" name="Rectangle 3">
            <a:extLst>
              <a:ext uri="{FF2B5EF4-FFF2-40B4-BE49-F238E27FC236}">
                <a16:creationId xmlns:a16="http://schemas.microsoft.com/office/drawing/2014/main" id="{55125108-1B16-48F4-B19C-7A4934EC1D7E}"/>
              </a:ext>
            </a:extLst>
          </p:cNvPr>
          <p:cNvSpPr>
            <a:spLocks noGrp="1" noChangeArrowheads="1"/>
          </p:cNvSpPr>
          <p:nvPr>
            <p:ph idx="1"/>
          </p:nvPr>
        </p:nvSpPr>
        <p:spPr>
          <a:xfrm>
            <a:off x="831394" y="811831"/>
            <a:ext cx="7724775" cy="5631832"/>
          </a:xfrm>
        </p:spPr>
        <p:txBody>
          <a:bodyPr>
            <a:normAutofit/>
          </a:bodyPr>
          <a:lstStyle/>
          <a:p>
            <a:pPr algn="just"/>
            <a:r>
              <a:rPr lang="en-US" altLang="en-US" sz="2800" dirty="0"/>
              <a:t>While a process is executing, a page fault occurs. The operating system determines where the desired page is residing on secondary storage but then finds that there are </a:t>
            </a:r>
            <a:r>
              <a:rPr lang="en-US" altLang="en-US" sz="2800" b="1" dirty="0"/>
              <a:t>no free frames </a:t>
            </a:r>
            <a:r>
              <a:rPr lang="en-US" altLang="en-US" sz="2800" dirty="0"/>
              <a:t>on the free-frame list; all memory is in use. </a:t>
            </a:r>
          </a:p>
          <a:p>
            <a:pPr algn="just"/>
            <a:r>
              <a:rPr lang="en-US" altLang="en-US" sz="2800" dirty="0"/>
              <a:t>If no frame is free, we find one that is not currently being used and free it. </a:t>
            </a:r>
          </a:p>
          <a:p>
            <a:pPr algn="just"/>
            <a:r>
              <a:rPr lang="en-US" altLang="en-US" sz="2800" dirty="0"/>
              <a:t>We can free a frame by writing its contents to swap space and changing the page table (and all other tables) to indicate that the page is no longer in memory. </a:t>
            </a:r>
          </a:p>
          <a:p>
            <a:pPr algn="just"/>
            <a:r>
              <a:rPr lang="en-US" altLang="en-US" sz="2800" dirty="0"/>
              <a:t>We can now use the freed frame to hold the page for which the process faulted.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60E5859-1ADF-409F-B8A3-01A46FD0EFA6}"/>
              </a:ext>
            </a:extLst>
          </p:cNvPr>
          <p:cNvSpPr>
            <a:spLocks noGrp="1" noChangeArrowheads="1"/>
          </p:cNvSpPr>
          <p:nvPr>
            <p:ph type="title"/>
          </p:nvPr>
        </p:nvSpPr>
        <p:spPr>
          <a:xfrm>
            <a:off x="779455" y="121264"/>
            <a:ext cx="7693025" cy="576262"/>
          </a:xfrm>
        </p:spPr>
        <p:txBody>
          <a:bodyPr>
            <a:noAutofit/>
          </a:bodyPr>
          <a:lstStyle/>
          <a:p>
            <a:pPr algn="ctr" eaLnBrk="1" hangingPunct="1"/>
            <a:r>
              <a:rPr lang="en-US" altLang="en-US" sz="4000" dirty="0"/>
              <a:t>Need For Page Replacement</a:t>
            </a:r>
          </a:p>
        </p:txBody>
      </p:sp>
      <p:pic>
        <p:nvPicPr>
          <p:cNvPr id="33795" name="Picture 4" descr="B:\os-book\os10-dir\Slides-WORK-area\Figures-dir\ch10\JPG-dir\10_09.jpg">
            <a:extLst>
              <a:ext uri="{FF2B5EF4-FFF2-40B4-BE49-F238E27FC236}">
                <a16:creationId xmlns:a16="http://schemas.microsoft.com/office/drawing/2014/main" id="{74BEFCE0-4636-4163-8B0B-DF7F5FF02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891" y="744309"/>
            <a:ext cx="8428675" cy="5485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A23D0E3-2B35-4747-8B9E-6B7BFD7D4063}"/>
              </a:ext>
            </a:extLst>
          </p:cNvPr>
          <p:cNvSpPr>
            <a:spLocks noGrp="1" noChangeArrowheads="1"/>
          </p:cNvSpPr>
          <p:nvPr>
            <p:ph type="title"/>
          </p:nvPr>
        </p:nvSpPr>
        <p:spPr>
          <a:xfrm>
            <a:off x="876844" y="95281"/>
            <a:ext cx="7607300" cy="576262"/>
          </a:xfrm>
        </p:spPr>
        <p:txBody>
          <a:bodyPr>
            <a:noAutofit/>
          </a:bodyPr>
          <a:lstStyle/>
          <a:p>
            <a:pPr algn="ctr" eaLnBrk="1" hangingPunct="1"/>
            <a:r>
              <a:rPr lang="en-US" altLang="en-US" sz="4000" dirty="0"/>
              <a:t>Basic Page Replacement</a:t>
            </a:r>
          </a:p>
        </p:txBody>
      </p:sp>
      <p:sp>
        <p:nvSpPr>
          <p:cNvPr id="34819" name="Rectangle 3">
            <a:extLst>
              <a:ext uri="{FF2B5EF4-FFF2-40B4-BE49-F238E27FC236}">
                <a16:creationId xmlns:a16="http://schemas.microsoft.com/office/drawing/2014/main" id="{36D9B5FA-26B2-48A5-8A7B-413D741468EE}"/>
              </a:ext>
            </a:extLst>
          </p:cNvPr>
          <p:cNvSpPr>
            <a:spLocks noGrp="1" noChangeArrowheads="1"/>
          </p:cNvSpPr>
          <p:nvPr>
            <p:ph idx="1"/>
          </p:nvPr>
        </p:nvSpPr>
        <p:spPr>
          <a:xfrm>
            <a:off x="657226" y="785812"/>
            <a:ext cx="7808490" cy="5729287"/>
          </a:xfrm>
        </p:spPr>
        <p:txBody>
          <a:bodyPr>
            <a:noAutofit/>
          </a:bodyPr>
          <a:lstStyle/>
          <a:p>
            <a:pPr marL="379413" indent="-379413">
              <a:buFont typeface="Monotype Sorts" pitchFamily="-84" charset="2"/>
              <a:buAutoNum type="arabicPeriod"/>
            </a:pPr>
            <a:r>
              <a:rPr lang="en-US" altLang="en-US" sz="2800" dirty="0"/>
              <a:t>Find the location of the desired page on disk</a:t>
            </a:r>
          </a:p>
          <a:p>
            <a:pPr marL="379413" indent="-379413">
              <a:buFont typeface="Monotype Sorts" pitchFamily="-84" charset="2"/>
              <a:buAutoNum type="arabicPeriod"/>
            </a:pPr>
            <a:r>
              <a:rPr lang="en-US" altLang="en-US" sz="2800" dirty="0"/>
              <a:t>Find a free frame:</a:t>
            </a:r>
            <a:br>
              <a:rPr lang="en-US" altLang="en-US" sz="2800" dirty="0"/>
            </a:br>
            <a:r>
              <a:rPr lang="en-US" altLang="en-US" sz="2800" dirty="0"/>
              <a:t>   -  If there is a free frame, use it</a:t>
            </a:r>
            <a:br>
              <a:rPr lang="en-US" altLang="en-US" sz="2800" dirty="0"/>
            </a:br>
            <a:r>
              <a:rPr lang="en-US" altLang="en-US" sz="2800" dirty="0"/>
              <a:t>   -  If there is no free frame, use a page replacement algorithm to select a </a:t>
            </a:r>
            <a:r>
              <a:rPr lang="en-US" altLang="en-US" sz="2800" b="1" dirty="0">
                <a:latin typeface="+mj-lt"/>
              </a:rPr>
              <a:t>victim</a:t>
            </a:r>
            <a:r>
              <a:rPr lang="en-US" altLang="en-US" sz="2800" dirty="0"/>
              <a:t> </a:t>
            </a:r>
            <a:r>
              <a:rPr lang="en-US" altLang="en-US" sz="2800" b="1" dirty="0">
                <a:latin typeface="+mj-lt"/>
              </a:rPr>
              <a:t>frame</a:t>
            </a:r>
            <a:br>
              <a:rPr lang="en-US" altLang="en-US" sz="2800" b="1" dirty="0"/>
            </a:br>
            <a:r>
              <a:rPr lang="en-US" altLang="en-US" sz="2800" b="1" dirty="0"/>
              <a:t>   </a:t>
            </a:r>
            <a:r>
              <a:rPr lang="en-US" altLang="en-US" sz="2800" dirty="0"/>
              <a:t>-</a:t>
            </a:r>
            <a:r>
              <a:rPr lang="en-US" altLang="en-US" sz="2800" b="1" dirty="0"/>
              <a:t>  </a:t>
            </a:r>
            <a:r>
              <a:rPr lang="en-US" altLang="en-US" sz="2800" dirty="0"/>
              <a:t>Write victim frame to disk if </a:t>
            </a:r>
            <a:r>
              <a:rPr lang="en-US" altLang="en-US" sz="2800" b="1" dirty="0"/>
              <a:t>dirty</a:t>
            </a:r>
          </a:p>
          <a:p>
            <a:pPr marL="379413" indent="-379413">
              <a:buFont typeface="Monotype Sorts" pitchFamily="-84" charset="2"/>
              <a:buAutoNum type="arabicPeriod"/>
            </a:pPr>
            <a:r>
              <a:rPr lang="en-US" altLang="en-US" sz="2800" dirty="0"/>
              <a:t>Bring  the desired page into the (newly) free frame; update the page and frame tables</a:t>
            </a:r>
          </a:p>
          <a:p>
            <a:pPr marL="379413" indent="-379413">
              <a:buFont typeface="Monotype Sorts" pitchFamily="-84" charset="2"/>
              <a:buAutoNum type="arabicPeriod"/>
            </a:pPr>
            <a:r>
              <a:rPr lang="en-US" altLang="en-US" sz="2800" dirty="0"/>
              <a:t>Continue the process by restarting the instruction that caused the trap</a:t>
            </a:r>
          </a:p>
          <a:p>
            <a:pPr marL="379413" indent="-379413">
              <a:buFont typeface="Monotype Sorts" pitchFamily="-84" charset="2"/>
              <a:buNone/>
            </a:pPr>
            <a:r>
              <a:rPr lang="en-US" altLang="en-US" sz="2800" dirty="0"/>
              <a:t> </a:t>
            </a:r>
          </a:p>
          <a:p>
            <a:pPr marL="379413" indent="-379413">
              <a:buFont typeface="Monotype Sorts" pitchFamily="-84" charset="2"/>
              <a:buNone/>
            </a:pPr>
            <a:r>
              <a:rPr lang="en-US" altLang="en-US" sz="2800" dirty="0"/>
              <a:t>Note now potentially 2 page transfers for page fault – increasing EAT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2C4BFB3-B09C-4707-8DF8-9335F3398BAF}"/>
              </a:ext>
            </a:extLst>
          </p:cNvPr>
          <p:cNvSpPr>
            <a:spLocks noGrp="1" noChangeArrowheads="1"/>
          </p:cNvSpPr>
          <p:nvPr>
            <p:ph type="title"/>
          </p:nvPr>
        </p:nvSpPr>
        <p:spPr>
          <a:xfrm>
            <a:off x="882389" y="122853"/>
            <a:ext cx="7664450" cy="576262"/>
          </a:xfrm>
        </p:spPr>
        <p:txBody>
          <a:bodyPr>
            <a:noAutofit/>
          </a:bodyPr>
          <a:lstStyle/>
          <a:p>
            <a:pPr algn="ctr" eaLnBrk="1" hangingPunct="1"/>
            <a:r>
              <a:rPr lang="en-US" altLang="en-US" sz="4000" dirty="0"/>
              <a:t>Page Replacement</a:t>
            </a:r>
          </a:p>
        </p:txBody>
      </p:sp>
      <p:pic>
        <p:nvPicPr>
          <p:cNvPr id="35843" name="Picture 4" descr="9">
            <a:extLst>
              <a:ext uri="{FF2B5EF4-FFF2-40B4-BE49-F238E27FC236}">
                <a16:creationId xmlns:a16="http://schemas.microsoft.com/office/drawing/2014/main" id="{632D2467-D729-4E96-ABE0-D5CF1AD39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354" y="841995"/>
            <a:ext cx="7956658" cy="586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47214C7-1AE6-4D0E-9FB9-EBC768731FBD}"/>
              </a:ext>
            </a:extLst>
          </p:cNvPr>
          <p:cNvSpPr>
            <a:spLocks noGrp="1" noChangeArrowheads="1"/>
          </p:cNvSpPr>
          <p:nvPr>
            <p:ph type="title"/>
          </p:nvPr>
        </p:nvSpPr>
        <p:spPr>
          <a:xfrm>
            <a:off x="451686" y="103858"/>
            <a:ext cx="7861041" cy="576262"/>
          </a:xfrm>
        </p:spPr>
        <p:txBody>
          <a:bodyPr>
            <a:noAutofit/>
          </a:bodyPr>
          <a:lstStyle/>
          <a:p>
            <a:pPr algn="ctr"/>
            <a:r>
              <a:rPr lang="en-US" altLang="en-US" sz="3600" dirty="0"/>
              <a:t>Page Replacement</a:t>
            </a:r>
          </a:p>
        </p:txBody>
      </p:sp>
      <p:sp>
        <p:nvSpPr>
          <p:cNvPr id="36867" name="Rectangle 3">
            <a:extLst>
              <a:ext uri="{FF2B5EF4-FFF2-40B4-BE49-F238E27FC236}">
                <a16:creationId xmlns:a16="http://schemas.microsoft.com/office/drawing/2014/main" id="{7C092E50-7A55-4657-89B6-77C0309E7E14}"/>
              </a:ext>
            </a:extLst>
          </p:cNvPr>
          <p:cNvSpPr>
            <a:spLocks noGrp="1" noChangeArrowheads="1"/>
          </p:cNvSpPr>
          <p:nvPr>
            <p:ph idx="1"/>
          </p:nvPr>
        </p:nvSpPr>
        <p:spPr>
          <a:xfrm>
            <a:off x="628650" y="680121"/>
            <a:ext cx="7929563" cy="5849268"/>
          </a:xfrm>
        </p:spPr>
        <p:txBody>
          <a:bodyPr>
            <a:noAutofit/>
          </a:bodyPr>
          <a:lstStyle/>
          <a:p>
            <a:pPr algn="just">
              <a:tabLst>
                <a:tab pos="3144838" algn="ctr"/>
              </a:tabLst>
            </a:pPr>
            <a:r>
              <a:rPr lang="en-US" altLang="en-US" sz="2800" dirty="0"/>
              <a:t>If no frames are free, two page transfers (one for the page-out and one for the page-in) are required. This situation effectively doubles the page-fault service time and increases the effective access time accordingly. </a:t>
            </a:r>
          </a:p>
          <a:p>
            <a:pPr algn="just">
              <a:tabLst>
                <a:tab pos="3144838" algn="ctr"/>
              </a:tabLst>
            </a:pPr>
            <a:r>
              <a:rPr lang="en-US" altLang="en-US" sz="2800" dirty="0"/>
              <a:t>We can reduce this overhead by using a </a:t>
            </a:r>
            <a:r>
              <a:rPr lang="en-US" altLang="en-US" sz="2800" b="1" dirty="0"/>
              <a:t>modify bit </a:t>
            </a:r>
            <a:r>
              <a:rPr lang="en-US" altLang="en-US" sz="2800" dirty="0"/>
              <a:t>(or </a:t>
            </a:r>
            <a:r>
              <a:rPr lang="en-US" altLang="en-US" sz="2800" b="1" dirty="0"/>
              <a:t>dirty bit</a:t>
            </a:r>
            <a:r>
              <a:rPr lang="en-US" altLang="en-US" sz="2800" dirty="0"/>
              <a:t>). </a:t>
            </a:r>
          </a:p>
          <a:p>
            <a:pPr algn="just">
              <a:tabLst>
                <a:tab pos="3144838" algn="ctr"/>
              </a:tabLst>
            </a:pPr>
            <a:r>
              <a:rPr lang="en-US" altLang="en-US" sz="2800" dirty="0"/>
              <a:t>When this scheme is used, each page or frame has a modify bit associated with it in the hardware. The modify bit for a page is set by the hardware whenever any byte in the page is written into, indicating that the page has been modified. When we select a page for replacement, we examine its modify bit.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47214C7-1AE6-4D0E-9FB9-EBC768731FBD}"/>
              </a:ext>
            </a:extLst>
          </p:cNvPr>
          <p:cNvSpPr>
            <a:spLocks noGrp="1" noChangeArrowheads="1"/>
          </p:cNvSpPr>
          <p:nvPr>
            <p:ph type="title"/>
          </p:nvPr>
        </p:nvSpPr>
        <p:spPr>
          <a:xfrm>
            <a:off x="451686" y="103858"/>
            <a:ext cx="7861041" cy="576262"/>
          </a:xfrm>
        </p:spPr>
        <p:txBody>
          <a:bodyPr>
            <a:noAutofit/>
          </a:bodyPr>
          <a:lstStyle/>
          <a:p>
            <a:pPr algn="ctr"/>
            <a:r>
              <a:rPr lang="en-US" altLang="en-US" sz="3600" dirty="0"/>
              <a:t>Page Replacement</a:t>
            </a:r>
          </a:p>
        </p:txBody>
      </p:sp>
      <p:sp>
        <p:nvSpPr>
          <p:cNvPr id="36867" name="Rectangle 3">
            <a:extLst>
              <a:ext uri="{FF2B5EF4-FFF2-40B4-BE49-F238E27FC236}">
                <a16:creationId xmlns:a16="http://schemas.microsoft.com/office/drawing/2014/main" id="{7C092E50-7A55-4657-89B6-77C0309E7E14}"/>
              </a:ext>
            </a:extLst>
          </p:cNvPr>
          <p:cNvSpPr>
            <a:spLocks noGrp="1" noChangeArrowheads="1"/>
          </p:cNvSpPr>
          <p:nvPr>
            <p:ph idx="1"/>
          </p:nvPr>
        </p:nvSpPr>
        <p:spPr>
          <a:xfrm>
            <a:off x="628650" y="680121"/>
            <a:ext cx="7929563" cy="5849268"/>
          </a:xfrm>
        </p:spPr>
        <p:txBody>
          <a:bodyPr>
            <a:noAutofit/>
          </a:bodyPr>
          <a:lstStyle/>
          <a:p>
            <a:pPr algn="just">
              <a:tabLst>
                <a:tab pos="3144838" algn="ctr"/>
              </a:tabLst>
            </a:pPr>
            <a:r>
              <a:rPr lang="en-US" altLang="en-US" sz="2800" dirty="0"/>
              <a:t>If the </a:t>
            </a:r>
            <a:r>
              <a:rPr lang="en-US" altLang="en-US" sz="2800" b="1" dirty="0"/>
              <a:t>bit is set</a:t>
            </a:r>
            <a:r>
              <a:rPr lang="en-US" altLang="en-US" sz="2800" dirty="0"/>
              <a:t>, we know that the </a:t>
            </a:r>
            <a:r>
              <a:rPr lang="en-US" altLang="en-US" sz="2800" b="1" dirty="0"/>
              <a:t>page has been modified</a:t>
            </a:r>
            <a:r>
              <a:rPr lang="en-US" altLang="en-US" sz="2800" dirty="0"/>
              <a:t> since it was read in from secondary storage. In this case, we must </a:t>
            </a:r>
            <a:r>
              <a:rPr lang="en-US" altLang="en-US" sz="2800" b="1" dirty="0"/>
              <a:t>write the page to storage</a:t>
            </a:r>
            <a:r>
              <a:rPr lang="en-US" altLang="en-US" sz="2800" dirty="0"/>
              <a:t>. If the modify bit is </a:t>
            </a:r>
            <a:r>
              <a:rPr lang="en-US" altLang="en-US" sz="2800" b="1" dirty="0"/>
              <a:t>not set</a:t>
            </a:r>
            <a:r>
              <a:rPr lang="en-US" altLang="en-US" sz="2800" dirty="0"/>
              <a:t>, however, the page </a:t>
            </a:r>
            <a:r>
              <a:rPr lang="en-US" altLang="en-US" sz="2800" b="1" dirty="0"/>
              <a:t>has not been modified </a:t>
            </a:r>
            <a:r>
              <a:rPr lang="en-US" altLang="en-US" sz="2800" dirty="0"/>
              <a:t>since it was read into memory. In this case, we need not write the memory page to storage: it is already there. This technique also applies to read-only pages. Such pages cannot be modified; thus, </a:t>
            </a:r>
            <a:r>
              <a:rPr lang="en-US" altLang="en-US" sz="2800" b="1" dirty="0"/>
              <a:t>they may be discarded when desired</a:t>
            </a:r>
            <a:r>
              <a:rPr lang="en-US" altLang="en-US" sz="2800" dirty="0"/>
              <a:t>. This scheme can significantly reduce the time required to service a page fault, since it reduces I/O time by </a:t>
            </a:r>
            <a:r>
              <a:rPr lang="en-US" altLang="en-US" sz="2800" b="1" dirty="0"/>
              <a:t>one-half if the page has not been modified</a:t>
            </a:r>
            <a:r>
              <a:rPr lang="en-US" altLang="en-US" sz="2800" dirty="0"/>
              <a:t>.</a:t>
            </a:r>
          </a:p>
        </p:txBody>
      </p:sp>
    </p:spTree>
    <p:extLst>
      <p:ext uri="{BB962C8B-B14F-4D97-AF65-F5344CB8AC3E}">
        <p14:creationId xmlns:p14="http://schemas.microsoft.com/office/powerpoint/2010/main" val="1857010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47214C7-1AE6-4D0E-9FB9-EBC768731FBD}"/>
              </a:ext>
            </a:extLst>
          </p:cNvPr>
          <p:cNvSpPr>
            <a:spLocks noGrp="1" noChangeArrowheads="1"/>
          </p:cNvSpPr>
          <p:nvPr>
            <p:ph type="title"/>
          </p:nvPr>
        </p:nvSpPr>
        <p:spPr>
          <a:xfrm>
            <a:off x="451686" y="103858"/>
            <a:ext cx="7861041" cy="576262"/>
          </a:xfrm>
        </p:spPr>
        <p:txBody>
          <a:bodyPr>
            <a:noAutofit/>
          </a:bodyPr>
          <a:lstStyle/>
          <a:p>
            <a:pPr algn="ctr" eaLnBrk="1" hangingPunct="1"/>
            <a:r>
              <a:rPr lang="en-US" altLang="en-US" sz="3600" dirty="0"/>
              <a:t>Page and Frame Replacement Algorithms</a:t>
            </a:r>
          </a:p>
        </p:txBody>
      </p:sp>
      <p:sp>
        <p:nvSpPr>
          <p:cNvPr id="36867" name="Rectangle 3">
            <a:extLst>
              <a:ext uri="{FF2B5EF4-FFF2-40B4-BE49-F238E27FC236}">
                <a16:creationId xmlns:a16="http://schemas.microsoft.com/office/drawing/2014/main" id="{7C092E50-7A55-4657-89B6-77C0309E7E14}"/>
              </a:ext>
            </a:extLst>
          </p:cNvPr>
          <p:cNvSpPr>
            <a:spLocks noGrp="1" noChangeArrowheads="1"/>
          </p:cNvSpPr>
          <p:nvPr>
            <p:ph idx="1"/>
          </p:nvPr>
        </p:nvSpPr>
        <p:spPr>
          <a:xfrm>
            <a:off x="451686" y="680120"/>
            <a:ext cx="8363702" cy="6177879"/>
          </a:xfrm>
        </p:spPr>
        <p:txBody>
          <a:bodyPr>
            <a:noAutofit/>
          </a:bodyPr>
          <a:lstStyle/>
          <a:p>
            <a:pPr algn="just">
              <a:tabLst>
                <a:tab pos="3144838" algn="ctr"/>
              </a:tabLst>
            </a:pPr>
            <a:r>
              <a:rPr lang="en-US" altLang="en-US" sz="2800" b="1" dirty="0">
                <a:latin typeface="+mj-lt"/>
              </a:rPr>
              <a:t>Frame-allocation algorithm </a:t>
            </a:r>
            <a:r>
              <a:rPr lang="en-US" altLang="en-US" sz="2800" dirty="0"/>
              <a:t>determines </a:t>
            </a:r>
          </a:p>
          <a:p>
            <a:pPr lvl="1" algn="just">
              <a:tabLst>
                <a:tab pos="3144838" algn="ctr"/>
              </a:tabLst>
            </a:pPr>
            <a:r>
              <a:rPr lang="en-US" altLang="en-US" sz="2400" dirty="0"/>
              <a:t>How many frames to give each process</a:t>
            </a:r>
          </a:p>
          <a:p>
            <a:pPr lvl="1" algn="just">
              <a:tabLst>
                <a:tab pos="3144838" algn="ctr"/>
              </a:tabLst>
            </a:pPr>
            <a:r>
              <a:rPr lang="en-US" altLang="en-US" sz="2400" dirty="0"/>
              <a:t>Which frames to replace</a:t>
            </a:r>
          </a:p>
          <a:p>
            <a:pPr algn="just">
              <a:tabLst>
                <a:tab pos="3144838" algn="ctr"/>
              </a:tabLst>
            </a:pPr>
            <a:r>
              <a:rPr lang="en-US" altLang="en-US" sz="2800" b="1" dirty="0">
                <a:latin typeface="+mj-lt"/>
              </a:rPr>
              <a:t>Page-replacement algorithm</a:t>
            </a:r>
          </a:p>
          <a:p>
            <a:pPr marL="457200" lvl="1" indent="-228600" algn="just">
              <a:tabLst>
                <a:tab pos="3144838" algn="ctr"/>
              </a:tabLst>
            </a:pPr>
            <a:r>
              <a:rPr lang="en-US" altLang="en-US" sz="2400" b="1" dirty="0"/>
              <a:t>Want lowest page-fault rate </a:t>
            </a:r>
            <a:r>
              <a:rPr lang="en-US" altLang="en-US" sz="2400" dirty="0"/>
              <a:t>on both first access and re-access</a:t>
            </a:r>
          </a:p>
          <a:p>
            <a:pPr algn="just">
              <a:tabLst>
                <a:tab pos="3144838" algn="ctr"/>
              </a:tabLst>
            </a:pPr>
            <a:r>
              <a:rPr lang="en-US" altLang="en-US" sz="2800" dirty="0"/>
              <a:t>Evaluate algorithm by running it on a particular string of memory references (reference string) and computing the number of page faults on that string</a:t>
            </a:r>
          </a:p>
          <a:p>
            <a:pPr lvl="1" algn="just">
              <a:tabLst>
                <a:tab pos="3144838" algn="ctr"/>
              </a:tabLst>
            </a:pPr>
            <a:r>
              <a:rPr lang="en-US" altLang="en-US" sz="2400" dirty="0"/>
              <a:t>String is just page numbers, not full addresses</a:t>
            </a:r>
          </a:p>
          <a:p>
            <a:pPr lvl="1" algn="just">
              <a:tabLst>
                <a:tab pos="3144838" algn="ctr"/>
              </a:tabLst>
            </a:pPr>
            <a:r>
              <a:rPr lang="en-US" altLang="en-US" sz="2400" dirty="0"/>
              <a:t>Repeated access to the same page does not cause a page fault</a:t>
            </a:r>
          </a:p>
          <a:p>
            <a:pPr lvl="1" algn="just">
              <a:tabLst>
                <a:tab pos="3144838" algn="ctr"/>
              </a:tabLst>
            </a:pPr>
            <a:r>
              <a:rPr lang="en-US" altLang="en-US" sz="2400" dirty="0"/>
              <a:t>Results depend on number of frames available</a:t>
            </a:r>
          </a:p>
          <a:p>
            <a:pPr algn="just">
              <a:tabLst>
                <a:tab pos="3144838" algn="ctr"/>
              </a:tabLst>
            </a:pPr>
            <a:r>
              <a:rPr lang="en-US" altLang="en-US" sz="2800" dirty="0"/>
              <a:t>For examples, the </a:t>
            </a:r>
            <a:r>
              <a:rPr lang="en-US" altLang="en-US" sz="2800" b="1" dirty="0">
                <a:latin typeface="+mj-lt"/>
              </a:rPr>
              <a:t>reference</a:t>
            </a:r>
            <a:r>
              <a:rPr lang="en-US" altLang="en-US" sz="2800" b="1" dirty="0"/>
              <a:t> </a:t>
            </a:r>
            <a:r>
              <a:rPr lang="en-US" altLang="en-US" sz="2800" b="1" dirty="0">
                <a:latin typeface="+mj-lt"/>
              </a:rPr>
              <a:t>string</a:t>
            </a:r>
            <a:r>
              <a:rPr lang="en-US" altLang="en-US" sz="2800" b="1" dirty="0"/>
              <a:t> </a:t>
            </a:r>
            <a:r>
              <a:rPr lang="en-US" altLang="en-US" sz="2800" dirty="0"/>
              <a:t>of referenced page numbers: </a:t>
            </a:r>
          </a:p>
          <a:p>
            <a:pPr algn="just">
              <a:buFont typeface="Monotype Sorts" pitchFamily="-84" charset="2"/>
              <a:buNone/>
              <a:tabLst>
                <a:tab pos="3144838" algn="ctr"/>
              </a:tabLst>
            </a:pPr>
            <a:r>
              <a:rPr lang="en-US" altLang="en-US" sz="2800" dirty="0"/>
              <a:t>	               </a:t>
            </a:r>
            <a:r>
              <a:rPr lang="en-US" altLang="en-US" sz="2800" b="1" dirty="0"/>
              <a:t>7,0,1,2,0,3,0,4,2,3,0,3,0,3,2,1,2,0,1,7,0,1</a:t>
            </a:r>
          </a:p>
        </p:txBody>
      </p:sp>
    </p:spTree>
    <p:extLst>
      <p:ext uri="{BB962C8B-B14F-4D97-AF65-F5344CB8AC3E}">
        <p14:creationId xmlns:p14="http://schemas.microsoft.com/office/powerpoint/2010/main" val="4171923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238E9DE7-317A-4964-80E7-85DD040FFD38}"/>
              </a:ext>
            </a:extLst>
          </p:cNvPr>
          <p:cNvSpPr>
            <a:spLocks noGrp="1" noChangeArrowheads="1"/>
          </p:cNvSpPr>
          <p:nvPr>
            <p:ph type="title"/>
          </p:nvPr>
        </p:nvSpPr>
        <p:spPr>
          <a:xfrm>
            <a:off x="318379" y="60152"/>
            <a:ext cx="8662696" cy="589980"/>
          </a:xfrm>
        </p:spPr>
        <p:txBody>
          <a:bodyPr>
            <a:normAutofit/>
          </a:bodyPr>
          <a:lstStyle/>
          <a:p>
            <a:pPr eaLnBrk="1" hangingPunct="1"/>
            <a:r>
              <a:rPr lang="en-US" altLang="en-US" sz="3200" dirty="0"/>
              <a:t>Graph of Page Faults Versus the Number of Frames</a:t>
            </a:r>
          </a:p>
        </p:txBody>
      </p:sp>
      <p:pic>
        <p:nvPicPr>
          <p:cNvPr id="37891" name="Picture 5">
            <a:extLst>
              <a:ext uri="{FF2B5EF4-FFF2-40B4-BE49-F238E27FC236}">
                <a16:creationId xmlns:a16="http://schemas.microsoft.com/office/drawing/2014/main" id="{6305A72B-A5ED-415A-9B8C-D45FEB5F4C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501" y="864331"/>
            <a:ext cx="7926849" cy="4664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CA6CF77-12AF-4EC2-89B1-0E20EC3A225C}"/>
              </a:ext>
            </a:extLst>
          </p:cNvPr>
          <p:cNvSpPr>
            <a:spLocks noGrp="1" noChangeArrowheads="1"/>
          </p:cNvSpPr>
          <p:nvPr>
            <p:ph type="title"/>
          </p:nvPr>
        </p:nvSpPr>
        <p:spPr>
          <a:xfrm>
            <a:off x="894735" y="168792"/>
            <a:ext cx="7821612" cy="576262"/>
          </a:xfrm>
        </p:spPr>
        <p:txBody>
          <a:bodyPr>
            <a:noAutofit/>
          </a:bodyPr>
          <a:lstStyle/>
          <a:p>
            <a:pPr algn="ctr" eaLnBrk="1" hangingPunct="1"/>
            <a:r>
              <a:rPr lang="en-US" altLang="en-US" sz="4000" dirty="0"/>
              <a:t>First-In-First-Out (FIFO) Algorithm</a:t>
            </a:r>
          </a:p>
        </p:txBody>
      </p:sp>
      <p:sp>
        <p:nvSpPr>
          <p:cNvPr id="38915" name="Rectangle 3">
            <a:extLst>
              <a:ext uri="{FF2B5EF4-FFF2-40B4-BE49-F238E27FC236}">
                <a16:creationId xmlns:a16="http://schemas.microsoft.com/office/drawing/2014/main" id="{6D1D5755-163C-4203-ABC8-2DA1622DF8E5}"/>
              </a:ext>
            </a:extLst>
          </p:cNvPr>
          <p:cNvSpPr>
            <a:spLocks noGrp="1" noChangeArrowheads="1"/>
          </p:cNvSpPr>
          <p:nvPr>
            <p:ph idx="1"/>
          </p:nvPr>
        </p:nvSpPr>
        <p:spPr>
          <a:xfrm>
            <a:off x="894735" y="745055"/>
            <a:ext cx="7582515" cy="6070084"/>
          </a:xfrm>
        </p:spPr>
        <p:txBody>
          <a:bodyPr>
            <a:normAutofit/>
          </a:bodyPr>
          <a:lstStyle/>
          <a:p>
            <a:r>
              <a:rPr lang="en-US" altLang="en-US" sz="2800" dirty="0"/>
              <a:t>Reference string: </a:t>
            </a:r>
            <a:r>
              <a:rPr lang="en-US" altLang="en-US" sz="2800" b="1" dirty="0"/>
              <a:t>7,0,1,2,0,3,0,4,2,3,0,3,0,3,2,1,2,0,1,7,0,1</a:t>
            </a:r>
            <a:endParaRPr lang="en-US" altLang="en-US" sz="2800" dirty="0"/>
          </a:p>
          <a:p>
            <a:r>
              <a:rPr lang="en-US" altLang="en-US" sz="2800" dirty="0"/>
              <a:t>3 frames (3 pages can be in memory at a time per process)</a:t>
            </a:r>
          </a:p>
          <a:p>
            <a:pPr>
              <a:buFont typeface="Monotype Sorts" pitchFamily="-84" charset="2"/>
              <a:buNone/>
            </a:pPr>
            <a:endParaRPr lang="en-US" altLang="en-US" sz="2800" dirty="0"/>
          </a:p>
          <a:p>
            <a:pPr>
              <a:buFont typeface="Monotype Sorts" pitchFamily="-84" charset="2"/>
              <a:buNone/>
            </a:pPr>
            <a:endParaRPr lang="en-US" altLang="en-US" sz="2800" dirty="0"/>
          </a:p>
          <a:p>
            <a:pPr>
              <a:buFont typeface="Monotype Sorts" pitchFamily="-84" charset="2"/>
              <a:buNone/>
            </a:pPr>
            <a:br>
              <a:rPr lang="en-US" altLang="en-US" sz="2800" dirty="0"/>
            </a:br>
            <a:endParaRPr lang="en-US" altLang="en-US" sz="2800" dirty="0"/>
          </a:p>
          <a:p>
            <a:pPr>
              <a:buFont typeface="Monotype Sorts" pitchFamily="-84" charset="2"/>
              <a:buNone/>
            </a:pPr>
            <a:endParaRPr lang="en-US" altLang="en-US" sz="1000" dirty="0"/>
          </a:p>
          <a:p>
            <a:pPr>
              <a:buFont typeface="Monotype Sorts" pitchFamily="-84" charset="2"/>
              <a:buNone/>
            </a:pPr>
            <a:endParaRPr lang="en-US" altLang="en-US" sz="1000" dirty="0"/>
          </a:p>
          <a:p>
            <a:pPr>
              <a:buFont typeface="Monotype Sorts" pitchFamily="-84" charset="2"/>
              <a:buNone/>
            </a:pPr>
            <a:endParaRPr lang="en-US" altLang="en-US" sz="2800" dirty="0"/>
          </a:p>
          <a:p>
            <a:r>
              <a:rPr lang="en-US" altLang="en-US" sz="2800" dirty="0"/>
              <a:t>How to track ages of pages? </a:t>
            </a:r>
          </a:p>
          <a:p>
            <a:pPr lvl="1"/>
            <a:r>
              <a:rPr lang="en-US" altLang="en-US" sz="2400" dirty="0"/>
              <a:t>Just use a FIFO queue</a:t>
            </a:r>
          </a:p>
        </p:txBody>
      </p:sp>
      <p:sp>
        <p:nvSpPr>
          <p:cNvPr id="38916" name="Text Box 16">
            <a:extLst>
              <a:ext uri="{FF2B5EF4-FFF2-40B4-BE49-F238E27FC236}">
                <a16:creationId xmlns:a16="http://schemas.microsoft.com/office/drawing/2014/main" id="{70D1F977-A605-4231-817D-50B414BD8273}"/>
              </a:ext>
            </a:extLst>
          </p:cNvPr>
          <p:cNvSpPr txBox="1">
            <a:spLocks noChangeArrowheads="1"/>
          </p:cNvSpPr>
          <p:nvPr/>
        </p:nvSpPr>
        <p:spPr bwMode="auto">
          <a:xfrm>
            <a:off x="1558925" y="3546475"/>
            <a:ext cx="16970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dirty="0">
                <a:latin typeface="Helvetica" panose="020B0604020202020204" pitchFamily="34" charset="0"/>
              </a:rPr>
              <a:t>15 page faults</a:t>
            </a:r>
          </a:p>
        </p:txBody>
      </p:sp>
      <p:pic>
        <p:nvPicPr>
          <p:cNvPr id="38917" name="Picture 1">
            <a:extLst>
              <a:ext uri="{FF2B5EF4-FFF2-40B4-BE49-F238E27FC236}">
                <a16:creationId xmlns:a16="http://schemas.microsoft.com/office/drawing/2014/main" id="{308629FE-BC55-408D-8CD8-72B5F69846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55638" y="2568575"/>
            <a:ext cx="7473950" cy="2380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CA6CF77-12AF-4EC2-89B1-0E20EC3A225C}"/>
              </a:ext>
            </a:extLst>
          </p:cNvPr>
          <p:cNvSpPr>
            <a:spLocks noGrp="1" noChangeArrowheads="1"/>
          </p:cNvSpPr>
          <p:nvPr>
            <p:ph type="title"/>
          </p:nvPr>
        </p:nvSpPr>
        <p:spPr>
          <a:xfrm>
            <a:off x="894735" y="126260"/>
            <a:ext cx="7821612" cy="576262"/>
          </a:xfrm>
        </p:spPr>
        <p:txBody>
          <a:bodyPr>
            <a:noAutofit/>
          </a:bodyPr>
          <a:lstStyle/>
          <a:p>
            <a:pPr algn="ctr" eaLnBrk="1" hangingPunct="1"/>
            <a:r>
              <a:rPr lang="en-US" altLang="en-US" sz="4000" dirty="0"/>
              <a:t>Belady</a:t>
            </a:r>
            <a:r>
              <a:rPr lang="ja-JP" altLang="en-US" sz="4000" dirty="0"/>
              <a:t>’</a:t>
            </a:r>
            <a:r>
              <a:rPr lang="en-US" altLang="ja-JP" sz="4000" dirty="0"/>
              <a:t>s Anomaly</a:t>
            </a:r>
            <a:endParaRPr lang="en-US" altLang="en-US" sz="4000" dirty="0"/>
          </a:p>
        </p:txBody>
      </p:sp>
      <p:sp>
        <p:nvSpPr>
          <p:cNvPr id="38915" name="Rectangle 3">
            <a:extLst>
              <a:ext uri="{FF2B5EF4-FFF2-40B4-BE49-F238E27FC236}">
                <a16:creationId xmlns:a16="http://schemas.microsoft.com/office/drawing/2014/main" id="{6D1D5755-163C-4203-ABC8-2DA1622DF8E5}"/>
              </a:ext>
            </a:extLst>
          </p:cNvPr>
          <p:cNvSpPr>
            <a:spLocks noGrp="1" noChangeArrowheads="1"/>
          </p:cNvSpPr>
          <p:nvPr>
            <p:ph idx="1"/>
          </p:nvPr>
        </p:nvSpPr>
        <p:spPr>
          <a:xfrm>
            <a:off x="894735" y="702523"/>
            <a:ext cx="7582515" cy="6112616"/>
          </a:xfrm>
        </p:spPr>
        <p:txBody>
          <a:bodyPr>
            <a:normAutofit/>
          </a:bodyPr>
          <a:lstStyle/>
          <a:p>
            <a:r>
              <a:rPr lang="en-US" altLang="en-US" sz="2800" dirty="0"/>
              <a:t>Consider the string 1,2,3,4,1,2,5,1,2,3,4,5</a:t>
            </a:r>
          </a:p>
          <a:p>
            <a:pPr lvl="1"/>
            <a:r>
              <a:rPr lang="en-US" altLang="en-US" sz="2400" dirty="0"/>
              <a:t>Adding more frames can cause more page faults!</a:t>
            </a:r>
          </a:p>
          <a:p>
            <a:r>
              <a:rPr lang="en-US" altLang="en-US" sz="2800" dirty="0"/>
              <a:t>Graph illustrating Belady</a:t>
            </a:r>
            <a:r>
              <a:rPr lang="ja-JP" altLang="en-US" sz="2800" dirty="0"/>
              <a:t>’</a:t>
            </a:r>
            <a:r>
              <a:rPr lang="en-US" altLang="ja-JP" sz="2800" dirty="0"/>
              <a:t>s Anomaly</a:t>
            </a:r>
            <a:endParaRPr lang="en-US" altLang="en-US" sz="2800" dirty="0"/>
          </a:p>
          <a:p>
            <a:endParaRPr lang="en-US" altLang="en-US" sz="2800" dirty="0"/>
          </a:p>
        </p:txBody>
      </p:sp>
      <p:pic>
        <p:nvPicPr>
          <p:cNvPr id="6" name="Picture 1" descr="9_13.pdf">
            <a:extLst>
              <a:ext uri="{FF2B5EF4-FFF2-40B4-BE49-F238E27FC236}">
                <a16:creationId xmlns:a16="http://schemas.microsoft.com/office/drawing/2014/main" id="{4FFB3CF0-8979-4465-9236-0828F76FBF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56391" y="2526443"/>
            <a:ext cx="4801153" cy="3466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50172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6095923-7FD6-4706-A8FA-9ABF0514694A}"/>
              </a:ext>
            </a:extLst>
          </p:cNvPr>
          <p:cNvSpPr>
            <a:spLocks noGrp="1" noChangeArrowheads="1"/>
          </p:cNvSpPr>
          <p:nvPr>
            <p:ph type="title"/>
          </p:nvPr>
        </p:nvSpPr>
        <p:spPr>
          <a:xfrm>
            <a:off x="749300" y="137152"/>
            <a:ext cx="7937500" cy="576262"/>
          </a:xfrm>
        </p:spPr>
        <p:txBody>
          <a:bodyPr>
            <a:noAutofit/>
          </a:bodyPr>
          <a:lstStyle/>
          <a:p>
            <a:pPr algn="ctr" eaLnBrk="1" hangingPunct="1"/>
            <a:r>
              <a:rPr lang="en-US" altLang="en-US" sz="4000" dirty="0"/>
              <a:t>Optimal Algorithm</a:t>
            </a:r>
          </a:p>
        </p:txBody>
      </p:sp>
      <p:sp>
        <p:nvSpPr>
          <p:cNvPr id="40963" name="Rectangle 3">
            <a:extLst>
              <a:ext uri="{FF2B5EF4-FFF2-40B4-BE49-F238E27FC236}">
                <a16:creationId xmlns:a16="http://schemas.microsoft.com/office/drawing/2014/main" id="{25D0553F-9E25-4083-8F1B-77A52F70DB34}"/>
              </a:ext>
            </a:extLst>
          </p:cNvPr>
          <p:cNvSpPr>
            <a:spLocks noGrp="1" noChangeArrowheads="1"/>
          </p:cNvSpPr>
          <p:nvPr>
            <p:ph idx="1"/>
          </p:nvPr>
        </p:nvSpPr>
        <p:spPr>
          <a:xfrm>
            <a:off x="749300" y="713415"/>
            <a:ext cx="7708900" cy="2335860"/>
          </a:xfrm>
        </p:spPr>
        <p:txBody>
          <a:bodyPr>
            <a:noAutofit/>
          </a:bodyPr>
          <a:lstStyle/>
          <a:p>
            <a:pPr algn="just">
              <a:tabLst>
                <a:tab pos="1889125" algn="l"/>
              </a:tabLst>
            </a:pPr>
            <a:r>
              <a:rPr lang="en-US" altLang="en-US" sz="2800" dirty="0"/>
              <a:t>Replace page that will not be used for longest period of time</a:t>
            </a:r>
          </a:p>
          <a:p>
            <a:pPr lvl="1" algn="just">
              <a:tabLst>
                <a:tab pos="1889125" algn="l"/>
              </a:tabLst>
            </a:pPr>
            <a:r>
              <a:rPr lang="en-US" altLang="en-US" sz="2400" dirty="0"/>
              <a:t>9 is optimal for the example</a:t>
            </a:r>
          </a:p>
          <a:p>
            <a:pPr algn="just">
              <a:tabLst>
                <a:tab pos="1889125" algn="l"/>
              </a:tabLst>
            </a:pPr>
            <a:r>
              <a:rPr lang="en-US" altLang="en-US" sz="2800" dirty="0"/>
              <a:t>How do you know this?</a:t>
            </a:r>
          </a:p>
          <a:p>
            <a:pPr lvl="1" algn="just">
              <a:tabLst>
                <a:tab pos="1889125" algn="l"/>
              </a:tabLst>
            </a:pPr>
            <a:r>
              <a:rPr lang="en-US" altLang="en-US" sz="2400" dirty="0"/>
              <a:t>Can</a:t>
            </a:r>
            <a:r>
              <a:rPr lang="ja-JP" altLang="en-US" sz="2400" dirty="0"/>
              <a:t>’</a:t>
            </a:r>
            <a:r>
              <a:rPr lang="en-US" altLang="ja-JP" sz="2400" dirty="0"/>
              <a:t>t read the future</a:t>
            </a:r>
            <a:endParaRPr lang="en-US" altLang="en-US" sz="2400" dirty="0"/>
          </a:p>
          <a:p>
            <a:pPr algn="just">
              <a:tabLst>
                <a:tab pos="1889125" algn="l"/>
              </a:tabLst>
            </a:pPr>
            <a:r>
              <a:rPr lang="en-US" altLang="en-US" sz="2800" dirty="0"/>
              <a:t>Used for measuring how well your algorithm performs</a:t>
            </a:r>
          </a:p>
          <a:p>
            <a:pPr algn="just">
              <a:tabLst>
                <a:tab pos="1889125" algn="l"/>
              </a:tabLst>
            </a:pPr>
            <a:endParaRPr lang="en-US" altLang="en-US" sz="2800" dirty="0"/>
          </a:p>
          <a:p>
            <a:pPr algn="just">
              <a:tabLst>
                <a:tab pos="1889125" algn="l"/>
              </a:tabLst>
            </a:pPr>
            <a:endParaRPr lang="en-US" altLang="en-US" sz="2800" dirty="0"/>
          </a:p>
          <a:p>
            <a:pPr algn="just">
              <a:tabLst>
                <a:tab pos="1889125" algn="l"/>
              </a:tabLst>
            </a:pPr>
            <a:endParaRPr lang="en-US" altLang="en-US" sz="2800" dirty="0"/>
          </a:p>
          <a:p>
            <a:pPr algn="just">
              <a:tabLst>
                <a:tab pos="1889125" algn="l"/>
              </a:tabLst>
            </a:pPr>
            <a:endParaRPr lang="en-US" altLang="en-US" sz="2800" dirty="0"/>
          </a:p>
          <a:p>
            <a:pPr algn="just">
              <a:tabLst>
                <a:tab pos="1889125" algn="l"/>
              </a:tabLst>
            </a:pPr>
            <a:endParaRPr lang="en-US" altLang="en-US" sz="2800" dirty="0"/>
          </a:p>
          <a:p>
            <a:pPr algn="just">
              <a:tabLst>
                <a:tab pos="1889125" algn="l"/>
              </a:tabLst>
            </a:pPr>
            <a:r>
              <a:rPr lang="en-US" altLang="en-US" sz="2800" dirty="0"/>
              <a:t>Optimal algorithm don</a:t>
            </a:r>
            <a:r>
              <a:rPr lang="ja-JP" altLang="en-US" sz="2800" dirty="0"/>
              <a:t>’</a:t>
            </a:r>
            <a:r>
              <a:rPr lang="en-US" altLang="ja-JP" sz="2800" dirty="0"/>
              <a:t>t suffer from  Belady</a:t>
            </a:r>
            <a:r>
              <a:rPr lang="ja-JP" altLang="en-US" sz="2800" dirty="0"/>
              <a:t>’</a:t>
            </a:r>
            <a:r>
              <a:rPr lang="en-US" altLang="ja-JP" sz="2800" dirty="0"/>
              <a:t>s Anomaly</a:t>
            </a:r>
          </a:p>
          <a:p>
            <a:pPr algn="just">
              <a:tabLst>
                <a:tab pos="1889125" algn="l"/>
              </a:tabLst>
            </a:pPr>
            <a:endParaRPr lang="en-US" altLang="en-US" sz="2800" dirty="0"/>
          </a:p>
        </p:txBody>
      </p:sp>
      <p:pic>
        <p:nvPicPr>
          <p:cNvPr id="40964" name="Picture 3">
            <a:extLst>
              <a:ext uri="{FF2B5EF4-FFF2-40B4-BE49-F238E27FC236}">
                <a16:creationId xmlns:a16="http://schemas.microsoft.com/office/drawing/2014/main" id="{0C2DEEDF-7F2E-4341-B388-D2725985018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1564" y="3703833"/>
            <a:ext cx="6800850" cy="228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696FD466-53D6-40D8-87A0-F9D0699FA1F0}"/>
              </a:ext>
            </a:extLst>
          </p:cNvPr>
          <p:cNvSpPr>
            <a:spLocks noGrp="1" noChangeArrowheads="1"/>
          </p:cNvSpPr>
          <p:nvPr>
            <p:ph type="title"/>
          </p:nvPr>
        </p:nvSpPr>
        <p:spPr>
          <a:xfrm>
            <a:off x="657225" y="18851"/>
            <a:ext cx="8145523" cy="638963"/>
          </a:xfrm>
        </p:spPr>
        <p:txBody>
          <a:bodyPr>
            <a:normAutofit/>
          </a:bodyPr>
          <a:lstStyle/>
          <a:p>
            <a:pPr algn="ctr" eaLnBrk="1" hangingPunct="1"/>
            <a:r>
              <a:rPr lang="en-US" altLang="en-US" sz="3600" dirty="0"/>
              <a:t>Least Recently Used (LRU) Algorithm</a:t>
            </a:r>
          </a:p>
        </p:txBody>
      </p:sp>
      <p:sp>
        <p:nvSpPr>
          <p:cNvPr id="36867" name="Rectangle 3">
            <a:extLst>
              <a:ext uri="{FF2B5EF4-FFF2-40B4-BE49-F238E27FC236}">
                <a16:creationId xmlns:a16="http://schemas.microsoft.com/office/drawing/2014/main" id="{B3F137F8-4D5E-42D0-B9E4-ACCE3B23C8E7}"/>
              </a:ext>
            </a:extLst>
          </p:cNvPr>
          <p:cNvSpPr>
            <a:spLocks noGrp="1" noChangeArrowheads="1"/>
          </p:cNvSpPr>
          <p:nvPr>
            <p:ph idx="1"/>
          </p:nvPr>
        </p:nvSpPr>
        <p:spPr>
          <a:xfrm>
            <a:off x="877079" y="657814"/>
            <a:ext cx="7751989" cy="5182643"/>
          </a:xfrm>
        </p:spPr>
        <p:txBody>
          <a:bodyPr>
            <a:noAutofit/>
          </a:bodyPr>
          <a:lstStyle/>
          <a:p>
            <a:pPr algn="just">
              <a:defRPr/>
            </a:pPr>
            <a:r>
              <a:rPr lang="en-US" altLang="en-US" sz="2800" dirty="0"/>
              <a:t>Use past knowledge rather than future</a:t>
            </a:r>
          </a:p>
          <a:p>
            <a:pPr algn="just">
              <a:defRPr/>
            </a:pPr>
            <a:r>
              <a:rPr lang="en-US" altLang="en-US" sz="2800" dirty="0"/>
              <a:t>Replace page that has not been used in the most amount of time</a:t>
            </a:r>
          </a:p>
          <a:p>
            <a:pPr algn="just">
              <a:defRPr/>
            </a:pPr>
            <a:r>
              <a:rPr lang="en-US" altLang="en-US" sz="2800" dirty="0"/>
              <a:t>Associate time of last use with each page</a:t>
            </a:r>
          </a:p>
          <a:p>
            <a:pPr algn="just">
              <a:buFont typeface="Monotype Sorts" pitchFamily="-84" charset="2"/>
              <a:buNone/>
              <a:defRPr/>
            </a:pPr>
            <a:endParaRPr lang="en-US" altLang="en-US" sz="2800" dirty="0"/>
          </a:p>
          <a:p>
            <a:pPr algn="just">
              <a:buFont typeface="Monotype Sorts" pitchFamily="-84" charset="2"/>
              <a:buNone/>
              <a:defRPr/>
            </a:pPr>
            <a:endParaRPr lang="en-US" altLang="en-US" sz="2800" dirty="0"/>
          </a:p>
          <a:p>
            <a:pPr algn="just">
              <a:defRPr/>
            </a:pPr>
            <a:endParaRPr lang="en-US" altLang="en-US" sz="2800" dirty="0"/>
          </a:p>
          <a:p>
            <a:pPr algn="just">
              <a:defRPr/>
            </a:pPr>
            <a:endParaRPr lang="en-US" altLang="en-US" sz="2800" dirty="0"/>
          </a:p>
          <a:p>
            <a:pPr marL="0" indent="0" algn="just">
              <a:buNone/>
              <a:defRPr/>
            </a:pPr>
            <a:endParaRPr lang="en-US" altLang="en-US" sz="2800" dirty="0"/>
          </a:p>
          <a:p>
            <a:pPr algn="just">
              <a:defRPr/>
            </a:pPr>
            <a:r>
              <a:rPr lang="en-US" altLang="en-US" sz="2800" dirty="0"/>
              <a:t>12 faults – better than FIFO but worse than OPT</a:t>
            </a:r>
          </a:p>
          <a:p>
            <a:pPr algn="just">
              <a:defRPr/>
            </a:pPr>
            <a:r>
              <a:rPr lang="en-US" altLang="en-US" sz="2800" dirty="0"/>
              <a:t>Generally good algorithm and frequently used</a:t>
            </a:r>
          </a:p>
          <a:p>
            <a:pPr algn="just">
              <a:defRPr/>
            </a:pPr>
            <a:r>
              <a:rPr lang="en-US" altLang="en-US" sz="2800" dirty="0"/>
              <a:t>LRU is another example of stack algorithms; thus it does no</a:t>
            </a:r>
            <a:r>
              <a:rPr lang="en-US" altLang="ja-JP" sz="2800" dirty="0"/>
              <a:t>t suffer from Belady</a:t>
            </a:r>
            <a:r>
              <a:rPr lang="ja-JP" altLang="en-US" sz="2800" dirty="0"/>
              <a:t>’</a:t>
            </a:r>
            <a:r>
              <a:rPr lang="en-US" altLang="ja-JP" sz="2800" dirty="0"/>
              <a:t>s Anomaly</a:t>
            </a:r>
          </a:p>
          <a:p>
            <a:pPr marL="0" indent="0" algn="just">
              <a:buNone/>
              <a:defRPr/>
            </a:pPr>
            <a:endParaRPr lang="en-US" altLang="en-US" sz="2800" dirty="0"/>
          </a:p>
        </p:txBody>
      </p:sp>
      <p:pic>
        <p:nvPicPr>
          <p:cNvPr id="41988" name="Picture 4" descr="9">
            <a:extLst>
              <a:ext uri="{FF2B5EF4-FFF2-40B4-BE49-F238E27FC236}">
                <a16:creationId xmlns:a16="http://schemas.microsoft.com/office/drawing/2014/main" id="{1C494269-8B4A-4BA9-9CC1-ED6087AC3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910" y="2614467"/>
            <a:ext cx="8072461" cy="2203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89E2401-57E2-4A14-B834-943CD6AD56F0}"/>
              </a:ext>
            </a:extLst>
          </p:cNvPr>
          <p:cNvSpPr>
            <a:spLocks noGrp="1" noChangeArrowheads="1"/>
          </p:cNvSpPr>
          <p:nvPr>
            <p:ph type="title"/>
          </p:nvPr>
        </p:nvSpPr>
        <p:spPr>
          <a:xfrm>
            <a:off x="466531" y="85048"/>
            <a:ext cx="8229600" cy="576262"/>
          </a:xfrm>
        </p:spPr>
        <p:txBody>
          <a:bodyPr>
            <a:noAutofit/>
          </a:bodyPr>
          <a:lstStyle/>
          <a:p>
            <a:pPr algn="ctr" eaLnBrk="1" hangingPunct="1"/>
            <a:r>
              <a:rPr lang="en-US" altLang="en-US" sz="3600" dirty="0"/>
              <a:t>LRU Algorithm Implementation</a:t>
            </a:r>
          </a:p>
        </p:txBody>
      </p:sp>
      <p:sp>
        <p:nvSpPr>
          <p:cNvPr id="43011" name="Rectangle 3">
            <a:extLst>
              <a:ext uri="{FF2B5EF4-FFF2-40B4-BE49-F238E27FC236}">
                <a16:creationId xmlns:a16="http://schemas.microsoft.com/office/drawing/2014/main" id="{00218A1E-F600-4BE7-9C24-6205C33F8040}"/>
              </a:ext>
            </a:extLst>
          </p:cNvPr>
          <p:cNvSpPr>
            <a:spLocks noGrp="1" noChangeArrowheads="1"/>
          </p:cNvSpPr>
          <p:nvPr>
            <p:ph idx="1"/>
          </p:nvPr>
        </p:nvSpPr>
        <p:spPr>
          <a:xfrm>
            <a:off x="628650" y="747039"/>
            <a:ext cx="7900988" cy="4410750"/>
          </a:xfrm>
        </p:spPr>
        <p:txBody>
          <a:bodyPr>
            <a:noAutofit/>
          </a:bodyPr>
          <a:lstStyle/>
          <a:p>
            <a:pPr marL="0" indent="0" algn="just">
              <a:buNone/>
            </a:pPr>
            <a:r>
              <a:rPr lang="en-US" altLang="en-US" sz="2800" b="1" dirty="0"/>
              <a:t>Time-counter implementation:</a:t>
            </a:r>
          </a:p>
          <a:p>
            <a:pPr marL="171450" lvl="1" algn="just">
              <a:spcBef>
                <a:spcPts val="750"/>
              </a:spcBef>
            </a:pPr>
            <a:r>
              <a:rPr lang="en-US" altLang="en-US" sz="2800" dirty="0"/>
              <a:t>Every page entry has a time-counter variable; every time a page is referenced through this entry, copy the value of the clock into the time-counter.</a:t>
            </a:r>
          </a:p>
          <a:p>
            <a:pPr marL="171450" lvl="1" algn="just">
              <a:spcBef>
                <a:spcPts val="750"/>
              </a:spcBef>
            </a:pPr>
            <a:r>
              <a:rPr lang="en-US" altLang="en-US" sz="2800" dirty="0"/>
              <a:t>When a page needs to be changed, look at the time-counters to find smallest value.</a:t>
            </a:r>
          </a:p>
          <a:p>
            <a:pPr marL="171450" lvl="1" algn="just">
              <a:spcBef>
                <a:spcPts val="750"/>
              </a:spcBef>
            </a:pPr>
            <a:r>
              <a:rPr lang="en-US" altLang="en-US" sz="2800" dirty="0"/>
              <a:t>The </a:t>
            </a:r>
            <a:r>
              <a:rPr lang="en-US" altLang="en-US" sz="2800" b="1" dirty="0"/>
              <a:t>clock is incremented for every memory reference</a:t>
            </a:r>
            <a:r>
              <a:rPr lang="en-US" altLang="en-US" sz="2800" dirty="0"/>
              <a:t>.</a:t>
            </a:r>
          </a:p>
        </p:txBody>
      </p:sp>
    </p:spTree>
    <p:extLst>
      <p:ext uri="{BB962C8B-B14F-4D97-AF65-F5344CB8AC3E}">
        <p14:creationId xmlns:p14="http://schemas.microsoft.com/office/powerpoint/2010/main" val="2101624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89E2401-57E2-4A14-B834-943CD6AD56F0}"/>
              </a:ext>
            </a:extLst>
          </p:cNvPr>
          <p:cNvSpPr>
            <a:spLocks noGrp="1" noChangeArrowheads="1"/>
          </p:cNvSpPr>
          <p:nvPr>
            <p:ph type="title"/>
          </p:nvPr>
        </p:nvSpPr>
        <p:spPr>
          <a:xfrm>
            <a:off x="466531" y="85048"/>
            <a:ext cx="8229600" cy="576262"/>
          </a:xfrm>
        </p:spPr>
        <p:txBody>
          <a:bodyPr>
            <a:noAutofit/>
          </a:bodyPr>
          <a:lstStyle/>
          <a:p>
            <a:pPr algn="ctr" eaLnBrk="1" hangingPunct="1"/>
            <a:r>
              <a:rPr lang="en-US" altLang="en-US" sz="3600" dirty="0"/>
              <a:t>LRU Algorithm Implementation</a:t>
            </a:r>
          </a:p>
        </p:txBody>
      </p:sp>
      <p:sp>
        <p:nvSpPr>
          <p:cNvPr id="43011" name="Rectangle 3">
            <a:extLst>
              <a:ext uri="{FF2B5EF4-FFF2-40B4-BE49-F238E27FC236}">
                <a16:creationId xmlns:a16="http://schemas.microsoft.com/office/drawing/2014/main" id="{00218A1E-F600-4BE7-9C24-6205C33F8040}"/>
              </a:ext>
            </a:extLst>
          </p:cNvPr>
          <p:cNvSpPr>
            <a:spLocks noGrp="1" noChangeArrowheads="1"/>
          </p:cNvSpPr>
          <p:nvPr>
            <p:ph idx="1"/>
          </p:nvPr>
        </p:nvSpPr>
        <p:spPr>
          <a:xfrm>
            <a:off x="628650" y="661310"/>
            <a:ext cx="7900988" cy="6053815"/>
          </a:xfrm>
        </p:spPr>
        <p:txBody>
          <a:bodyPr>
            <a:noAutofit/>
          </a:bodyPr>
          <a:lstStyle/>
          <a:p>
            <a:pPr marL="0" indent="0" algn="just">
              <a:buNone/>
            </a:pPr>
            <a:r>
              <a:rPr lang="en-US" altLang="en-US" sz="2800" b="1" dirty="0"/>
              <a:t>Stack implementation:</a:t>
            </a:r>
          </a:p>
          <a:p>
            <a:pPr marL="171450" lvl="1" algn="just">
              <a:spcBef>
                <a:spcPts val="750"/>
              </a:spcBef>
            </a:pPr>
            <a:r>
              <a:rPr lang="en-US" altLang="en-US" sz="2800" dirty="0"/>
              <a:t>Keep a stack of page numbers in a double link form</a:t>
            </a:r>
          </a:p>
          <a:p>
            <a:pPr marL="171450" lvl="1" algn="just">
              <a:spcBef>
                <a:spcPts val="750"/>
              </a:spcBef>
            </a:pPr>
            <a:r>
              <a:rPr lang="en-US" altLang="en-US" sz="2800" dirty="0"/>
              <a:t> Whenever a page is referenced, it is removed from the stack and </a:t>
            </a:r>
            <a:r>
              <a:rPr lang="en-US" altLang="en-US" sz="2800" b="1" dirty="0"/>
              <a:t>put on the top</a:t>
            </a:r>
            <a:r>
              <a:rPr lang="en-US" altLang="en-US" sz="2800" dirty="0"/>
              <a:t>. </a:t>
            </a:r>
          </a:p>
          <a:p>
            <a:pPr marL="171450" lvl="1" algn="just">
              <a:spcBef>
                <a:spcPts val="750"/>
              </a:spcBef>
            </a:pPr>
            <a:r>
              <a:rPr lang="en-US" altLang="en-US" sz="2800" dirty="0"/>
              <a:t>So, the most recently used page is always at the top of the stack, and the least recently used page is always at the bottom.</a:t>
            </a:r>
          </a:p>
          <a:p>
            <a:pPr marL="171450" lvl="1" algn="just">
              <a:spcBef>
                <a:spcPts val="750"/>
              </a:spcBef>
            </a:pPr>
            <a:r>
              <a:rPr lang="en-US" altLang="en-US" sz="2800" dirty="0"/>
              <a:t> The best implement of this approach by using a </a:t>
            </a:r>
            <a:r>
              <a:rPr lang="en-US" altLang="en-US" sz="2800" b="1" dirty="0"/>
              <a:t>doubly linked list </a:t>
            </a:r>
            <a:r>
              <a:rPr lang="en-US" altLang="en-US" sz="2800" dirty="0"/>
              <a:t>with a head pointer and a tail pointer. </a:t>
            </a:r>
          </a:p>
          <a:p>
            <a:pPr marL="171450" lvl="1" algn="just">
              <a:spcBef>
                <a:spcPts val="750"/>
              </a:spcBef>
            </a:pPr>
            <a:r>
              <a:rPr lang="en-US" altLang="en-US" sz="2800" dirty="0"/>
              <a:t>Removing a page and putting it on the top of the stack then </a:t>
            </a:r>
            <a:r>
              <a:rPr lang="en-US" altLang="en-US" sz="2800" b="1" dirty="0"/>
              <a:t>requires changing six pointers at worst</a:t>
            </a:r>
            <a:r>
              <a:rPr lang="en-US" altLang="en-US" sz="2800" dirty="0"/>
              <a:t>.</a:t>
            </a:r>
          </a:p>
          <a:p>
            <a:pPr marL="171450" lvl="1" algn="just">
              <a:spcBef>
                <a:spcPts val="750"/>
              </a:spcBef>
            </a:pPr>
            <a:r>
              <a:rPr lang="en-US" altLang="en-US" sz="2800" dirty="0"/>
              <a:t>But each update more expensive</a:t>
            </a:r>
          </a:p>
          <a:p>
            <a:pPr marL="171450" lvl="1" algn="just">
              <a:spcBef>
                <a:spcPts val="750"/>
              </a:spcBef>
            </a:pPr>
            <a:r>
              <a:rPr lang="en-US" altLang="en-US" sz="2800" b="1" dirty="0"/>
              <a:t>No search for replacement</a:t>
            </a:r>
            <a:r>
              <a:rPr lang="en-US" altLang="en-US" sz="2800" dirty="0"/>
              <a:t>. </a:t>
            </a:r>
          </a:p>
        </p:txBody>
      </p:sp>
    </p:spTree>
    <p:extLst>
      <p:ext uri="{BB962C8B-B14F-4D97-AF65-F5344CB8AC3E}">
        <p14:creationId xmlns:p14="http://schemas.microsoft.com/office/powerpoint/2010/main" val="42734522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89E2401-57E2-4A14-B834-943CD6AD56F0}"/>
              </a:ext>
            </a:extLst>
          </p:cNvPr>
          <p:cNvSpPr>
            <a:spLocks noGrp="1" noChangeArrowheads="1"/>
          </p:cNvSpPr>
          <p:nvPr>
            <p:ph type="title"/>
          </p:nvPr>
        </p:nvSpPr>
        <p:spPr>
          <a:xfrm>
            <a:off x="466531" y="90204"/>
            <a:ext cx="8229600" cy="576262"/>
          </a:xfrm>
        </p:spPr>
        <p:txBody>
          <a:bodyPr>
            <a:noAutofit/>
          </a:bodyPr>
          <a:lstStyle/>
          <a:p>
            <a:pPr algn="ctr" eaLnBrk="1" hangingPunct="1"/>
            <a:r>
              <a:rPr lang="en-US" altLang="en-US" sz="4000" dirty="0"/>
              <a:t>Stack Implementation</a:t>
            </a:r>
          </a:p>
        </p:txBody>
      </p:sp>
      <p:sp>
        <p:nvSpPr>
          <p:cNvPr id="43011" name="Rectangle 3">
            <a:extLst>
              <a:ext uri="{FF2B5EF4-FFF2-40B4-BE49-F238E27FC236}">
                <a16:creationId xmlns:a16="http://schemas.microsoft.com/office/drawing/2014/main" id="{00218A1E-F600-4BE7-9C24-6205C33F8040}"/>
              </a:ext>
            </a:extLst>
          </p:cNvPr>
          <p:cNvSpPr>
            <a:spLocks noGrp="1" noChangeArrowheads="1"/>
          </p:cNvSpPr>
          <p:nvPr>
            <p:ph idx="1"/>
          </p:nvPr>
        </p:nvSpPr>
        <p:spPr>
          <a:xfrm>
            <a:off x="728663" y="723619"/>
            <a:ext cx="7967467" cy="5473982"/>
          </a:xfrm>
        </p:spPr>
        <p:txBody>
          <a:bodyPr>
            <a:normAutofit/>
          </a:bodyPr>
          <a:lstStyle/>
          <a:p>
            <a:pPr algn="just"/>
            <a:r>
              <a:rPr lang="en-US" altLang="en-US" sz="2800" dirty="0"/>
              <a:t>Use of a stack to record most recent page references</a:t>
            </a:r>
            <a:endParaRPr lang="en-US" sz="2800" dirty="0"/>
          </a:p>
          <a:p>
            <a:endParaRPr lang="en-US" altLang="en-US" sz="2800" dirty="0"/>
          </a:p>
        </p:txBody>
      </p:sp>
      <p:pic>
        <p:nvPicPr>
          <p:cNvPr id="4" name="Picture 1" descr="9_16.pdf">
            <a:extLst>
              <a:ext uri="{FF2B5EF4-FFF2-40B4-BE49-F238E27FC236}">
                <a16:creationId xmlns:a16="http://schemas.microsoft.com/office/drawing/2014/main" id="{650D8023-264A-4AC3-B430-E0C59C953E5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28713" y="1310109"/>
            <a:ext cx="6772275" cy="5290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98413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33BF15-EA5A-4A49-BB65-331FF866E49F}"/>
              </a:ext>
            </a:extLst>
          </p:cNvPr>
          <p:cNvSpPr>
            <a:spLocks noGrp="1" noChangeArrowheads="1"/>
          </p:cNvSpPr>
          <p:nvPr>
            <p:ph type="title"/>
          </p:nvPr>
        </p:nvSpPr>
        <p:spPr>
          <a:xfrm>
            <a:off x="228600" y="149948"/>
            <a:ext cx="8601075" cy="576262"/>
          </a:xfrm>
        </p:spPr>
        <p:txBody>
          <a:bodyPr>
            <a:noAutofit/>
          </a:bodyPr>
          <a:lstStyle/>
          <a:p>
            <a:pPr algn="ctr" eaLnBrk="1" hangingPunct="1"/>
            <a:r>
              <a:rPr lang="en-US" altLang="en-US" sz="4000" dirty="0"/>
              <a:t>LRU Approximation Page Replacement</a:t>
            </a:r>
          </a:p>
        </p:txBody>
      </p:sp>
      <p:sp>
        <p:nvSpPr>
          <p:cNvPr id="45059" name="Rectangle 3">
            <a:extLst>
              <a:ext uri="{FF2B5EF4-FFF2-40B4-BE49-F238E27FC236}">
                <a16:creationId xmlns:a16="http://schemas.microsoft.com/office/drawing/2014/main" id="{BC57D3A7-FA71-4D00-9C2E-051C34BFABA7}"/>
              </a:ext>
            </a:extLst>
          </p:cNvPr>
          <p:cNvSpPr>
            <a:spLocks noGrp="1" noChangeArrowheads="1"/>
          </p:cNvSpPr>
          <p:nvPr>
            <p:ph idx="1"/>
          </p:nvPr>
        </p:nvSpPr>
        <p:spPr>
          <a:xfrm>
            <a:off x="839755" y="842963"/>
            <a:ext cx="7664484" cy="5388245"/>
          </a:xfrm>
        </p:spPr>
        <p:txBody>
          <a:bodyPr>
            <a:normAutofit/>
          </a:bodyPr>
          <a:lstStyle/>
          <a:p>
            <a:pPr algn="just"/>
            <a:r>
              <a:rPr lang="en-US" altLang="en-US" sz="2800" dirty="0"/>
              <a:t>Needs special hardware</a:t>
            </a:r>
          </a:p>
          <a:p>
            <a:pPr marL="0" indent="0" algn="just">
              <a:buNone/>
            </a:pPr>
            <a:r>
              <a:rPr lang="en-US" altLang="en-US" sz="2800" b="1" dirty="0"/>
              <a:t>One bit solution:</a:t>
            </a:r>
          </a:p>
          <a:p>
            <a:pPr algn="just"/>
            <a:r>
              <a:rPr lang="en-US" altLang="en-US" sz="2800" dirty="0"/>
              <a:t>Reference bit</a:t>
            </a:r>
          </a:p>
          <a:p>
            <a:pPr marL="171450" lvl="1" algn="just">
              <a:spcBef>
                <a:spcPts val="750"/>
              </a:spcBef>
            </a:pPr>
            <a:r>
              <a:rPr lang="en-US" altLang="en-US" sz="2800" dirty="0"/>
              <a:t>With each page associate a bit, initially = 0</a:t>
            </a:r>
          </a:p>
          <a:p>
            <a:pPr marL="171450" lvl="1" algn="just">
              <a:spcBef>
                <a:spcPts val="750"/>
              </a:spcBef>
            </a:pPr>
            <a:r>
              <a:rPr lang="en-US" altLang="en-US" sz="2800" dirty="0"/>
              <a:t>When page is referenced bit set to 1</a:t>
            </a:r>
          </a:p>
          <a:p>
            <a:pPr algn="just"/>
            <a:r>
              <a:rPr lang="en-US" altLang="en-US" sz="2800" dirty="0"/>
              <a:t>Replace any with reference bit = 0 (if one exists).</a:t>
            </a:r>
          </a:p>
          <a:p>
            <a:pPr algn="just"/>
            <a:r>
              <a:rPr lang="en-US" altLang="en-US" sz="2800" dirty="0"/>
              <a:t>After some time, we can determine which pages have been used and which have not been used by examining the reference bits, although we do not know the order of use.</a:t>
            </a:r>
          </a:p>
        </p:txBody>
      </p:sp>
    </p:spTree>
    <p:extLst>
      <p:ext uri="{BB962C8B-B14F-4D97-AF65-F5344CB8AC3E}">
        <p14:creationId xmlns:p14="http://schemas.microsoft.com/office/powerpoint/2010/main" val="41356722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33BF15-EA5A-4A49-BB65-331FF866E49F}"/>
              </a:ext>
            </a:extLst>
          </p:cNvPr>
          <p:cNvSpPr>
            <a:spLocks noGrp="1" noChangeArrowheads="1"/>
          </p:cNvSpPr>
          <p:nvPr>
            <p:ph type="title"/>
          </p:nvPr>
        </p:nvSpPr>
        <p:spPr>
          <a:xfrm>
            <a:off x="228600" y="149948"/>
            <a:ext cx="8601075" cy="576262"/>
          </a:xfrm>
        </p:spPr>
        <p:txBody>
          <a:bodyPr>
            <a:noAutofit/>
          </a:bodyPr>
          <a:lstStyle/>
          <a:p>
            <a:pPr algn="ctr" eaLnBrk="1" hangingPunct="1"/>
            <a:r>
              <a:rPr lang="en-US" altLang="en-US" sz="4000" dirty="0"/>
              <a:t>LRU Approximation Page Replacement</a:t>
            </a:r>
          </a:p>
        </p:txBody>
      </p:sp>
      <p:sp>
        <p:nvSpPr>
          <p:cNvPr id="45059" name="Rectangle 3">
            <a:extLst>
              <a:ext uri="{FF2B5EF4-FFF2-40B4-BE49-F238E27FC236}">
                <a16:creationId xmlns:a16="http://schemas.microsoft.com/office/drawing/2014/main" id="{BC57D3A7-FA71-4D00-9C2E-051C34BFABA7}"/>
              </a:ext>
            </a:extLst>
          </p:cNvPr>
          <p:cNvSpPr>
            <a:spLocks noGrp="1" noChangeArrowheads="1"/>
          </p:cNvSpPr>
          <p:nvPr>
            <p:ph idx="1"/>
          </p:nvPr>
        </p:nvSpPr>
        <p:spPr>
          <a:xfrm>
            <a:off x="839755" y="842963"/>
            <a:ext cx="7664484" cy="5700712"/>
          </a:xfrm>
        </p:spPr>
        <p:txBody>
          <a:bodyPr>
            <a:normAutofit fontScale="92500" lnSpcReduction="10000"/>
          </a:bodyPr>
          <a:lstStyle/>
          <a:p>
            <a:pPr marL="0" indent="0" algn="just">
              <a:lnSpc>
                <a:spcPct val="100000"/>
              </a:lnSpc>
              <a:buNone/>
            </a:pPr>
            <a:r>
              <a:rPr lang="en-US" altLang="en-US" sz="3000" b="1" dirty="0"/>
              <a:t>One byte solution:</a:t>
            </a:r>
          </a:p>
          <a:p>
            <a:pPr algn="just">
              <a:lnSpc>
                <a:spcPct val="100000"/>
              </a:lnSpc>
            </a:pPr>
            <a:r>
              <a:rPr lang="en-US" altLang="en-US" sz="3000" dirty="0"/>
              <a:t>We can keep an 8-bit byte for each page in a table in memory.</a:t>
            </a:r>
          </a:p>
          <a:p>
            <a:pPr algn="just">
              <a:lnSpc>
                <a:spcPct val="100000"/>
              </a:lnSpc>
            </a:pPr>
            <a:r>
              <a:rPr lang="en-US" altLang="en-US" sz="3000" dirty="0"/>
              <a:t>The OS shifts the reference bit for each page into the high-order bit of its 8-bit byte, shifting the other bits right by 1 bit and discarding the low-order bit.</a:t>
            </a:r>
          </a:p>
          <a:p>
            <a:pPr algn="just">
              <a:lnSpc>
                <a:spcPct val="100000"/>
              </a:lnSpc>
            </a:pPr>
            <a:r>
              <a:rPr lang="en-US" altLang="en-US" sz="3000" dirty="0"/>
              <a:t>A page with a history register value of 11000100 has been used more recently than one with a value of 01110111. </a:t>
            </a:r>
          </a:p>
          <a:p>
            <a:pPr algn="just">
              <a:lnSpc>
                <a:spcPct val="100000"/>
              </a:lnSpc>
            </a:pPr>
            <a:r>
              <a:rPr lang="en-US" altLang="en-US" sz="3000" dirty="0"/>
              <a:t>If we interpret these 8-bit bytes as unsigned integers, the page with the lowest number is the LRU page, and it can be replaced. </a:t>
            </a:r>
          </a:p>
          <a:p>
            <a:pPr algn="just"/>
            <a:endParaRPr lang="en-US" altLang="en-US" sz="2800" dirty="0">
              <a:latin typeface="Calibri "/>
            </a:endParaRPr>
          </a:p>
        </p:txBody>
      </p:sp>
    </p:spTree>
    <p:extLst>
      <p:ext uri="{BB962C8B-B14F-4D97-AF65-F5344CB8AC3E}">
        <p14:creationId xmlns:p14="http://schemas.microsoft.com/office/powerpoint/2010/main" val="4119575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33BF15-EA5A-4A49-BB65-331FF866E49F}"/>
              </a:ext>
            </a:extLst>
          </p:cNvPr>
          <p:cNvSpPr>
            <a:spLocks noGrp="1" noChangeArrowheads="1"/>
          </p:cNvSpPr>
          <p:nvPr>
            <p:ph type="title"/>
          </p:nvPr>
        </p:nvSpPr>
        <p:spPr>
          <a:xfrm>
            <a:off x="228600" y="149948"/>
            <a:ext cx="8601075" cy="576262"/>
          </a:xfrm>
        </p:spPr>
        <p:txBody>
          <a:bodyPr>
            <a:noAutofit/>
          </a:bodyPr>
          <a:lstStyle/>
          <a:p>
            <a:pPr algn="ctr" eaLnBrk="1" hangingPunct="1"/>
            <a:r>
              <a:rPr lang="en-US" altLang="en-US" sz="4000" dirty="0"/>
              <a:t>LRU Approximation Page Replacement</a:t>
            </a:r>
          </a:p>
        </p:txBody>
      </p:sp>
      <p:sp>
        <p:nvSpPr>
          <p:cNvPr id="45059" name="Rectangle 3">
            <a:extLst>
              <a:ext uri="{FF2B5EF4-FFF2-40B4-BE49-F238E27FC236}">
                <a16:creationId xmlns:a16="http://schemas.microsoft.com/office/drawing/2014/main" id="{BC57D3A7-FA71-4D00-9C2E-051C34BFABA7}"/>
              </a:ext>
            </a:extLst>
          </p:cNvPr>
          <p:cNvSpPr>
            <a:spLocks noGrp="1" noChangeArrowheads="1"/>
          </p:cNvSpPr>
          <p:nvPr>
            <p:ph idx="1"/>
          </p:nvPr>
        </p:nvSpPr>
        <p:spPr>
          <a:xfrm>
            <a:off x="839755" y="842963"/>
            <a:ext cx="7664484" cy="5700712"/>
          </a:xfrm>
        </p:spPr>
        <p:txBody>
          <a:bodyPr>
            <a:normAutofit fontScale="92500" lnSpcReduction="10000"/>
          </a:bodyPr>
          <a:lstStyle/>
          <a:p>
            <a:pPr marL="0" indent="0" algn="just">
              <a:lnSpc>
                <a:spcPct val="100000"/>
              </a:lnSpc>
              <a:buNone/>
            </a:pPr>
            <a:r>
              <a:rPr lang="en-US" altLang="en-US" sz="3000" b="1" dirty="0"/>
              <a:t>Second-Chance algorithm:</a:t>
            </a:r>
          </a:p>
          <a:p>
            <a:pPr algn="just">
              <a:lnSpc>
                <a:spcPct val="100000"/>
              </a:lnSpc>
            </a:pPr>
            <a:r>
              <a:rPr lang="en-US" altLang="en-US" sz="3000" dirty="0"/>
              <a:t>The basic algorithm of second-chance replacement is a FIFO replacement algorithm.</a:t>
            </a:r>
          </a:p>
          <a:p>
            <a:pPr algn="just">
              <a:lnSpc>
                <a:spcPct val="100000"/>
              </a:lnSpc>
            </a:pPr>
            <a:r>
              <a:rPr lang="en-US" altLang="en-US" sz="3000" dirty="0"/>
              <a:t> When a page has been selected, however, we inspect its reference bit. </a:t>
            </a:r>
          </a:p>
          <a:p>
            <a:pPr algn="just">
              <a:lnSpc>
                <a:spcPct val="100000"/>
              </a:lnSpc>
            </a:pPr>
            <a:r>
              <a:rPr lang="en-US" altLang="en-US" sz="3000" dirty="0"/>
              <a:t>If the value is 0, we proceed to replace this page. </a:t>
            </a:r>
          </a:p>
          <a:p>
            <a:pPr algn="just">
              <a:lnSpc>
                <a:spcPct val="100000"/>
              </a:lnSpc>
            </a:pPr>
            <a:r>
              <a:rPr lang="en-US" altLang="en-US" sz="3000" dirty="0"/>
              <a:t>But if the reference bit is set to 1, we give the page a second chance and move on to select the next FIFO page.</a:t>
            </a:r>
          </a:p>
          <a:p>
            <a:pPr algn="just">
              <a:lnSpc>
                <a:spcPct val="100000"/>
              </a:lnSpc>
            </a:pPr>
            <a:r>
              <a:rPr lang="en-US" altLang="en-US" sz="3000" dirty="0"/>
              <a:t>When a page gets a second chance, its reference bit is cleared, and its arrival time is reset to the current time. </a:t>
            </a:r>
          </a:p>
          <a:p>
            <a:pPr algn="just"/>
            <a:endParaRPr lang="en-US" altLang="en-US" sz="2800" dirty="0">
              <a:latin typeface="Calibri "/>
            </a:endParaRPr>
          </a:p>
        </p:txBody>
      </p:sp>
    </p:spTree>
    <p:extLst>
      <p:ext uri="{BB962C8B-B14F-4D97-AF65-F5344CB8AC3E}">
        <p14:creationId xmlns:p14="http://schemas.microsoft.com/office/powerpoint/2010/main" val="26997077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33BF15-EA5A-4A49-BB65-331FF866E49F}"/>
              </a:ext>
            </a:extLst>
          </p:cNvPr>
          <p:cNvSpPr>
            <a:spLocks noGrp="1" noChangeArrowheads="1"/>
          </p:cNvSpPr>
          <p:nvPr>
            <p:ph type="title"/>
          </p:nvPr>
        </p:nvSpPr>
        <p:spPr>
          <a:xfrm>
            <a:off x="385763" y="103605"/>
            <a:ext cx="8623438" cy="576262"/>
          </a:xfrm>
        </p:spPr>
        <p:txBody>
          <a:bodyPr>
            <a:noAutofit/>
          </a:bodyPr>
          <a:lstStyle/>
          <a:p>
            <a:pPr algn="ctr" eaLnBrk="1" hangingPunct="1"/>
            <a:r>
              <a:rPr lang="en-US" altLang="en-US" sz="4000" dirty="0"/>
              <a:t>LRU Approximation Algorithms</a:t>
            </a:r>
          </a:p>
        </p:txBody>
      </p:sp>
      <p:pic>
        <p:nvPicPr>
          <p:cNvPr id="5" name="Picture 1" descr="9_17.pdf">
            <a:extLst>
              <a:ext uri="{FF2B5EF4-FFF2-40B4-BE49-F238E27FC236}">
                <a16:creationId xmlns:a16="http://schemas.microsoft.com/office/drawing/2014/main" id="{5B0ED9B7-9A22-4A06-8760-CF9EC5AFD83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497112" y="765595"/>
            <a:ext cx="5512089" cy="5563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BC57D3A7-FA71-4D00-9C2E-051C34BFABA7}"/>
              </a:ext>
            </a:extLst>
          </p:cNvPr>
          <p:cNvSpPr>
            <a:spLocks noGrp="1" noChangeArrowheads="1"/>
          </p:cNvSpPr>
          <p:nvPr>
            <p:ph idx="1"/>
          </p:nvPr>
        </p:nvSpPr>
        <p:spPr>
          <a:xfrm>
            <a:off x="32614" y="679867"/>
            <a:ext cx="3357562" cy="5700712"/>
          </a:xfrm>
        </p:spPr>
        <p:txBody>
          <a:bodyPr>
            <a:normAutofit/>
          </a:bodyPr>
          <a:lstStyle/>
          <a:p>
            <a:pPr algn="just"/>
            <a:r>
              <a:rPr lang="en-US" altLang="en-US" sz="2800" dirty="0"/>
              <a:t>A pointer indicates which page is to be replaced next. </a:t>
            </a:r>
          </a:p>
          <a:p>
            <a:pPr algn="just"/>
            <a:r>
              <a:rPr lang="en-US" altLang="en-US" sz="2800" dirty="0"/>
              <a:t>When a frame is needed, the pointer advances until it finds a page with a 0 reference bit. </a:t>
            </a:r>
          </a:p>
          <a:p>
            <a:pPr algn="just"/>
            <a:r>
              <a:rPr lang="en-US" altLang="en-US" sz="2800" dirty="0"/>
              <a:t>As it advances, it clears the reference bits. Once a victim page is found, the page is replaced.</a:t>
            </a:r>
            <a:endParaRPr lang="en-US" altLang="en-US" sz="2800" dirty="0">
              <a:latin typeface="Calibri "/>
            </a:endParaRPr>
          </a:p>
        </p:txBody>
      </p:sp>
    </p:spTree>
    <p:extLst>
      <p:ext uri="{BB962C8B-B14F-4D97-AF65-F5344CB8AC3E}">
        <p14:creationId xmlns:p14="http://schemas.microsoft.com/office/powerpoint/2010/main" val="2699276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9033BF15-EA5A-4A49-BB65-331FF866E49F}"/>
              </a:ext>
            </a:extLst>
          </p:cNvPr>
          <p:cNvSpPr>
            <a:spLocks noGrp="1" noChangeArrowheads="1"/>
          </p:cNvSpPr>
          <p:nvPr>
            <p:ph type="title"/>
          </p:nvPr>
        </p:nvSpPr>
        <p:spPr>
          <a:xfrm>
            <a:off x="228600" y="107084"/>
            <a:ext cx="8601075" cy="576262"/>
          </a:xfrm>
        </p:spPr>
        <p:txBody>
          <a:bodyPr>
            <a:noAutofit/>
          </a:bodyPr>
          <a:lstStyle/>
          <a:p>
            <a:pPr algn="ctr" eaLnBrk="1" hangingPunct="1"/>
            <a:r>
              <a:rPr lang="en-US" altLang="en-US" sz="4000" dirty="0"/>
              <a:t>LRU Approximation Page Replacement</a:t>
            </a:r>
          </a:p>
        </p:txBody>
      </p:sp>
      <p:sp>
        <p:nvSpPr>
          <p:cNvPr id="45059" name="Rectangle 3">
            <a:extLst>
              <a:ext uri="{FF2B5EF4-FFF2-40B4-BE49-F238E27FC236}">
                <a16:creationId xmlns:a16="http://schemas.microsoft.com/office/drawing/2014/main" id="{BC57D3A7-FA71-4D00-9C2E-051C34BFABA7}"/>
              </a:ext>
            </a:extLst>
          </p:cNvPr>
          <p:cNvSpPr>
            <a:spLocks noGrp="1" noChangeArrowheads="1"/>
          </p:cNvSpPr>
          <p:nvPr>
            <p:ph idx="1"/>
          </p:nvPr>
        </p:nvSpPr>
        <p:spPr>
          <a:xfrm>
            <a:off x="585788" y="683346"/>
            <a:ext cx="8029575" cy="6060353"/>
          </a:xfrm>
        </p:spPr>
        <p:txBody>
          <a:bodyPr>
            <a:normAutofit fontScale="92500" lnSpcReduction="20000"/>
          </a:bodyPr>
          <a:lstStyle/>
          <a:p>
            <a:pPr marL="0" indent="0" algn="just">
              <a:lnSpc>
                <a:spcPct val="100000"/>
              </a:lnSpc>
              <a:buNone/>
            </a:pPr>
            <a:r>
              <a:rPr lang="en-US" altLang="en-US" sz="3000" b="1" dirty="0"/>
              <a:t>Enhanced Second-Chance algorithm:</a:t>
            </a:r>
          </a:p>
          <a:p>
            <a:pPr algn="just">
              <a:lnSpc>
                <a:spcPct val="100000"/>
              </a:lnSpc>
            </a:pPr>
            <a:r>
              <a:rPr lang="en-US" altLang="en-US" sz="3000" dirty="0"/>
              <a:t>We can enhance the second-chance algorithm by considering the reference bit and the modify bit as an ordered pair. </a:t>
            </a:r>
          </a:p>
          <a:p>
            <a:pPr marL="400050" indent="-342900" algn="just">
              <a:lnSpc>
                <a:spcPct val="100000"/>
              </a:lnSpc>
              <a:buFont typeface="+mj-lt"/>
              <a:buAutoNum type="arabicParenR"/>
            </a:pPr>
            <a:r>
              <a:rPr lang="en-US" altLang="en-US" sz="3000" dirty="0"/>
              <a:t>(0, 0) neither recently used nor modified—best page to replace</a:t>
            </a:r>
          </a:p>
          <a:p>
            <a:pPr marL="400050" indent="-342900" algn="just">
              <a:lnSpc>
                <a:spcPct val="100000"/>
              </a:lnSpc>
              <a:buFont typeface="+mj-lt"/>
              <a:buAutoNum type="arabicParenR"/>
            </a:pPr>
            <a:r>
              <a:rPr lang="en-US" altLang="en-US" sz="3000" dirty="0"/>
              <a:t>(0, 1) not recently used but modified—not quite as good, because the page will need to be written out before replacement</a:t>
            </a:r>
          </a:p>
          <a:p>
            <a:pPr marL="400050" indent="-342900" algn="just">
              <a:lnSpc>
                <a:spcPct val="100000"/>
              </a:lnSpc>
              <a:buFont typeface="+mj-lt"/>
              <a:buAutoNum type="arabicParenR"/>
            </a:pPr>
            <a:r>
              <a:rPr lang="en-US" altLang="en-US" sz="3000" dirty="0"/>
              <a:t>(1, 0) recently used but clean—probably will be used again soon</a:t>
            </a:r>
          </a:p>
          <a:p>
            <a:pPr marL="400050" indent="-342900" algn="just">
              <a:lnSpc>
                <a:spcPct val="100000"/>
              </a:lnSpc>
              <a:buFont typeface="+mj-lt"/>
              <a:buAutoNum type="arabicParenR"/>
            </a:pPr>
            <a:r>
              <a:rPr lang="en-US" altLang="en-US" sz="3000" dirty="0"/>
              <a:t>(1, 1) recently used and modified—probably will be used again soon, and the page will be need to be written out to secondary storage before it can be replaced</a:t>
            </a:r>
          </a:p>
        </p:txBody>
      </p:sp>
    </p:spTree>
    <p:extLst>
      <p:ext uri="{BB962C8B-B14F-4D97-AF65-F5344CB8AC3E}">
        <p14:creationId xmlns:p14="http://schemas.microsoft.com/office/powerpoint/2010/main" val="1610602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E1C6E0A3-953D-4211-ACA7-F7B6931BDD20}"/>
              </a:ext>
            </a:extLst>
          </p:cNvPr>
          <p:cNvSpPr>
            <a:spLocks noGrp="1" noChangeArrowheads="1"/>
          </p:cNvSpPr>
          <p:nvPr>
            <p:ph type="title"/>
          </p:nvPr>
        </p:nvSpPr>
        <p:spPr>
          <a:xfrm>
            <a:off x="457200" y="115020"/>
            <a:ext cx="8229600" cy="576262"/>
          </a:xfrm>
        </p:spPr>
        <p:txBody>
          <a:bodyPr>
            <a:noAutofit/>
          </a:bodyPr>
          <a:lstStyle/>
          <a:p>
            <a:pPr algn="ctr" eaLnBrk="1" hangingPunct="1"/>
            <a:r>
              <a:rPr lang="en-US" altLang="en-US" sz="4000" dirty="0"/>
              <a:t>Counting Algorithms</a:t>
            </a:r>
          </a:p>
        </p:txBody>
      </p:sp>
      <p:sp>
        <p:nvSpPr>
          <p:cNvPr id="48131" name="Rectangle 3">
            <a:extLst>
              <a:ext uri="{FF2B5EF4-FFF2-40B4-BE49-F238E27FC236}">
                <a16:creationId xmlns:a16="http://schemas.microsoft.com/office/drawing/2014/main" id="{B52D61FC-D241-4C09-9149-F474825897E3}"/>
              </a:ext>
            </a:extLst>
          </p:cNvPr>
          <p:cNvSpPr>
            <a:spLocks noGrp="1" noChangeArrowheads="1"/>
          </p:cNvSpPr>
          <p:nvPr>
            <p:ph idx="1"/>
          </p:nvPr>
        </p:nvSpPr>
        <p:spPr>
          <a:xfrm>
            <a:off x="858419" y="900114"/>
            <a:ext cx="7311024" cy="4707964"/>
          </a:xfrm>
        </p:spPr>
        <p:txBody>
          <a:bodyPr>
            <a:normAutofit/>
          </a:bodyPr>
          <a:lstStyle/>
          <a:p>
            <a:pPr algn="just"/>
            <a:r>
              <a:rPr lang="en-US" altLang="en-US" sz="2800" dirty="0"/>
              <a:t>Keep a counter of the number of references that have been made to each page</a:t>
            </a:r>
          </a:p>
          <a:p>
            <a:pPr lvl="1" algn="just"/>
            <a:r>
              <a:rPr lang="en-US" altLang="en-US" sz="2800" dirty="0"/>
              <a:t>Not common</a:t>
            </a:r>
          </a:p>
          <a:p>
            <a:pPr algn="just"/>
            <a:r>
              <a:rPr lang="en-US" altLang="en-US" sz="2800" b="1" dirty="0">
                <a:latin typeface="+mj-lt"/>
              </a:rPr>
              <a:t>Lease Frequently Used </a:t>
            </a:r>
            <a:r>
              <a:rPr lang="en-US" altLang="en-US" sz="2800" dirty="0"/>
              <a:t>(</a:t>
            </a:r>
            <a:r>
              <a:rPr lang="en-US" altLang="en-US" sz="2800" b="1" dirty="0">
                <a:latin typeface="+mj-lt"/>
              </a:rPr>
              <a:t>LFU</a:t>
            </a:r>
            <a:r>
              <a:rPr lang="en-US" altLang="en-US" sz="2800" dirty="0"/>
              <a:t>)</a:t>
            </a:r>
            <a:r>
              <a:rPr lang="en-US" altLang="en-US" sz="2800" b="1" dirty="0"/>
              <a:t> </a:t>
            </a:r>
            <a:r>
              <a:rPr lang="en-US" altLang="en-US" sz="2800" b="1" dirty="0">
                <a:latin typeface="+mj-lt"/>
              </a:rPr>
              <a:t>Algorithm</a:t>
            </a:r>
            <a:r>
              <a:rPr lang="en-US" altLang="en-US" sz="2800" dirty="0"/>
              <a:t>:</a:t>
            </a:r>
          </a:p>
          <a:p>
            <a:pPr lvl="1" algn="just"/>
            <a:r>
              <a:rPr lang="en-US" altLang="en-US" sz="2400" dirty="0"/>
              <a:t>  </a:t>
            </a:r>
            <a:r>
              <a:rPr lang="en-US" altLang="en-US" sz="2800" dirty="0"/>
              <a:t>Replaces page with smallest count</a:t>
            </a:r>
          </a:p>
          <a:p>
            <a:pPr algn="just"/>
            <a:r>
              <a:rPr lang="en-US" altLang="en-US" sz="2800" b="1" dirty="0">
                <a:latin typeface="+mj-lt"/>
              </a:rPr>
              <a:t>Most Frequently Used </a:t>
            </a:r>
            <a:r>
              <a:rPr lang="en-US" altLang="en-US" sz="2800" dirty="0"/>
              <a:t>(</a:t>
            </a:r>
            <a:r>
              <a:rPr lang="en-US" altLang="en-US" sz="2800" b="1" dirty="0">
                <a:latin typeface="+mj-lt"/>
              </a:rPr>
              <a:t>MFU</a:t>
            </a:r>
            <a:r>
              <a:rPr lang="en-US" altLang="en-US" sz="2800" dirty="0"/>
              <a:t>)</a:t>
            </a:r>
            <a:r>
              <a:rPr lang="en-US" altLang="en-US" sz="2800" b="1" dirty="0"/>
              <a:t> </a:t>
            </a:r>
            <a:r>
              <a:rPr lang="en-US" altLang="en-US" sz="2800" b="1" dirty="0">
                <a:latin typeface="+mj-lt"/>
              </a:rPr>
              <a:t>Algorithm</a:t>
            </a:r>
            <a:r>
              <a:rPr lang="en-US" altLang="en-US" sz="2800" dirty="0"/>
              <a:t>: </a:t>
            </a:r>
          </a:p>
          <a:p>
            <a:pPr lvl="1" algn="just"/>
            <a:r>
              <a:rPr lang="en-US" altLang="en-US" sz="2800" dirty="0"/>
              <a:t>Based on the argument that the page with the smallest count was probably just brought in and has yet to be used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a:extLst>
              <a:ext uri="{FF2B5EF4-FFF2-40B4-BE49-F238E27FC236}">
                <a16:creationId xmlns:a16="http://schemas.microsoft.com/office/drawing/2014/main" id="{70E5B077-B145-42CF-B6DE-2F59CC8999D4}"/>
              </a:ext>
            </a:extLst>
          </p:cNvPr>
          <p:cNvSpPr>
            <a:spLocks noGrp="1" noChangeArrowheads="1"/>
          </p:cNvSpPr>
          <p:nvPr>
            <p:ph type="title"/>
          </p:nvPr>
        </p:nvSpPr>
        <p:spPr>
          <a:xfrm>
            <a:off x="738188" y="141298"/>
            <a:ext cx="7948612" cy="576262"/>
          </a:xfrm>
        </p:spPr>
        <p:txBody>
          <a:bodyPr>
            <a:noAutofit/>
          </a:bodyPr>
          <a:lstStyle/>
          <a:p>
            <a:pPr algn="ctr" eaLnBrk="1" hangingPunct="1"/>
            <a:r>
              <a:rPr lang="en-US" altLang="en-US" sz="4000" dirty="0"/>
              <a:t>Allocation Algorithms</a:t>
            </a:r>
          </a:p>
        </p:txBody>
      </p:sp>
      <p:sp>
        <p:nvSpPr>
          <p:cNvPr id="1029" name="Rectangle 3">
            <a:extLst>
              <a:ext uri="{FF2B5EF4-FFF2-40B4-BE49-F238E27FC236}">
                <a16:creationId xmlns:a16="http://schemas.microsoft.com/office/drawing/2014/main" id="{0FF48B9C-0D56-4D18-919D-070428F3BB8D}"/>
              </a:ext>
            </a:extLst>
          </p:cNvPr>
          <p:cNvSpPr>
            <a:spLocks noGrp="1" noChangeArrowheads="1"/>
          </p:cNvSpPr>
          <p:nvPr>
            <p:ph idx="1"/>
          </p:nvPr>
        </p:nvSpPr>
        <p:spPr>
          <a:xfrm>
            <a:off x="855045" y="717561"/>
            <a:ext cx="7383982" cy="4934340"/>
          </a:xfrm>
        </p:spPr>
        <p:txBody>
          <a:bodyPr>
            <a:normAutofit/>
          </a:bodyPr>
          <a:lstStyle/>
          <a:p>
            <a:pPr algn="just"/>
            <a:r>
              <a:rPr lang="en-US" altLang="en-US" sz="2800" b="1" dirty="0"/>
              <a:t>Equal allocation– </a:t>
            </a:r>
          </a:p>
          <a:p>
            <a:pPr algn="just"/>
            <a:r>
              <a:rPr lang="en-US" altLang="en-US" sz="2800" dirty="0"/>
              <a:t>The easiest way to split </a:t>
            </a:r>
            <a:r>
              <a:rPr lang="en-US" altLang="en-US" sz="2800" i="1" dirty="0"/>
              <a:t>m</a:t>
            </a:r>
            <a:r>
              <a:rPr lang="en-US" altLang="en-US" sz="2800" dirty="0"/>
              <a:t> frames among </a:t>
            </a:r>
            <a:r>
              <a:rPr lang="en-US" altLang="en-US" sz="2800" i="1" dirty="0"/>
              <a:t>n</a:t>
            </a:r>
            <a:r>
              <a:rPr lang="en-US" altLang="en-US" sz="2800" dirty="0"/>
              <a:t> processes is to give everyone an equal share, </a:t>
            </a:r>
            <a:r>
              <a:rPr lang="en-US" altLang="en-US" sz="2800" i="1" dirty="0"/>
              <a:t>m/n</a:t>
            </a:r>
            <a:r>
              <a:rPr lang="en-US" altLang="en-US" sz="2800" dirty="0"/>
              <a:t> frames (ignoring frames needed by the operating system for the moment). </a:t>
            </a:r>
          </a:p>
          <a:p>
            <a:pPr algn="just"/>
            <a:r>
              <a:rPr lang="en-US" altLang="en-US" sz="2800" dirty="0"/>
              <a:t>For instance, if there are 93 frames and 5 processes, each process will get 18 frames. </a:t>
            </a:r>
          </a:p>
          <a:p>
            <a:pPr algn="just"/>
            <a:r>
              <a:rPr lang="en-US" altLang="en-US" sz="2800" dirty="0"/>
              <a:t>The 3 leftover frames can be used as a free-frame buffer pool.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a:extLst>
              <a:ext uri="{FF2B5EF4-FFF2-40B4-BE49-F238E27FC236}">
                <a16:creationId xmlns:a16="http://schemas.microsoft.com/office/drawing/2014/main" id="{70E5B077-B145-42CF-B6DE-2F59CC8999D4}"/>
              </a:ext>
            </a:extLst>
          </p:cNvPr>
          <p:cNvSpPr>
            <a:spLocks noGrp="1" noChangeArrowheads="1"/>
          </p:cNvSpPr>
          <p:nvPr>
            <p:ph type="title"/>
          </p:nvPr>
        </p:nvSpPr>
        <p:spPr>
          <a:xfrm>
            <a:off x="738188" y="141298"/>
            <a:ext cx="7948612" cy="576262"/>
          </a:xfrm>
        </p:spPr>
        <p:txBody>
          <a:bodyPr>
            <a:noAutofit/>
          </a:bodyPr>
          <a:lstStyle/>
          <a:p>
            <a:pPr algn="ctr" eaLnBrk="1" hangingPunct="1"/>
            <a:r>
              <a:rPr lang="en-US" altLang="en-US" sz="4000" dirty="0"/>
              <a:t>Allocation Algorithms</a:t>
            </a:r>
          </a:p>
        </p:txBody>
      </p:sp>
      <p:sp>
        <p:nvSpPr>
          <p:cNvPr id="1029" name="Rectangle 3">
            <a:extLst>
              <a:ext uri="{FF2B5EF4-FFF2-40B4-BE49-F238E27FC236}">
                <a16:creationId xmlns:a16="http://schemas.microsoft.com/office/drawing/2014/main" id="{0FF48B9C-0D56-4D18-919D-070428F3BB8D}"/>
              </a:ext>
            </a:extLst>
          </p:cNvPr>
          <p:cNvSpPr>
            <a:spLocks noGrp="1" noChangeArrowheads="1"/>
          </p:cNvSpPr>
          <p:nvPr>
            <p:ph idx="1"/>
          </p:nvPr>
        </p:nvSpPr>
        <p:spPr>
          <a:xfrm>
            <a:off x="855045" y="717561"/>
            <a:ext cx="7383982" cy="4934340"/>
          </a:xfrm>
        </p:spPr>
        <p:txBody>
          <a:bodyPr>
            <a:normAutofit/>
          </a:bodyPr>
          <a:lstStyle/>
          <a:p>
            <a:r>
              <a:rPr lang="en-US" altLang="en-US" sz="2800" dirty="0"/>
              <a:t>Proportional allocation – Allocate according to the size of process</a:t>
            </a:r>
            <a:r>
              <a:rPr lang="en-US" altLang="en-US" sz="2400" dirty="0"/>
              <a:t>.</a:t>
            </a:r>
          </a:p>
          <a:p>
            <a:r>
              <a:rPr lang="en-US" altLang="en-US" sz="2800" dirty="0"/>
              <a:t>Let the size of the virtual memory for process </a:t>
            </a:r>
            <a:r>
              <a:rPr lang="en-US" altLang="en-US" sz="2800" i="1" dirty="0"/>
              <a:t>p</a:t>
            </a:r>
            <a:r>
              <a:rPr lang="en-US" altLang="en-US" sz="2800" i="1" baseline="-25000" dirty="0"/>
              <a:t>i</a:t>
            </a:r>
            <a:r>
              <a:rPr lang="en-US" altLang="en-US" sz="2800" dirty="0"/>
              <a:t> be </a:t>
            </a:r>
            <a:r>
              <a:rPr lang="en-US" altLang="en-US" sz="2800" i="1" dirty="0" err="1"/>
              <a:t>s</a:t>
            </a:r>
            <a:r>
              <a:rPr lang="en-US" altLang="en-US" sz="2800" i="1" baseline="-25000" dirty="0" err="1"/>
              <a:t>i</a:t>
            </a:r>
            <a:r>
              <a:rPr lang="en-US" altLang="en-US" sz="2800" dirty="0"/>
              <a:t>, and define</a:t>
            </a:r>
          </a:p>
          <a:p>
            <a:endParaRPr lang="en-US" altLang="en-US" sz="2800" dirty="0"/>
          </a:p>
          <a:p>
            <a:r>
              <a:rPr lang="en-US" altLang="en-US" sz="2800" dirty="0"/>
              <a:t>Then, if the total number of available frames is </a:t>
            </a:r>
            <a:r>
              <a:rPr lang="en-US" altLang="en-US" sz="2800" i="1" dirty="0"/>
              <a:t>m</a:t>
            </a:r>
            <a:r>
              <a:rPr lang="en-US" altLang="en-US" sz="2800" dirty="0"/>
              <a:t>, we allocate </a:t>
            </a:r>
            <a:r>
              <a:rPr lang="en-US" altLang="en-US" sz="2800" i="1" dirty="0" err="1"/>
              <a:t>a</a:t>
            </a:r>
            <a:r>
              <a:rPr lang="en-US" altLang="en-US" sz="2800" i="1" baseline="-25000" dirty="0" err="1"/>
              <a:t>i</a:t>
            </a:r>
            <a:r>
              <a:rPr lang="en-US" altLang="en-US" sz="2800" dirty="0"/>
              <a:t> frames to process </a:t>
            </a:r>
            <a:r>
              <a:rPr lang="en-US" altLang="en-US" sz="2800" i="1" dirty="0"/>
              <a:t>p</a:t>
            </a:r>
            <a:r>
              <a:rPr lang="en-US" altLang="en-US" sz="2800" i="1" baseline="-25000" dirty="0"/>
              <a:t>i</a:t>
            </a:r>
            <a:r>
              <a:rPr lang="en-US" altLang="en-US" sz="2800" dirty="0"/>
              <a:t>, where </a:t>
            </a:r>
            <a:r>
              <a:rPr lang="en-US" altLang="en-US" sz="2800" i="1" dirty="0" err="1"/>
              <a:t>a</a:t>
            </a:r>
            <a:r>
              <a:rPr lang="en-US" altLang="en-US" sz="2800" i="1" baseline="-25000" dirty="0" err="1"/>
              <a:t>i</a:t>
            </a:r>
            <a:r>
              <a:rPr lang="en-US" altLang="en-US" sz="2800" dirty="0"/>
              <a:t> is approximately</a:t>
            </a:r>
          </a:p>
        </p:txBody>
      </p:sp>
      <p:pic>
        <p:nvPicPr>
          <p:cNvPr id="2" name="Picture 1"/>
          <p:cNvPicPr>
            <a:picLocks noChangeAspect="1"/>
          </p:cNvPicPr>
          <p:nvPr/>
        </p:nvPicPr>
        <p:blipFill>
          <a:blip r:embed="rId3"/>
          <a:stretch>
            <a:fillRect/>
          </a:stretch>
        </p:blipFill>
        <p:spPr>
          <a:xfrm>
            <a:off x="3756461" y="2288687"/>
            <a:ext cx="1215589" cy="468661"/>
          </a:xfrm>
          <a:prstGeom prst="rect">
            <a:avLst/>
          </a:prstGeom>
        </p:spPr>
      </p:pic>
      <p:pic>
        <p:nvPicPr>
          <p:cNvPr id="3" name="Picture 2"/>
          <p:cNvPicPr>
            <a:picLocks noChangeAspect="1"/>
          </p:cNvPicPr>
          <p:nvPr/>
        </p:nvPicPr>
        <p:blipFill>
          <a:blip r:embed="rId4"/>
          <a:stretch>
            <a:fillRect/>
          </a:stretch>
        </p:blipFill>
        <p:spPr>
          <a:xfrm>
            <a:off x="3328987" y="4328474"/>
            <a:ext cx="2165220" cy="529276"/>
          </a:xfrm>
          <a:prstGeom prst="rect">
            <a:avLst/>
          </a:prstGeom>
        </p:spPr>
      </p:pic>
    </p:spTree>
    <p:extLst>
      <p:ext uri="{BB962C8B-B14F-4D97-AF65-F5344CB8AC3E}">
        <p14:creationId xmlns:p14="http://schemas.microsoft.com/office/powerpoint/2010/main" val="38625807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4F731FD3-D4BB-4495-AA41-BEE2A772C8D1}"/>
              </a:ext>
            </a:extLst>
          </p:cNvPr>
          <p:cNvSpPr>
            <a:spLocks noGrp="1" noChangeArrowheads="1"/>
          </p:cNvSpPr>
          <p:nvPr>
            <p:ph type="title"/>
          </p:nvPr>
        </p:nvSpPr>
        <p:spPr>
          <a:xfrm>
            <a:off x="457200" y="117288"/>
            <a:ext cx="8229600" cy="576262"/>
          </a:xfrm>
        </p:spPr>
        <p:txBody>
          <a:bodyPr>
            <a:noAutofit/>
          </a:bodyPr>
          <a:lstStyle/>
          <a:p>
            <a:pPr algn="ctr" eaLnBrk="1" hangingPunct="1"/>
            <a:r>
              <a:rPr lang="en-US" altLang="en-US" sz="4000" dirty="0"/>
              <a:t>Thrashing</a:t>
            </a:r>
          </a:p>
        </p:txBody>
      </p:sp>
      <p:sp>
        <p:nvSpPr>
          <p:cNvPr id="57347" name="Rectangle 3">
            <a:extLst>
              <a:ext uri="{FF2B5EF4-FFF2-40B4-BE49-F238E27FC236}">
                <a16:creationId xmlns:a16="http://schemas.microsoft.com/office/drawing/2014/main" id="{1BFB067A-221A-4384-BE53-811322B7EC93}"/>
              </a:ext>
            </a:extLst>
          </p:cNvPr>
          <p:cNvSpPr>
            <a:spLocks noGrp="1" noChangeArrowheads="1"/>
          </p:cNvSpPr>
          <p:nvPr>
            <p:ph idx="1"/>
          </p:nvPr>
        </p:nvSpPr>
        <p:spPr>
          <a:xfrm>
            <a:off x="457201" y="736415"/>
            <a:ext cx="8029574" cy="5935848"/>
          </a:xfrm>
        </p:spPr>
        <p:txBody>
          <a:bodyPr>
            <a:normAutofit/>
          </a:bodyPr>
          <a:lstStyle/>
          <a:p>
            <a:pPr algn="just"/>
            <a:r>
              <a:rPr lang="en-US" altLang="en-US" sz="2800" dirty="0"/>
              <a:t>Consider what occurs if a process does not have “enough” frames. </a:t>
            </a:r>
          </a:p>
          <a:p>
            <a:pPr algn="just"/>
            <a:r>
              <a:rPr lang="en-US" altLang="en-US" sz="2800" dirty="0"/>
              <a:t>It does not have the minimum number of frames it needs to support pages in the working set. </a:t>
            </a:r>
          </a:p>
          <a:p>
            <a:pPr algn="just"/>
            <a:r>
              <a:rPr lang="en-US" altLang="en-US" sz="2800" dirty="0"/>
              <a:t>The process will quickly page-fault. At this point, it must replace some page. However, since all its pages are in active use, it must replace a page that will be needed again right away. </a:t>
            </a:r>
          </a:p>
          <a:p>
            <a:pPr algn="just"/>
            <a:r>
              <a:rPr lang="en-US" altLang="en-US" sz="2800" dirty="0"/>
              <a:t>Consequently, it quickly faults again, and again, and again, replacing pages that it must bring back in immediately. </a:t>
            </a:r>
          </a:p>
          <a:p>
            <a:pPr algn="just"/>
            <a:r>
              <a:rPr lang="en-US" altLang="en-US" sz="2800" dirty="0"/>
              <a:t>This high paging activity is called </a:t>
            </a:r>
            <a:r>
              <a:rPr lang="en-US" altLang="en-US" sz="2800" b="1" dirty="0"/>
              <a:t>thrashing</a:t>
            </a:r>
            <a:r>
              <a:rPr lang="en-US" altLang="en-US" sz="2800" dirty="0"/>
              <a:t>. A process is thrashing if it is spending more time paging than executing.</a:t>
            </a:r>
          </a:p>
          <a:p>
            <a:pPr marL="0" indent="0" algn="just">
              <a:buNone/>
            </a:pPr>
            <a:endParaRPr lang="en-US" alt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25094</TotalTime>
  <Words>3529</Words>
  <Application>Microsoft Office PowerPoint</Application>
  <PresentationFormat>On-screen Show (4:3)</PresentationFormat>
  <Paragraphs>321</Paragraphs>
  <Slides>47</Slides>
  <Notes>44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47</vt:i4>
      </vt:variant>
    </vt:vector>
  </HeadingPairs>
  <TitlesOfParts>
    <vt:vector size="60" baseType="lpstr">
      <vt:lpstr>MS PGothic</vt:lpstr>
      <vt:lpstr>MS PGothic</vt:lpstr>
      <vt:lpstr>Arial</vt:lpstr>
      <vt:lpstr>Calibri</vt:lpstr>
      <vt:lpstr>Calibri </vt:lpstr>
      <vt:lpstr>Calibri Light</vt:lpstr>
      <vt:lpstr>Helvetica</vt:lpstr>
      <vt:lpstr>Monotype Sorts</vt:lpstr>
      <vt:lpstr>Symbol</vt:lpstr>
      <vt:lpstr>Times New Roman</vt:lpstr>
      <vt:lpstr>Verdana</vt:lpstr>
      <vt:lpstr>Wingdings</vt:lpstr>
      <vt:lpstr>Office Theme</vt:lpstr>
      <vt:lpstr>Virtual Memory</vt:lpstr>
      <vt:lpstr>Background</vt:lpstr>
      <vt:lpstr>Background</vt:lpstr>
      <vt:lpstr>Virtual memory </vt:lpstr>
      <vt:lpstr>Virtual Memory that is Larger than Physical Memory</vt:lpstr>
      <vt:lpstr>Virtual-address Space</vt:lpstr>
      <vt:lpstr>Page sharing using Virtual Memory</vt:lpstr>
      <vt:lpstr>Shared library using Virtual Memory</vt:lpstr>
      <vt:lpstr>Page sharing using Virtual Memory</vt:lpstr>
      <vt:lpstr>Demand Paging</vt:lpstr>
      <vt:lpstr>Demand Paging</vt:lpstr>
      <vt:lpstr>Page table with Valid-Invalid Bit</vt:lpstr>
      <vt:lpstr>Page table with Valid-Invalid Bit</vt:lpstr>
      <vt:lpstr>Steps in Handling Page Fault</vt:lpstr>
      <vt:lpstr>Steps in Handling a Page Fault</vt:lpstr>
      <vt:lpstr>Aspects of Demand Paging</vt:lpstr>
      <vt:lpstr>Stages in Demand Paging – Worse Case</vt:lpstr>
      <vt:lpstr>Stages in Demand Paging – Worse Case</vt:lpstr>
      <vt:lpstr>Performance of Demand Paging</vt:lpstr>
      <vt:lpstr>Demand Paging Example</vt:lpstr>
      <vt:lpstr>Demand Paging Optimizations</vt:lpstr>
      <vt:lpstr>Demand Paging Optimizations</vt:lpstr>
      <vt:lpstr>Demand Paging Optimizations</vt:lpstr>
      <vt:lpstr>Page Replacement</vt:lpstr>
      <vt:lpstr>Need For Page Replacement</vt:lpstr>
      <vt:lpstr>Basic Page Replacement</vt:lpstr>
      <vt:lpstr>Page Replacement</vt:lpstr>
      <vt:lpstr>Page Replacement</vt:lpstr>
      <vt:lpstr>Page Replacement</vt:lpstr>
      <vt:lpstr>Page and Frame Replacement Algorithms</vt:lpstr>
      <vt:lpstr>Graph of Page Faults Versus the Number of Frames</vt:lpstr>
      <vt:lpstr>First-In-First-Out (FIFO) Algorithm</vt:lpstr>
      <vt:lpstr>Belady’s Anomaly</vt:lpstr>
      <vt:lpstr>Optimal Algorithm</vt:lpstr>
      <vt:lpstr>Least Recently Used (LRU) Algorithm</vt:lpstr>
      <vt:lpstr>LRU Algorithm Implementation</vt:lpstr>
      <vt:lpstr>LRU Algorithm Implementation</vt:lpstr>
      <vt:lpstr>Stack Implementation</vt:lpstr>
      <vt:lpstr>LRU Approximation Page Replacement</vt:lpstr>
      <vt:lpstr>LRU Approximation Page Replacement</vt:lpstr>
      <vt:lpstr>LRU Approximation Page Replacement</vt:lpstr>
      <vt:lpstr>LRU Approximation Algorithms</vt:lpstr>
      <vt:lpstr>LRU Approximation Page Replacement</vt:lpstr>
      <vt:lpstr>Counting Algorithms</vt:lpstr>
      <vt:lpstr>Allocation Algorithms</vt:lpstr>
      <vt:lpstr>Allocation Algorithms</vt:lpstr>
      <vt:lpstr>Thrashing</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Kuldeep Singh</cp:lastModifiedBy>
  <cp:revision>503</cp:revision>
  <cp:lastPrinted>2013-09-10T17:57:57Z</cp:lastPrinted>
  <dcterms:created xsi:type="dcterms:W3CDTF">2011-01-13T23:43:38Z</dcterms:created>
  <dcterms:modified xsi:type="dcterms:W3CDTF">2024-04-09T06:57:50Z</dcterms:modified>
</cp:coreProperties>
</file>