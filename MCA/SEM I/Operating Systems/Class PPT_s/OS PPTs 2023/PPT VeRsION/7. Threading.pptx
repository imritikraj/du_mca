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84" r:id="rId1"/>
  </p:sldMasterIdLst>
  <p:notesMasterIdLst>
    <p:notesMasterId r:id="rId18"/>
  </p:notesMasterIdLst>
  <p:handoutMasterIdLst>
    <p:handoutMasterId r:id="rId19"/>
  </p:handoutMasterIdLst>
  <p:sldIdLst>
    <p:sldId id="331" r:id="rId2"/>
    <p:sldId id="333" r:id="rId3"/>
    <p:sldId id="334" r:id="rId4"/>
    <p:sldId id="399" r:id="rId5"/>
    <p:sldId id="377" r:id="rId6"/>
    <p:sldId id="336" r:id="rId7"/>
    <p:sldId id="400" r:id="rId8"/>
    <p:sldId id="401" r:id="rId9"/>
    <p:sldId id="347" r:id="rId10"/>
    <p:sldId id="348" r:id="rId11"/>
    <p:sldId id="405" r:id="rId12"/>
    <p:sldId id="406" r:id="rId13"/>
    <p:sldId id="354" r:id="rId14"/>
    <p:sldId id="382" r:id="rId15"/>
    <p:sldId id="403" r:id="rId16"/>
    <p:sldId id="404" r:id="rId1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3" autoAdjust="0"/>
    <p:restoredTop sz="94626"/>
  </p:normalViewPr>
  <p:slideViewPr>
    <p:cSldViewPr snapToGrid="0">
      <p:cViewPr varScale="1">
        <p:scale>
          <a:sx n="104" d="100"/>
          <a:sy n="104" d="100"/>
        </p:scale>
        <p:origin x="1680" y="114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6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6793c7ac87b5dd5" providerId="LiveId" clId="{78315D2C-384F-4E48-BA50-B6015ECCF123}"/>
    <pc:docChg chg="undo custSel addSld modSld">
      <pc:chgData name="" userId="e6793c7ac87b5dd5" providerId="LiveId" clId="{78315D2C-384F-4E48-BA50-B6015ECCF123}" dt="2024-02-25T13:07:42.644" v="108" actId="20577"/>
      <pc:docMkLst>
        <pc:docMk/>
      </pc:docMkLst>
      <pc:sldChg chg="modSp add">
        <pc:chgData name="" userId="e6793c7ac87b5dd5" providerId="LiveId" clId="{78315D2C-384F-4E48-BA50-B6015ECCF123}" dt="2024-02-25T13:05:11.609" v="67" actId="20577"/>
        <pc:sldMkLst>
          <pc:docMk/>
          <pc:sldMk cId="3742945624" sldId="405"/>
        </pc:sldMkLst>
        <pc:spChg chg="mod">
          <ac:chgData name="" userId="e6793c7ac87b5dd5" providerId="LiveId" clId="{78315D2C-384F-4E48-BA50-B6015ECCF123}" dt="2024-02-25T13:05:11.609" v="67" actId="20577"/>
          <ac:spMkLst>
            <pc:docMk/>
            <pc:sldMk cId="3742945624" sldId="405"/>
            <ac:spMk id="44034" creationId="{9DE6F01A-727E-4FA1-9360-3180865E3C5E}"/>
          </ac:spMkLst>
        </pc:spChg>
      </pc:sldChg>
      <pc:sldChg chg="modSp add">
        <pc:chgData name="" userId="e6793c7ac87b5dd5" providerId="LiveId" clId="{78315D2C-384F-4E48-BA50-B6015ECCF123}" dt="2024-02-25T13:07:42.644" v="108" actId="20577"/>
        <pc:sldMkLst>
          <pc:docMk/>
          <pc:sldMk cId="153180909" sldId="406"/>
        </pc:sldMkLst>
        <pc:spChg chg="mod">
          <ac:chgData name="" userId="e6793c7ac87b5dd5" providerId="LiveId" clId="{78315D2C-384F-4E48-BA50-B6015ECCF123}" dt="2024-02-25T13:07:42.644" v="108" actId="20577"/>
          <ac:spMkLst>
            <pc:docMk/>
            <pc:sldMk cId="153180909" sldId="406"/>
            <ac:spMk id="44034" creationId="{9DE6F01A-727E-4FA1-9360-3180865E3C5E}"/>
          </ac:spMkLst>
        </pc:spChg>
      </pc:sldChg>
    </pc:docChg>
  </pc:docChgLst>
  <pc:docChgLst>
    <pc:chgData userId="e6793c7ac87b5dd5" providerId="LiveId" clId="{289E527B-3329-432B-B2CD-5EE863678570}"/>
    <pc:docChg chg="modSld">
      <pc:chgData name="" userId="e6793c7ac87b5dd5" providerId="LiveId" clId="{289E527B-3329-432B-B2CD-5EE863678570}" dt="2024-02-27T07:38:09.919" v="11" actId="20577"/>
      <pc:docMkLst>
        <pc:docMk/>
      </pc:docMkLst>
      <pc:sldChg chg="modSp">
        <pc:chgData name="" userId="e6793c7ac87b5dd5" providerId="LiveId" clId="{289E527B-3329-432B-B2CD-5EE863678570}" dt="2024-02-27T07:38:09.919" v="11" actId="20577"/>
        <pc:sldMkLst>
          <pc:docMk/>
          <pc:sldMk cId="153180909" sldId="406"/>
        </pc:sldMkLst>
        <pc:spChg chg="mod">
          <ac:chgData name="" userId="e6793c7ac87b5dd5" providerId="LiveId" clId="{289E527B-3329-432B-B2CD-5EE863678570}" dt="2024-02-27T07:38:09.919" v="11" actId="20577"/>
          <ac:spMkLst>
            <pc:docMk/>
            <pc:sldMk cId="153180909" sldId="406"/>
            <ac:spMk id="44034" creationId="{9DE6F01A-727E-4FA1-9360-3180865E3C5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54361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912257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63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5BB938EB-EAE1-4FAC-BCB5-53974E688A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9AA36B63-1BA8-465A-9F47-478166EC3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945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27DF9E4E-96D6-414F-8641-F5F4875E7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BCEF41C-2D09-4D79-B128-D63857A2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9ACFA5D-A5EC-4373-81C2-0F6EFDCB2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276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9082A-5E14-437A-8593-A083C9E0B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AC42077-757B-4A4C-8A05-7B590F2EC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53078-9E5A-48E2-813D-E5D652399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93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9082A-5E14-437A-8593-A083C9E0B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AC42077-757B-4A4C-8A05-7B590F2EC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53078-9E5A-48E2-813D-E5D652399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61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36DF61C1-FABB-4C2F-A2F6-2A6755D43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93420185-E3D4-4A25-8067-B745C75A3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555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749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502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042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5FB8F64-88BB-4559-9134-E35CDEC20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D0B0-D187-4E63-8B13-81271B8117FB}" type="slidenum">
              <a:rPr lang="en-US" altLang="en-US" smtClean="0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7CC628D-83F5-4EEA-8C50-0B294DCF1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F97B3F5-0425-41C0-BA0E-2A5645F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197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4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88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8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6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3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1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33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210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9ECDC-C209-4F2C-BA36-574F983C7A7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3B06B-959C-4864-A40C-7BEE6DD44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8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  <p:sldLayoutId id="214748409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43074" y="3140075"/>
            <a:ext cx="5514975" cy="98901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/>
              <a:t>Threads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F4FAEF8D-141E-4014-81C2-5AD32F55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122239"/>
            <a:ext cx="7886700" cy="549274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/>
              <a:t>Thread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69649437-64F3-4573-8F48-4963AC54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49" y="671514"/>
            <a:ext cx="7680325" cy="50927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2800" dirty="0"/>
              <a:t>A thread is a basic unit of CPU utilization.</a:t>
            </a:r>
          </a:p>
          <a:p>
            <a:pPr algn="just"/>
            <a:r>
              <a:rPr lang="en-US" altLang="en-US" sz="2800" dirty="0"/>
              <a:t>Thread comprises a thread ID, a program counter (PC), a register set, and a stack. </a:t>
            </a:r>
          </a:p>
          <a:p>
            <a:pPr algn="just"/>
            <a:r>
              <a:rPr lang="en-US" altLang="en-US" sz="2800" dirty="0"/>
              <a:t>It shares with other threads belonging to the same process its code section, data section, and other operating-system resources, such as open files and signals. </a:t>
            </a:r>
          </a:p>
          <a:p>
            <a:pPr algn="just"/>
            <a:r>
              <a:rPr lang="en-US" altLang="en-US" sz="2800" dirty="0"/>
              <a:t>A traditional process has a single thread of control.</a:t>
            </a:r>
          </a:p>
          <a:p>
            <a:pPr algn="just"/>
            <a:r>
              <a:rPr lang="en-US" altLang="en-US" sz="2800" dirty="0"/>
              <a:t>If a process has multiple threads of control, it can perform more than one task at a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7140"/>
            <a:ext cx="8229600" cy="576262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Thread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713402"/>
            <a:ext cx="7708900" cy="5858848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 dirty="0"/>
              <a:t>Most software applications that run on modern computers and mobile devices are multithreaded.</a:t>
            </a:r>
          </a:p>
          <a:p>
            <a:pPr algn="just"/>
            <a:r>
              <a:rPr lang="en-US" altLang="en-US" sz="2800" dirty="0"/>
              <a:t>Threads run within application</a:t>
            </a:r>
          </a:p>
          <a:p>
            <a:pPr algn="just"/>
            <a:r>
              <a:rPr lang="en-US" altLang="en-US" sz="2800" dirty="0"/>
              <a:t>Multiple tasks with the application can be implemented by separate threads</a:t>
            </a:r>
          </a:p>
          <a:p>
            <a:pPr lvl="1" algn="just"/>
            <a:r>
              <a:rPr lang="en-US" altLang="en-US" sz="2400" dirty="0"/>
              <a:t>Update display</a:t>
            </a:r>
          </a:p>
          <a:p>
            <a:pPr lvl="1" algn="just"/>
            <a:r>
              <a:rPr lang="en-US" altLang="en-US" sz="2400" dirty="0"/>
              <a:t>Fetch data</a:t>
            </a:r>
          </a:p>
          <a:p>
            <a:pPr lvl="1" algn="just"/>
            <a:r>
              <a:rPr lang="en-US" altLang="en-US" sz="2400" dirty="0"/>
              <a:t>Spell checking</a:t>
            </a:r>
          </a:p>
          <a:p>
            <a:pPr lvl="1" algn="just"/>
            <a:r>
              <a:rPr lang="en-US" altLang="en-US" sz="2400" dirty="0"/>
              <a:t>Answer a network request</a:t>
            </a:r>
          </a:p>
          <a:p>
            <a:pPr algn="just"/>
            <a:r>
              <a:rPr lang="en-US" altLang="en-US" sz="2800" dirty="0"/>
              <a:t>Process creation is heavy-weight while thread creation is light-weight</a:t>
            </a:r>
          </a:p>
          <a:p>
            <a:pPr algn="just"/>
            <a:r>
              <a:rPr lang="en-US" altLang="en-US" sz="2800" dirty="0"/>
              <a:t>Can simplify code, increase efficiency</a:t>
            </a:r>
          </a:p>
          <a:p>
            <a:pPr algn="just"/>
            <a:r>
              <a:rPr lang="en-US" altLang="en-US" sz="2800" dirty="0"/>
              <a:t>Kernels are generally multithreaded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7140"/>
            <a:ext cx="8229600" cy="576262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Thread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713402"/>
            <a:ext cx="7708900" cy="58588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800" dirty="0"/>
              <a:t>Examples of multithreaded applications:</a:t>
            </a:r>
          </a:p>
          <a:p>
            <a:pPr algn="just"/>
            <a:r>
              <a:rPr lang="en-US" altLang="en-US" sz="2800" dirty="0"/>
              <a:t>An application that creates photo thumbnails from a collection of images may use a separate thread to generate a thumbnail from each separate image.</a:t>
            </a:r>
          </a:p>
          <a:p>
            <a:pPr algn="just"/>
            <a:r>
              <a:rPr lang="en-US" altLang="en-US" sz="2800" dirty="0"/>
              <a:t>A web browser might have one thread display images or text while another thread retrieves data from the network.</a:t>
            </a:r>
          </a:p>
          <a:p>
            <a:pPr algn="just"/>
            <a:r>
              <a:rPr lang="en-US" altLang="en-US" sz="2800" dirty="0"/>
              <a:t>A word processor may have a thread for displaying graphics, another thread for responding to keystrokes from the user, and a third thread for performing spelling and grammar checking in the background.</a:t>
            </a:r>
          </a:p>
        </p:txBody>
      </p:sp>
    </p:spTree>
    <p:extLst>
      <p:ext uri="{BB962C8B-B14F-4D97-AF65-F5344CB8AC3E}">
        <p14:creationId xmlns:p14="http://schemas.microsoft.com/office/powerpoint/2010/main" val="2593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46D3DE18-7E7E-4C93-8C78-DD142B08C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25" y="85951"/>
            <a:ext cx="8499475" cy="57626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/>
              <a:t>Single and Multithreaded Processes</a:t>
            </a:r>
          </a:p>
        </p:txBody>
      </p:sp>
      <p:pic>
        <p:nvPicPr>
          <p:cNvPr id="12290" name="Picture 1">
            <a:extLst>
              <a:ext uri="{FF2B5EF4-FFF2-40B4-BE49-F238E27FC236}">
                <a16:creationId xmlns:a16="http://schemas.microsoft.com/office/drawing/2014/main" id="{0489C83A-880F-4FB0-8474-2FE1A357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5" y="1028700"/>
            <a:ext cx="8566135" cy="4809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B64F3E7-BE56-4BF5-89DF-866E7EA88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4244" y="85728"/>
            <a:ext cx="6951662" cy="53680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/>
              <a:t>Benefits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EFC87E0-114C-4BFC-8B34-FD5EF6B87D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7213" y="636822"/>
            <a:ext cx="8000999" cy="599257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800" b="1" dirty="0"/>
              <a:t>Responsiveness – </a:t>
            </a:r>
            <a:r>
              <a:rPr lang="en-US" altLang="en-US" sz="2800" dirty="0"/>
              <a:t>Multithreading an interactive application may allow a program to continue running even if part of it is blocked or is performing a lengthy operation, thereby increasing responsiveness to the user. </a:t>
            </a:r>
          </a:p>
          <a:p>
            <a:pPr algn="just"/>
            <a:r>
              <a:rPr lang="en-US" altLang="en-US" sz="2800" dirty="0"/>
              <a:t>This quality is especially useful in designing user interfaces.</a:t>
            </a:r>
          </a:p>
          <a:p>
            <a:pPr marL="0" indent="0" algn="just">
              <a:buNone/>
            </a:pPr>
            <a:r>
              <a:rPr lang="en-US" altLang="en-US" sz="2800" b="1" dirty="0"/>
              <a:t>Resource Sharing – </a:t>
            </a:r>
            <a:r>
              <a:rPr lang="en-US" altLang="en-US" sz="2800" dirty="0"/>
              <a:t>Processes can share resources only through techniques such as shared memory and message passing. </a:t>
            </a:r>
          </a:p>
          <a:p>
            <a:pPr algn="just"/>
            <a:r>
              <a:rPr lang="en-US" altLang="en-US" sz="2800" dirty="0"/>
              <a:t>Such techniques must be explicitly arranged by the programmer. </a:t>
            </a:r>
          </a:p>
          <a:p>
            <a:pPr algn="just"/>
            <a:r>
              <a:rPr lang="en-US" altLang="en-US" sz="2800" dirty="0"/>
              <a:t>However, threads share the memory and the resources of the process to which they belong by default.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B64F3E7-BE56-4BF5-89DF-866E7EA88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4244" y="85728"/>
            <a:ext cx="6951662" cy="53680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/>
              <a:t>Benefits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EFC87E0-114C-4BFC-8B34-FD5EF6B87D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7213" y="622534"/>
            <a:ext cx="8000999" cy="60783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800" b="1" dirty="0"/>
              <a:t>Economy – </a:t>
            </a:r>
            <a:r>
              <a:rPr lang="en-US" altLang="en-US" sz="2800" dirty="0"/>
              <a:t>Allocating memory and resources for process creation is costly. Because threads share the resources of the process to which they belong. </a:t>
            </a:r>
          </a:p>
          <a:p>
            <a:pPr algn="just"/>
            <a:r>
              <a:rPr lang="en-US" altLang="en-US" sz="2800" dirty="0"/>
              <a:t>It is more economical to create and context-switch threads. In general thread creation consumes less time and memory than process creation. </a:t>
            </a:r>
          </a:p>
          <a:p>
            <a:pPr algn="just"/>
            <a:r>
              <a:rPr lang="en-US" altLang="en-US" sz="2800" dirty="0"/>
              <a:t>Additionally, context switching is typically faster between threads than between processes.</a:t>
            </a:r>
          </a:p>
          <a:p>
            <a:pPr marL="0" indent="0" algn="just">
              <a:buNone/>
            </a:pPr>
            <a:r>
              <a:rPr lang="en-US" altLang="en-US" sz="2800" b="1" dirty="0"/>
              <a:t>Scalability – </a:t>
            </a:r>
            <a:r>
              <a:rPr lang="en-US" altLang="en-US" sz="2800" dirty="0"/>
              <a:t>The benefits of multithreading can be even greater in a multiprocessor architecture, where threads may be running in parallel on different processing cores. </a:t>
            </a:r>
          </a:p>
          <a:p>
            <a:pPr algn="just"/>
            <a:r>
              <a:rPr lang="en-US" altLang="en-US" sz="2800" dirty="0"/>
              <a:t>A single-threaded process can run on only one processor, regardless how many are available. </a:t>
            </a:r>
            <a:endParaRPr lang="en-US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9381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506601"/>
              </p:ext>
            </p:extLst>
          </p:nvPr>
        </p:nvGraphicFramePr>
        <p:xfrm>
          <a:off x="0" y="-6"/>
          <a:ext cx="9144000" cy="692845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spc="10" dirty="0">
                          <a:effectLst/>
                        </a:rPr>
                        <a:t>Process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spc="10" dirty="0">
                          <a:effectLst/>
                        </a:rPr>
                        <a:t>Thread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 dirty="0">
                          <a:effectLst/>
                        </a:rPr>
                        <a:t>Process means any program is in execution.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 dirty="0">
                          <a:effectLst/>
                        </a:rPr>
                        <a:t>Thread means segment of a process.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Process takes more time to terminate.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Thread takes less time to terminate.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It takes more time for creation.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It takes less time for creation.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6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 dirty="0">
                          <a:effectLst/>
                        </a:rPr>
                        <a:t>It also takes more time for context switching.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 dirty="0">
                          <a:effectLst/>
                        </a:rPr>
                        <a:t>It takes less time for context switching.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6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Process is less efficient in term of communication.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Thread is more efficient in term of communication.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Process consume more resources.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Thread consume less resources.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Process is isolated.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Threads share memory.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Process is called heavy weight process.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Thread is called light weight process.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254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 dirty="0">
                          <a:effectLst/>
                        </a:rPr>
                        <a:t>Process switching uses interface in operating system.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Thread switching does not require to call a operating system and cause an interrupt to the kernel.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634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>
                          <a:effectLst/>
                        </a:rPr>
                        <a:t>If one process is blocked then it will not effect the execution of other process </a:t>
                      </a:r>
                      <a:endParaRPr lang="en-US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 dirty="0">
                          <a:effectLst/>
                        </a:rPr>
                        <a:t>Second thread in the same task </a:t>
                      </a:r>
                      <a:r>
                        <a:rPr lang="en-US" sz="2000" b="0" spc="10" dirty="0" err="1">
                          <a:effectLst/>
                        </a:rPr>
                        <a:t>couldnot</a:t>
                      </a:r>
                      <a:r>
                        <a:rPr lang="en-US" sz="2000" b="0" spc="10" dirty="0">
                          <a:effectLst/>
                        </a:rPr>
                        <a:t> run, while one server thread is blocked.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254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 dirty="0">
                          <a:effectLst/>
                        </a:rPr>
                        <a:t>Process has its own Process Control Block,</a:t>
                      </a:r>
                      <a:r>
                        <a:rPr lang="en-US" sz="2000" b="0" spc="10" baseline="0" dirty="0">
                          <a:effectLst/>
                        </a:rPr>
                        <a:t> </a:t>
                      </a:r>
                      <a:r>
                        <a:rPr lang="en-US" sz="2000" b="0" spc="10" dirty="0">
                          <a:effectLst/>
                        </a:rPr>
                        <a:t>Stack and Address Space.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spc="10" dirty="0">
                          <a:effectLst/>
                        </a:rPr>
                        <a:t>Thread has Parents’ PCB, its own Thread Control Block and Stack and common, Address space.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36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6BE45F0-3DE5-4D5E-A6DF-893325F2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6" y="102602"/>
            <a:ext cx="8229600" cy="57626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/>
              <a:t>Thread Libraries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656EC163-3A42-463F-98B9-34FCCA5B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442" y="828676"/>
            <a:ext cx="7703067" cy="4935538"/>
          </a:xfrm>
        </p:spPr>
        <p:txBody>
          <a:bodyPr>
            <a:normAutofit/>
          </a:bodyPr>
          <a:lstStyle/>
          <a:p>
            <a:pPr algn="just"/>
            <a:r>
              <a:rPr lang="en-US" altLang="en-US" sz="2800" b="1" dirty="0"/>
              <a:t>Thread library</a:t>
            </a:r>
            <a:r>
              <a:rPr lang="en-US" altLang="en-US" sz="2800" dirty="0"/>
              <a:t> provides programmer with API for creating and managing threads</a:t>
            </a:r>
          </a:p>
          <a:p>
            <a:pPr algn="just"/>
            <a:r>
              <a:rPr lang="en-US" altLang="en-US" sz="2800" dirty="0"/>
              <a:t>There are two primary ways of implementing a thread library</a:t>
            </a:r>
          </a:p>
          <a:p>
            <a:pPr lvl="1" indent="-228600" algn="just">
              <a:buFont typeface="Wingdings" panose="05000000000000000000" pitchFamily="2" charset="2"/>
              <a:buChar char="ü"/>
            </a:pPr>
            <a:r>
              <a:rPr lang="en-US" altLang="en-US" sz="2400" dirty="0"/>
              <a:t>The first approach is to provide a library entirely in user space with no kernel support. All code and data structures for the library exist in user space. </a:t>
            </a:r>
          </a:p>
          <a:p>
            <a:pPr lvl="1" indent="-228600" algn="just">
              <a:buFont typeface="Wingdings" panose="05000000000000000000" pitchFamily="2" charset="2"/>
              <a:buChar char="ü"/>
            </a:pPr>
            <a:r>
              <a:rPr lang="en-US" altLang="en-US" sz="2400" dirty="0"/>
              <a:t>The second approach is to implement a kernel-level library supported directly by the operating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0259"/>
            <a:ext cx="8229600" cy="57626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 err="1"/>
              <a:t>Pthreads</a:t>
            </a:r>
            <a:endParaRPr lang="en-US" altLang="en-US" sz="4000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8416" y="871538"/>
            <a:ext cx="7613780" cy="4827587"/>
          </a:xfrm>
        </p:spPr>
        <p:txBody>
          <a:bodyPr>
            <a:normAutofit/>
          </a:bodyPr>
          <a:lstStyle/>
          <a:p>
            <a:pPr algn="just"/>
            <a:r>
              <a:rPr lang="en-US" altLang="en-US" sz="2800" dirty="0"/>
              <a:t>May be provided either as user-level or kernel-level</a:t>
            </a:r>
          </a:p>
          <a:p>
            <a:pPr algn="just"/>
            <a:r>
              <a:rPr lang="en-US" altLang="en-US" sz="2800" dirty="0"/>
              <a:t>A POSIX standard (IEEE 1003.1c) API for thread creation and synchronization</a:t>
            </a:r>
          </a:p>
          <a:p>
            <a:pPr algn="just"/>
            <a:r>
              <a:rPr lang="en-US" altLang="en-US" sz="2800" b="1" i="1" dirty="0"/>
              <a:t>Specification</a:t>
            </a:r>
            <a:r>
              <a:rPr lang="en-US" altLang="en-US" sz="2800" dirty="0"/>
              <a:t>, not </a:t>
            </a:r>
            <a:r>
              <a:rPr lang="en-US" altLang="en-US" sz="2800" b="1" i="1" dirty="0"/>
              <a:t>implementation</a:t>
            </a:r>
            <a:endParaRPr lang="en-US" altLang="en-US" sz="2800" dirty="0"/>
          </a:p>
          <a:p>
            <a:pPr algn="just"/>
            <a:r>
              <a:rPr lang="en-US" altLang="en-US" sz="2800" dirty="0"/>
              <a:t>API specifies behavior of the thread library, implementation is up to development of the library</a:t>
            </a:r>
          </a:p>
          <a:p>
            <a:pPr algn="just"/>
            <a:r>
              <a:rPr lang="en-US" altLang="en-US" sz="2800" dirty="0"/>
              <a:t>Common in UNIX operating systems (Linux &amp; Mac OS X)</a:t>
            </a:r>
          </a:p>
          <a:p>
            <a:pPr algn="just">
              <a:buFont typeface="Monotype Sorts" pitchFamily="-84" charset="2"/>
              <a:buNone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0259"/>
            <a:ext cx="8229600" cy="57626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 err="1"/>
              <a:t>Pthreads</a:t>
            </a:r>
            <a:endParaRPr lang="en-US" altLang="en-US" sz="4000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2595" y="871538"/>
            <a:ext cx="8901405" cy="4827587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*thread,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   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  void *(*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start_routine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)void *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  void *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endParaRPr lang="en-US" altLang="en-US" sz="2000" dirty="0"/>
          </a:p>
          <a:p>
            <a:pPr algn="just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42945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0259"/>
            <a:ext cx="8229600" cy="57626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 err="1"/>
              <a:t>Pthreads</a:t>
            </a:r>
            <a:endParaRPr lang="en-US" altLang="en-US" sz="4000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2595" y="598714"/>
            <a:ext cx="8901405" cy="6259286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*thread,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pthread_attr_t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   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  void *(*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start_routine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)void *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  void *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sz="3000" b="1" dirty="0">
                <a:latin typeface="+mj-lt"/>
                <a:cs typeface="Courier New" panose="02070309020205020404" pitchFamily="49" charset="0"/>
              </a:rPr>
              <a:t>Example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pthread.h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void* routine() {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("Hello from threads\n");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sleep(3);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("Ending thread\n");}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main(int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char*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[]) {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t1, t2;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(&amp;t1, NULL, &amp;routine, NULL);    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(&amp;t2, NULL, &amp;routine, NULL);     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(t1, NULL);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(t2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NULL);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180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>
            <a:extLst>
              <a:ext uri="{FF2B5EF4-FFF2-40B4-BE49-F238E27FC236}">
                <a16:creationId xmlns:a16="http://schemas.microsoft.com/office/drawing/2014/main" id="{C1AEEAB0-CD68-4885-8DE2-6E1B4D461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1933"/>
            <a:ext cx="8229600" cy="57626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dirty="0"/>
              <a:t>Java Threads</a:t>
            </a:r>
          </a:p>
        </p:txBody>
      </p:sp>
      <p:sp>
        <p:nvSpPr>
          <p:cNvPr id="51202" name="Rectangle 5">
            <a:extLst>
              <a:ext uri="{FF2B5EF4-FFF2-40B4-BE49-F238E27FC236}">
                <a16:creationId xmlns:a16="http://schemas.microsoft.com/office/drawing/2014/main" id="{570CFFC5-7BD7-485F-B933-EB13E069C1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688195"/>
            <a:ext cx="7875587" cy="6169805"/>
          </a:xfrm>
        </p:spPr>
        <p:txBody>
          <a:bodyPr>
            <a:normAutofit/>
          </a:bodyPr>
          <a:lstStyle/>
          <a:p>
            <a:pPr algn="just"/>
            <a:r>
              <a:rPr lang="en-US" altLang="en-US" sz="2800" dirty="0"/>
              <a:t>Java threads are managed by the JVM</a:t>
            </a:r>
          </a:p>
          <a:p>
            <a:pPr algn="just"/>
            <a:r>
              <a:rPr lang="en-US" altLang="en-US" sz="2800" dirty="0"/>
              <a:t>Typically implemented using the threads model provided by underlying OS</a:t>
            </a:r>
          </a:p>
          <a:p>
            <a:pPr algn="just"/>
            <a:r>
              <a:rPr lang="en-US" altLang="en-US" sz="2800" dirty="0"/>
              <a:t>Java threads may be created by:</a:t>
            </a:r>
          </a:p>
          <a:p>
            <a:pPr lvl="1" indent="-285750" algn="just">
              <a:buFont typeface="Wingdings" panose="05000000000000000000" pitchFamily="2" charset="2"/>
              <a:buChar char="ü"/>
            </a:pPr>
            <a:r>
              <a:rPr lang="en-US" altLang="en-US" sz="2500" dirty="0"/>
              <a:t>Extending Thread class</a:t>
            </a:r>
          </a:p>
          <a:p>
            <a:pPr lvl="1" indent="-285750" algn="just">
              <a:buFont typeface="Wingdings" panose="05000000000000000000" pitchFamily="2" charset="2"/>
              <a:buChar char="ü"/>
            </a:pPr>
            <a:r>
              <a:rPr lang="en-US" altLang="en-US" sz="2500" dirty="0"/>
              <a:t>Implementing the Runnable interface</a:t>
            </a:r>
          </a:p>
          <a:p>
            <a:pPr lvl="1" indent="-285750" algn="just">
              <a:buFont typeface="Wingdings" panose="05000000000000000000" pitchFamily="2" charset="2"/>
              <a:buChar char="ü"/>
            </a:pPr>
            <a:endParaRPr lang="en-US" altLang="en-US" sz="2500" dirty="0"/>
          </a:p>
          <a:p>
            <a:pPr lvl="1" indent="-285750" algn="just">
              <a:buFont typeface="Wingdings" panose="05000000000000000000" pitchFamily="2" charset="2"/>
              <a:buChar char="ü"/>
            </a:pPr>
            <a:endParaRPr lang="en-US" altLang="en-US" sz="2500" dirty="0"/>
          </a:p>
          <a:p>
            <a:pPr lvl="1" indent="-285750" algn="just"/>
            <a:br>
              <a:rPr lang="en-US" altLang="en-US" sz="2400" dirty="0"/>
            </a:br>
            <a:br>
              <a:rPr lang="en-US" altLang="en-US" sz="2400" dirty="0"/>
            </a:br>
            <a:endParaRPr lang="en-US" altLang="en-US" sz="2400" dirty="0"/>
          </a:p>
          <a:p>
            <a:pPr lvl="1" indent="-285750" algn="just">
              <a:buNone/>
            </a:pPr>
            <a:endParaRPr lang="en-US" altLang="en-US" sz="1050" dirty="0"/>
          </a:p>
          <a:p>
            <a:pPr lvl="1" indent="-285750" algn="just">
              <a:buFont typeface="Wingdings" panose="05000000000000000000" pitchFamily="2" charset="2"/>
              <a:buChar char="ü"/>
            </a:pPr>
            <a:r>
              <a:rPr lang="en-US" altLang="en-US" sz="2400" dirty="0"/>
              <a:t>Standard practice is to implement Runnable interface</a:t>
            </a:r>
            <a:br>
              <a:rPr lang="en-US" altLang="en-US" sz="2400" dirty="0"/>
            </a:br>
            <a:endParaRPr lang="en-US" altLang="en-US" sz="2400" dirty="0"/>
          </a:p>
        </p:txBody>
      </p:sp>
      <p:pic>
        <p:nvPicPr>
          <p:cNvPr id="51203" name="Picture 1" descr="Screen Shot 2012-12-04 at 9.09.28 PM.png">
            <a:extLst>
              <a:ext uri="{FF2B5EF4-FFF2-40B4-BE49-F238E27FC236}">
                <a16:creationId xmlns:a16="http://schemas.microsoft.com/office/drawing/2014/main" id="{0C728E61-EF06-4D16-9CCE-0AA7C7626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726" y="3560762"/>
            <a:ext cx="5188548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C60F206A-FBEA-44F3-B6C2-45680ED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1642"/>
            <a:ext cx="8229600" cy="463165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Java Threads</a:t>
            </a:r>
          </a:p>
        </p:txBody>
      </p:sp>
      <p:sp>
        <p:nvSpPr>
          <p:cNvPr id="53250" name="TextBox 2">
            <a:extLst>
              <a:ext uri="{FF2B5EF4-FFF2-40B4-BE49-F238E27FC236}">
                <a16:creationId xmlns:a16="http://schemas.microsoft.com/office/drawing/2014/main" id="{93AD19CF-3C73-477D-B858-C3606B2B5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58" y="621307"/>
            <a:ext cx="51973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+mn-lt"/>
                <a:ea typeface="+mn-ea"/>
                <a:cs typeface="+mn-cs"/>
              </a:rPr>
              <a:t>Implementing Runnable interface</a:t>
            </a:r>
            <a:r>
              <a:rPr kumimoji="0" lang="en-US" altLang="en-US" sz="2400" dirty="0">
                <a:latin typeface="Verdana" panose="020B0604030504040204" pitchFamily="34" charset="0"/>
              </a:rPr>
              <a:t>: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id="{3A6E59B6-1369-4D02-9B41-9466C54EE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458" y="1197569"/>
            <a:ext cx="5729055" cy="1869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>
            <a:extLst>
              <a:ext uri="{FF2B5EF4-FFF2-40B4-BE49-F238E27FC236}">
                <a16:creationId xmlns:a16="http://schemas.microsoft.com/office/drawing/2014/main" id="{5D600B74-6680-4450-BB6F-CBCFF22A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3014663"/>
            <a:ext cx="2800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+mn-lt"/>
                <a:ea typeface="+mn-ea"/>
                <a:cs typeface="+mn-cs"/>
              </a:rPr>
              <a:t>Creating a thread:</a:t>
            </a:r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3157C5FE-DF44-43EE-B465-730C09A7D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2" y="3579815"/>
            <a:ext cx="6588533" cy="1010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Rectangle 6">
            <a:extLst>
              <a:ext uri="{FF2B5EF4-FFF2-40B4-BE49-F238E27FC236}">
                <a16:creationId xmlns:a16="http://schemas.microsoft.com/office/drawing/2014/main" id="{B7EDA4AE-092F-4D4E-9689-344AD518F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643439"/>
            <a:ext cx="3163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2800" dirty="0">
                <a:latin typeface="+mn-lt"/>
                <a:ea typeface="+mn-ea"/>
                <a:cs typeface="+mn-cs"/>
              </a:rPr>
              <a:t>Waiting on a thread:</a:t>
            </a:r>
          </a:p>
        </p:txBody>
      </p:sp>
      <p:pic>
        <p:nvPicPr>
          <p:cNvPr id="53255" name="Picture 7">
            <a:extLst>
              <a:ext uri="{FF2B5EF4-FFF2-40B4-BE49-F238E27FC236}">
                <a16:creationId xmlns:a16="http://schemas.microsoft.com/office/drawing/2014/main" id="{6EBBEE03-6B80-4FB8-8BA5-A69C6B307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5243516"/>
            <a:ext cx="5054638" cy="1560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C60F206A-FBEA-44F3-B6C2-45680ED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1642"/>
            <a:ext cx="8229600" cy="463165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Java Threads</a:t>
            </a:r>
          </a:p>
        </p:txBody>
      </p:sp>
      <p:sp>
        <p:nvSpPr>
          <p:cNvPr id="53250" name="TextBox 2">
            <a:extLst>
              <a:ext uri="{FF2B5EF4-FFF2-40B4-BE49-F238E27FC236}">
                <a16:creationId xmlns:a16="http://schemas.microsoft.com/office/drawing/2014/main" id="{93AD19CF-3C73-477D-B858-C3606B2B5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1307"/>
            <a:ext cx="7858125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class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NewThread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implements Runnable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Thread 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>
                <a:latin typeface="Verdana" panose="020B0604030504040204" pitchFamily="34" charset="0"/>
                <a:cs typeface="+mn-cs"/>
              </a:rPr>
              <a:t>NewThread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t = new Thread(this, "Demo Thread");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System.out.println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("Child thread: " + t);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t.start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public void run()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try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for(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int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= 5;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&gt; 0;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--)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System.out.println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("Child Thread: " +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Thread.sleep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(500);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catch (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InterruptedException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e)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System.out.println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("Child interrupted.");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System.out.println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("Exiting child thread.");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529928"/>
            <a:ext cx="44005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ThreadDemo</a:t>
            </a:r>
            <a:r>
              <a:rPr lang="en-US" dirty="0"/>
              <a:t> {</a:t>
            </a:r>
          </a:p>
          <a:p>
            <a:r>
              <a:rPr lang="en-US" dirty="0"/>
              <a:t>	p s v main(String </a:t>
            </a:r>
            <a:r>
              <a:rPr lang="en-US" dirty="0" err="1"/>
              <a:t>args</a:t>
            </a:r>
            <a:r>
              <a:rPr lang="en-US" dirty="0"/>
              <a:t>[ ] ) {</a:t>
            </a:r>
          </a:p>
          <a:p>
            <a:r>
              <a:rPr lang="en-US" dirty="0"/>
              <a:t>	new </a:t>
            </a:r>
            <a:r>
              <a:rPr lang="en-US" dirty="0" err="1"/>
              <a:t>NewThread</a:t>
            </a:r>
            <a:r>
              <a:rPr lang="en-US" dirty="0"/>
              <a:t>(); 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6522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C60F206A-FBEA-44F3-B6C2-45680ED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1642"/>
            <a:ext cx="8229600" cy="463165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Java Threads</a:t>
            </a:r>
          </a:p>
        </p:txBody>
      </p:sp>
      <p:sp>
        <p:nvSpPr>
          <p:cNvPr id="53250" name="TextBox 2">
            <a:extLst>
              <a:ext uri="{FF2B5EF4-FFF2-40B4-BE49-F238E27FC236}">
                <a16:creationId xmlns:a16="http://schemas.microsoft.com/office/drawing/2014/main" id="{93AD19CF-3C73-477D-B858-C3606B2B5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1307"/>
            <a:ext cx="7858125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class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NewThread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extends Thread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>
                <a:latin typeface="Verdana" panose="020B0604030504040204" pitchFamily="34" charset="0"/>
                <a:cs typeface="+mn-cs"/>
              </a:rPr>
              <a:t>NewThread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super("Demo Thread");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System.out.println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("Child thread: " + this);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start();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public void run()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try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for(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int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= 5;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&gt; 0;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--)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System.out.println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("Child Thread: " + 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Thread.sleep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(500);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} catch (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InterruptedException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 e)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System.out.println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("Child interrupted.");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	</a:t>
            </a:r>
            <a:r>
              <a:rPr lang="en-US" altLang="en-US" dirty="0" err="1">
                <a:latin typeface="Verdana" panose="020B0604030504040204" pitchFamily="34" charset="0"/>
                <a:cs typeface="+mn-cs"/>
              </a:rPr>
              <a:t>System.out.println</a:t>
            </a:r>
            <a:r>
              <a:rPr lang="en-US" altLang="en-US" dirty="0">
                <a:latin typeface="Verdana" panose="020B0604030504040204" pitchFamily="34" charset="0"/>
                <a:cs typeface="+mn-cs"/>
              </a:rPr>
              <a:t>("Exiting child thread.");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>
                <a:latin typeface="Verdana" panose="020B0604030504040204" pitchFamily="34" charset="0"/>
                <a:cs typeface="+mn-cs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0" y="5529928"/>
            <a:ext cx="44005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ThreadDemo</a:t>
            </a:r>
            <a:r>
              <a:rPr lang="en-US" dirty="0"/>
              <a:t> {</a:t>
            </a:r>
          </a:p>
          <a:p>
            <a:r>
              <a:rPr lang="en-US" dirty="0"/>
              <a:t>	p s v main(String </a:t>
            </a:r>
            <a:r>
              <a:rPr lang="en-US" dirty="0" err="1"/>
              <a:t>args</a:t>
            </a:r>
            <a:r>
              <a:rPr lang="en-US" dirty="0"/>
              <a:t>[ ] ) {</a:t>
            </a:r>
          </a:p>
          <a:p>
            <a:r>
              <a:rPr lang="en-US" dirty="0"/>
              <a:t>	new </a:t>
            </a:r>
            <a:r>
              <a:rPr lang="en-US" dirty="0" err="1"/>
              <a:t>NewThread</a:t>
            </a:r>
            <a:r>
              <a:rPr lang="en-US" dirty="0"/>
              <a:t>(); 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8610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15849</TotalTime>
  <Words>1328</Words>
  <Application>Microsoft Office PowerPoint</Application>
  <PresentationFormat>On-screen Show (4:3)</PresentationFormat>
  <Paragraphs>167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MS PGothic</vt:lpstr>
      <vt:lpstr>Arial</vt:lpstr>
      <vt:lpstr>Calibri</vt:lpstr>
      <vt:lpstr>Calibri Light</vt:lpstr>
      <vt:lpstr>Courier New</vt:lpstr>
      <vt:lpstr>Helvetica</vt:lpstr>
      <vt:lpstr>Monotype Sorts</vt:lpstr>
      <vt:lpstr>Times New Roman</vt:lpstr>
      <vt:lpstr>Verdana</vt:lpstr>
      <vt:lpstr>Wingdings</vt:lpstr>
      <vt:lpstr>Office Theme</vt:lpstr>
      <vt:lpstr>Threads</vt:lpstr>
      <vt:lpstr>Thread</vt:lpstr>
      <vt:lpstr>Thread</vt:lpstr>
      <vt:lpstr>Thread</vt:lpstr>
      <vt:lpstr>Single and Multithreaded Processes</vt:lpstr>
      <vt:lpstr>Benefits</vt:lpstr>
      <vt:lpstr>Benefits</vt:lpstr>
      <vt:lpstr>PowerPoint Presentation</vt:lpstr>
      <vt:lpstr>Thread Libraries</vt:lpstr>
      <vt:lpstr>Pthreads</vt:lpstr>
      <vt:lpstr>Pthreads</vt:lpstr>
      <vt:lpstr>Pthreads</vt:lpstr>
      <vt:lpstr>Java Threads</vt:lpstr>
      <vt:lpstr>Java Threads</vt:lpstr>
      <vt:lpstr>Java Threads</vt:lpstr>
      <vt:lpstr>Java Threads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Kuldeep Singh</cp:lastModifiedBy>
  <cp:revision>291</cp:revision>
  <cp:lastPrinted>2013-09-10T17:57:57Z</cp:lastPrinted>
  <dcterms:created xsi:type="dcterms:W3CDTF">2011-01-13T23:43:38Z</dcterms:created>
  <dcterms:modified xsi:type="dcterms:W3CDTF">2024-02-27T07:38:11Z</dcterms:modified>
</cp:coreProperties>
</file>