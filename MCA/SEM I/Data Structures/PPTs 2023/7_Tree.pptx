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6858000" cx="12192000"/>
  <p:notesSz cx="6858000" cy="9144000"/>
  <p:embeddedFontLst>
    <p:embeddedFont>
      <p:font typeface="Tahoma"/>
      <p:regular r:id="rId70"/>
      <p:bold r:id="rId71"/>
    </p:embeddedFont>
    <p:embeddedFont>
      <p:font typeface="Noto Sans Symbols"/>
      <p:regular r:id="rId72"/>
      <p:bold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74" roundtripDataSignature="AMtx7mjHBXIFbO66bkR+1IjgT+QFSlHQ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NotoSansSymbols-bold.fntdata"/><Relationship Id="rId72" Type="http://schemas.openxmlformats.org/officeDocument/2006/relationships/font" Target="fonts/NotoSansSymbols-regular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customschemas.google.com/relationships/presentationmetadata" Target="meta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Tahoma-bold.fntdata"/><Relationship Id="rId70" Type="http://schemas.openxmlformats.org/officeDocument/2006/relationships/font" Target="fonts/Tahoma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aafbbaed6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2aafbbaed6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2aafbbaed6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a98deb7a6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a98deb7a6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g2a98deb7a6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a98deb7a6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2a98deb7a6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g2a98deb7a6b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7" name="Google Shape;95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58" name="Google Shape;95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  <a:defRPr b="1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4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  <a:defRPr b="1" sz="4000">
                <a:solidFill>
                  <a:srgbClr val="C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4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 b="1">
                <a:solidFill>
                  <a:srgbClr val="002060"/>
                </a:solidFill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  <a:defRPr b="1">
                <a:solidFill>
                  <a:srgbClr val="FF0000"/>
                </a:solidFill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Char char="•"/>
              <a:defRPr b="1">
                <a:solidFill>
                  <a:srgbClr val="00B050"/>
                </a:solidFill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4"/>
          <p:cNvSpPr txBox="1"/>
          <p:nvPr>
            <p:ph idx="10" type="dt"/>
          </p:nvPr>
        </p:nvSpPr>
        <p:spPr>
          <a:xfrm>
            <a:off x="8382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4"/>
          <p:cNvSpPr txBox="1"/>
          <p:nvPr>
            <p:ph idx="11" type="ftr"/>
          </p:nvPr>
        </p:nvSpPr>
        <p:spPr>
          <a:xfrm>
            <a:off x="4038600" y="64071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4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64"/>
          <p:cNvCxnSpPr/>
          <p:nvPr/>
        </p:nvCxnSpPr>
        <p:spPr>
          <a:xfrm flipH="1" rot="10800000">
            <a:off x="838200" y="1081087"/>
            <a:ext cx="10515600" cy="1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" name="Google Shape;28;p64"/>
          <p:cNvCxnSpPr/>
          <p:nvPr/>
        </p:nvCxnSpPr>
        <p:spPr>
          <a:xfrm flipH="1" rot="10800000">
            <a:off x="838200" y="6356350"/>
            <a:ext cx="10515600" cy="1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7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4"/>
          <p:cNvSpPr txBox="1"/>
          <p:nvPr>
            <p:ph type="title"/>
          </p:nvPr>
        </p:nvSpPr>
        <p:spPr>
          <a:xfrm>
            <a:off x="1219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4"/>
          <p:cNvSpPr txBox="1"/>
          <p:nvPr>
            <p:ph idx="1" type="body"/>
          </p:nvPr>
        </p:nvSpPr>
        <p:spPr>
          <a:xfrm>
            <a:off x="1320800" y="1828800"/>
            <a:ext cx="5080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74"/>
          <p:cNvSpPr txBox="1"/>
          <p:nvPr>
            <p:ph idx="2" type="body"/>
          </p:nvPr>
        </p:nvSpPr>
        <p:spPr>
          <a:xfrm>
            <a:off x="6604000" y="1828800"/>
            <a:ext cx="5080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74"/>
          <p:cNvSpPr txBox="1"/>
          <p:nvPr>
            <p:ph idx="11" type="ftr"/>
          </p:nvPr>
        </p:nvSpPr>
        <p:spPr>
          <a:xfrm>
            <a:off x="1320800" y="6096000"/>
            <a:ext cx="467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4"/>
          <p:cNvSpPr txBox="1"/>
          <p:nvPr>
            <p:ph idx="12" type="sldNum"/>
          </p:nvPr>
        </p:nvSpPr>
        <p:spPr>
          <a:xfrm>
            <a:off x="9144000" y="6096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5"/>
          <p:cNvSpPr txBox="1"/>
          <p:nvPr>
            <p:ph type="title"/>
          </p:nvPr>
        </p:nvSpPr>
        <p:spPr>
          <a:xfrm>
            <a:off x="914400" y="4572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5"/>
          <p:cNvSpPr txBox="1"/>
          <p:nvPr>
            <p:ph idx="1" type="body"/>
          </p:nvPr>
        </p:nvSpPr>
        <p:spPr>
          <a:xfrm>
            <a:off x="914400" y="14478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75"/>
          <p:cNvSpPr txBox="1"/>
          <p:nvPr>
            <p:ph idx="2" type="body"/>
          </p:nvPr>
        </p:nvSpPr>
        <p:spPr>
          <a:xfrm>
            <a:off x="914400" y="38481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6"/>
          <p:cNvSpPr txBox="1"/>
          <p:nvPr>
            <p:ph type="title"/>
          </p:nvPr>
        </p:nvSpPr>
        <p:spPr>
          <a:xfrm>
            <a:off x="914400" y="4572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6"/>
          <p:cNvSpPr txBox="1"/>
          <p:nvPr>
            <p:ph idx="1" type="body"/>
          </p:nvPr>
        </p:nvSpPr>
        <p:spPr>
          <a:xfrm>
            <a:off x="914400" y="14478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76"/>
          <p:cNvSpPr txBox="1"/>
          <p:nvPr>
            <p:ph idx="2" type="body"/>
          </p:nvPr>
        </p:nvSpPr>
        <p:spPr>
          <a:xfrm>
            <a:off x="914400" y="38481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812042" y="3079568"/>
            <a:ext cx="10567916" cy="6988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C00000"/>
                </a:solidFill>
              </a:rPr>
              <a:t>Trees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Preliminaries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What is Tree? 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Implementation of Trees using C++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Tree traversals and applications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Binary Trees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Binary Search Trees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Structure and operations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Analysis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AVL Trees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B and B+ Trees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Heaps, Priority Queues</a:t>
            </a:r>
            <a:endParaRPr/>
          </a:p>
        </p:txBody>
      </p:sp>
      <p:sp>
        <p:nvSpPr>
          <p:cNvPr id="117" name="Google Shape;117;p2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What is a Tree?</a:t>
            </a:r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A tree is a collection of nodes with the following properties: </a:t>
            </a:r>
            <a:endParaRPr/>
          </a:p>
          <a:p>
            <a:pPr indent="-22860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/>
              <a:t>The collection can be empty. </a:t>
            </a:r>
            <a:endParaRPr/>
          </a:p>
          <a:p>
            <a:pPr indent="-22860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/>
              <a:t>Otherwise, a tree consists of a distinguished node r, called </a:t>
            </a:r>
            <a:r>
              <a:rPr i="1" lang="en-US" sz="2000">
                <a:solidFill>
                  <a:srgbClr val="FF0000"/>
                </a:solidFill>
              </a:rPr>
              <a:t>root</a:t>
            </a:r>
            <a:r>
              <a:rPr lang="en-US" sz="2000"/>
              <a:t>, and zero or more nonempty sub-trees T</a:t>
            </a:r>
            <a:r>
              <a:rPr baseline="-25000" lang="en-US" sz="2000"/>
              <a:t>1</a:t>
            </a:r>
            <a:r>
              <a:rPr lang="en-US" sz="2000"/>
              <a:t>, T</a:t>
            </a:r>
            <a:r>
              <a:rPr baseline="-25000" lang="en-US" sz="2000"/>
              <a:t>2</a:t>
            </a:r>
            <a:r>
              <a:rPr lang="en-US" sz="2000"/>
              <a:t>, … , T</a:t>
            </a:r>
            <a:r>
              <a:rPr baseline="-25000" lang="en-US" sz="2000"/>
              <a:t>k</a:t>
            </a:r>
            <a:r>
              <a:rPr lang="en-US" sz="2000"/>
              <a:t>, each of whose roots are connected by a </a:t>
            </a:r>
            <a:r>
              <a:rPr i="1" lang="en-US" sz="2000">
                <a:solidFill>
                  <a:srgbClr val="FF0000"/>
                </a:solidFill>
              </a:rPr>
              <a:t>directed edge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/>
              <a:t>from r.</a:t>
            </a:r>
            <a:r>
              <a:rPr lang="en-US" sz="3200"/>
              <a:t> </a:t>
            </a:r>
            <a:endParaRPr/>
          </a:p>
          <a:p>
            <a:pPr indent="-22860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The root of each sub-tree is said to be </a:t>
            </a:r>
            <a:r>
              <a:rPr i="1" lang="en-US" sz="2400">
                <a:solidFill>
                  <a:srgbClr val="FF0000"/>
                </a:solidFill>
              </a:rPr>
              <a:t>child</a:t>
            </a:r>
            <a:r>
              <a:rPr lang="en-US" sz="2400"/>
              <a:t> of r, and r is the </a:t>
            </a:r>
            <a:r>
              <a:rPr i="1" lang="en-US" sz="2400">
                <a:solidFill>
                  <a:srgbClr val="FF0000"/>
                </a:solidFill>
              </a:rPr>
              <a:t>parent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of each sub-tree root. </a:t>
            </a:r>
            <a:endParaRPr/>
          </a:p>
          <a:p>
            <a:pPr indent="-22860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If a tree is a collection of N nodes, then it has N-1 edges. 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5" name="Google Shape;125;p3"/>
          <p:cNvGrpSpPr/>
          <p:nvPr/>
        </p:nvGrpSpPr>
        <p:grpSpPr>
          <a:xfrm>
            <a:off x="3124201" y="4191000"/>
            <a:ext cx="5745163" cy="2147888"/>
            <a:chOff x="1075" y="2441"/>
            <a:chExt cx="3619" cy="1353"/>
          </a:xfrm>
        </p:grpSpPr>
        <p:sp>
          <p:nvSpPr>
            <p:cNvPr id="126" name="Google Shape;126;p3"/>
            <p:cNvSpPr/>
            <p:nvPr/>
          </p:nvSpPr>
          <p:spPr>
            <a:xfrm>
              <a:off x="2762" y="2441"/>
              <a:ext cx="300" cy="31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root</a:t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1075" y="3204"/>
              <a:ext cx="771" cy="589"/>
            </a:xfrm>
            <a:prstGeom prst="triangle">
              <a:avLst>
                <a:gd fmla="val 50000" name="adj"/>
              </a:avLst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55" y="3239"/>
              <a:ext cx="771" cy="454"/>
            </a:xfrm>
            <a:prstGeom prst="triangle">
              <a:avLst>
                <a:gd fmla="val 50000" name="adj"/>
              </a:avLst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923" y="3203"/>
              <a:ext cx="771" cy="591"/>
            </a:xfrm>
            <a:prstGeom prst="triangle">
              <a:avLst>
                <a:gd fmla="val 50000" name="adj"/>
              </a:avLst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/>
            </a:p>
          </p:txBody>
        </p:sp>
        <p:cxnSp>
          <p:nvCxnSpPr>
            <p:cNvPr id="130" name="Google Shape;130;p3"/>
            <p:cNvCxnSpPr/>
            <p:nvPr/>
          </p:nvCxnSpPr>
          <p:spPr>
            <a:xfrm flipH="1">
              <a:off x="1447" y="2659"/>
              <a:ext cx="1315" cy="5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1" name="Google Shape;131;p3"/>
            <p:cNvCxnSpPr/>
            <p:nvPr/>
          </p:nvCxnSpPr>
          <p:spPr>
            <a:xfrm flipH="1">
              <a:off x="2426" y="2750"/>
              <a:ext cx="409" cy="4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2" name="Google Shape;132;p3"/>
            <p:cNvCxnSpPr/>
            <p:nvPr/>
          </p:nvCxnSpPr>
          <p:spPr>
            <a:xfrm>
              <a:off x="3061" y="2659"/>
              <a:ext cx="1271" cy="5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3" name="Google Shape;133;p3"/>
            <p:cNvSpPr txBox="1"/>
            <p:nvPr/>
          </p:nvSpPr>
          <p:spPr>
            <a:xfrm>
              <a:off x="3186" y="3247"/>
              <a:ext cx="329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Preliminaries</a:t>
            </a:r>
            <a:endParaRPr/>
          </a:p>
        </p:txBody>
      </p:sp>
      <p:sp>
        <p:nvSpPr>
          <p:cNvPr id="139" name="Google Shape;139;p4"/>
          <p:cNvSpPr txBox="1"/>
          <p:nvPr>
            <p:ph idx="1" type="body"/>
          </p:nvPr>
        </p:nvSpPr>
        <p:spPr>
          <a:xfrm>
            <a:off x="457232" y="1305718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438" lvl="1" marL="669925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Node </a:t>
            </a:r>
            <a:r>
              <a:rPr i="1" lang="en-US"/>
              <a:t>A</a:t>
            </a:r>
            <a:r>
              <a:rPr lang="en-US"/>
              <a:t> has 6 </a:t>
            </a:r>
            <a:r>
              <a:rPr i="1" lang="en-US">
                <a:solidFill>
                  <a:srgbClr val="FF0000"/>
                </a:solidFill>
              </a:rPr>
              <a:t>children</a:t>
            </a:r>
            <a:r>
              <a:rPr lang="en-US"/>
              <a:t>: B, C, D, E, F, G. </a:t>
            </a:r>
            <a:endParaRPr/>
          </a:p>
          <a:p>
            <a:pPr indent="-325438" lvl="1" marL="6699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B, C, H, I, P, Q, K, L, M, N are </a:t>
            </a:r>
            <a:r>
              <a:rPr i="1" lang="en-US">
                <a:solidFill>
                  <a:srgbClr val="FF0000"/>
                </a:solidFill>
              </a:rPr>
              <a:t>leaves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in the tree above.</a:t>
            </a:r>
            <a:endParaRPr/>
          </a:p>
          <a:p>
            <a:pPr indent="-325438" lvl="1" marL="6699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K, L, M are </a:t>
            </a:r>
            <a:r>
              <a:rPr i="1" lang="en-US">
                <a:solidFill>
                  <a:srgbClr val="FF0000"/>
                </a:solidFill>
              </a:rPr>
              <a:t>siblings</a:t>
            </a:r>
            <a:r>
              <a:rPr lang="en-US"/>
              <a:t> since F is parent of all of them. </a:t>
            </a:r>
            <a:endParaRPr sz="2600"/>
          </a:p>
        </p:txBody>
      </p:sp>
      <p:sp>
        <p:nvSpPr>
          <p:cNvPr id="140" name="Google Shape;140;p4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1" name="Google Shape;141;p4"/>
          <p:cNvGrpSpPr/>
          <p:nvPr/>
        </p:nvGrpSpPr>
        <p:grpSpPr>
          <a:xfrm>
            <a:off x="1332783" y="3169728"/>
            <a:ext cx="7127875" cy="2952750"/>
            <a:chOff x="567" y="618"/>
            <a:chExt cx="4490" cy="1860"/>
          </a:xfrm>
        </p:grpSpPr>
        <p:sp>
          <p:nvSpPr>
            <p:cNvPr id="142" name="Google Shape;142;p4"/>
            <p:cNvSpPr/>
            <p:nvPr/>
          </p:nvSpPr>
          <p:spPr>
            <a:xfrm>
              <a:off x="1610" y="618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567" y="1162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1247" y="116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1882" y="116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2562" y="116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3742" y="116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4603" y="116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1619" y="170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2290" y="170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2834" y="170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3288" y="170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3742" y="170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4223" y="170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4830" y="170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156" name="Google Shape;156;p4"/>
            <p:cNvCxnSpPr/>
            <p:nvPr/>
          </p:nvCxnSpPr>
          <p:spPr>
            <a:xfrm flipH="1">
              <a:off x="1383" y="845"/>
              <a:ext cx="272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" name="Google Shape;157;p4"/>
            <p:cNvCxnSpPr/>
            <p:nvPr/>
          </p:nvCxnSpPr>
          <p:spPr>
            <a:xfrm>
              <a:off x="1791" y="845"/>
              <a:ext cx="182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" name="Google Shape;158;p4"/>
            <p:cNvCxnSpPr/>
            <p:nvPr/>
          </p:nvCxnSpPr>
          <p:spPr>
            <a:xfrm flipH="1">
              <a:off x="793" y="800"/>
              <a:ext cx="817" cy="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" name="Google Shape;159;p4"/>
            <p:cNvCxnSpPr/>
            <p:nvPr/>
          </p:nvCxnSpPr>
          <p:spPr>
            <a:xfrm>
              <a:off x="1837" y="800"/>
              <a:ext cx="725" cy="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0" name="Google Shape;160;p4"/>
            <p:cNvCxnSpPr/>
            <p:nvPr/>
          </p:nvCxnSpPr>
          <p:spPr>
            <a:xfrm>
              <a:off x="1837" y="754"/>
              <a:ext cx="1905" cy="4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1" name="Google Shape;161;p4"/>
            <p:cNvCxnSpPr/>
            <p:nvPr/>
          </p:nvCxnSpPr>
          <p:spPr>
            <a:xfrm>
              <a:off x="1837" y="709"/>
              <a:ext cx="2767" cy="5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" name="Google Shape;162;p4"/>
            <p:cNvCxnSpPr/>
            <p:nvPr/>
          </p:nvCxnSpPr>
          <p:spPr>
            <a:xfrm flipH="1">
              <a:off x="1764" y="1389"/>
              <a:ext cx="182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" name="Google Shape;163;p4"/>
            <p:cNvCxnSpPr/>
            <p:nvPr/>
          </p:nvCxnSpPr>
          <p:spPr>
            <a:xfrm flipH="1">
              <a:off x="2435" y="1389"/>
              <a:ext cx="182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4" name="Google Shape;164;p4"/>
            <p:cNvCxnSpPr/>
            <p:nvPr/>
          </p:nvCxnSpPr>
          <p:spPr>
            <a:xfrm>
              <a:off x="2744" y="1389"/>
              <a:ext cx="181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" name="Google Shape;165;p4"/>
            <p:cNvCxnSpPr/>
            <p:nvPr/>
          </p:nvCxnSpPr>
          <p:spPr>
            <a:xfrm>
              <a:off x="3851" y="1389"/>
              <a:ext cx="0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6" name="Google Shape;166;p4"/>
            <p:cNvCxnSpPr/>
            <p:nvPr/>
          </p:nvCxnSpPr>
          <p:spPr>
            <a:xfrm flipH="1">
              <a:off x="3470" y="1389"/>
              <a:ext cx="317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" name="Google Shape;167;p4"/>
            <p:cNvCxnSpPr/>
            <p:nvPr/>
          </p:nvCxnSpPr>
          <p:spPr>
            <a:xfrm>
              <a:off x="3923" y="1389"/>
              <a:ext cx="363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" name="Google Shape;168;p4"/>
            <p:cNvCxnSpPr/>
            <p:nvPr/>
          </p:nvCxnSpPr>
          <p:spPr>
            <a:xfrm>
              <a:off x="4785" y="1389"/>
              <a:ext cx="136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" name="Google Shape;169;p4"/>
            <p:cNvSpPr/>
            <p:nvPr/>
          </p:nvSpPr>
          <p:spPr>
            <a:xfrm>
              <a:off x="2572" y="2242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3107" y="2251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/>
            </a:p>
          </p:txBody>
        </p:sp>
        <p:cxnSp>
          <p:nvCxnSpPr>
            <p:cNvPr id="171" name="Google Shape;171;p4"/>
            <p:cNvCxnSpPr/>
            <p:nvPr/>
          </p:nvCxnSpPr>
          <p:spPr>
            <a:xfrm flipH="1">
              <a:off x="2708" y="1924"/>
              <a:ext cx="182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" name="Google Shape;172;p4"/>
            <p:cNvCxnSpPr/>
            <p:nvPr/>
          </p:nvCxnSpPr>
          <p:spPr>
            <a:xfrm>
              <a:off x="3017" y="1933"/>
              <a:ext cx="181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Preliminaries (continued)</a:t>
            </a:r>
            <a:endParaRPr/>
          </a:p>
        </p:txBody>
      </p:sp>
      <p:sp>
        <p:nvSpPr>
          <p:cNvPr id="178" name="Google Shape;178;p5"/>
          <p:cNvSpPr txBox="1"/>
          <p:nvPr>
            <p:ph idx="1" type="body"/>
          </p:nvPr>
        </p:nvSpPr>
        <p:spPr>
          <a:xfrm>
            <a:off x="838200" y="1166483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400"/>
              <a:t>A </a:t>
            </a:r>
            <a:r>
              <a:rPr b="1" i="1" lang="en-US" sz="2400">
                <a:solidFill>
                  <a:srgbClr val="FF0000"/>
                </a:solidFill>
              </a:rPr>
              <a:t>path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from node n</a:t>
            </a:r>
            <a:r>
              <a:rPr baseline="-25000" lang="en-US" sz="2400"/>
              <a:t>1</a:t>
            </a:r>
            <a:r>
              <a:rPr lang="en-US" sz="2400"/>
              <a:t> to n</a:t>
            </a:r>
            <a:r>
              <a:rPr baseline="-25000" lang="en-US" sz="2400"/>
              <a:t>k</a:t>
            </a:r>
            <a:r>
              <a:rPr lang="en-US" sz="2400"/>
              <a:t> is defined as a sequence of nodes n</a:t>
            </a:r>
            <a:r>
              <a:rPr baseline="-25000" lang="en-US" sz="2400"/>
              <a:t>1</a:t>
            </a:r>
            <a:r>
              <a:rPr lang="en-US" sz="2400"/>
              <a:t>, n</a:t>
            </a:r>
            <a:r>
              <a:rPr baseline="-25000" lang="en-US" sz="2400"/>
              <a:t>2</a:t>
            </a:r>
            <a:r>
              <a:rPr lang="en-US" sz="2400"/>
              <a:t>, …, n</a:t>
            </a:r>
            <a:r>
              <a:rPr baseline="-25000" lang="en-US" sz="2400"/>
              <a:t>k</a:t>
            </a:r>
            <a:r>
              <a:rPr lang="en-US" sz="2400"/>
              <a:t> such that n</a:t>
            </a:r>
            <a:r>
              <a:rPr baseline="-25000" lang="en-US" sz="2400"/>
              <a:t>i</a:t>
            </a:r>
            <a:r>
              <a:rPr lang="en-US" sz="2400"/>
              <a:t> is parent of n</a:t>
            </a:r>
            <a:r>
              <a:rPr baseline="-25000" lang="en-US" sz="2400"/>
              <a:t>i+1 </a:t>
            </a:r>
            <a:r>
              <a:rPr lang="en-US" sz="2400"/>
              <a:t>(1 ≤i &lt; k)</a:t>
            </a:r>
            <a:endParaRPr/>
          </a:p>
          <a:p>
            <a:pPr indent="-22860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/>
              <a:t>The</a:t>
            </a:r>
            <a:r>
              <a:rPr i="1" lang="en-US"/>
              <a:t> </a:t>
            </a:r>
            <a:r>
              <a:rPr b="1" i="1" lang="en-US">
                <a:solidFill>
                  <a:srgbClr val="FF0000"/>
                </a:solidFill>
              </a:rPr>
              <a:t>length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of a path is the number of edges on that path. </a:t>
            </a:r>
            <a:endParaRPr/>
          </a:p>
          <a:p>
            <a:pPr indent="-22860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/>
              <a:t>There is a path of length zero from every node to itself. </a:t>
            </a:r>
            <a:endParaRPr/>
          </a:p>
          <a:p>
            <a:pPr indent="-22860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/>
              <a:t>There is exactly one path from the root to each node. </a:t>
            </a:r>
            <a:endParaRPr/>
          </a:p>
          <a:p>
            <a:pPr indent="-22860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400"/>
              <a:t>The </a:t>
            </a:r>
            <a:r>
              <a:rPr b="1" i="1" lang="en-US" sz="2400">
                <a:solidFill>
                  <a:srgbClr val="FF0000"/>
                </a:solidFill>
              </a:rPr>
              <a:t>depth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of node n</a:t>
            </a:r>
            <a:r>
              <a:rPr baseline="-25000" lang="en-US" sz="2400"/>
              <a:t>i</a:t>
            </a:r>
            <a:r>
              <a:rPr lang="en-US" sz="2400"/>
              <a:t> is the length of the path from </a:t>
            </a:r>
            <a:r>
              <a:rPr i="1" lang="en-US" sz="2400"/>
              <a:t>root</a:t>
            </a:r>
            <a:r>
              <a:rPr lang="en-US" sz="2400"/>
              <a:t> to node n</a:t>
            </a:r>
            <a:r>
              <a:rPr baseline="-25000" lang="en-US" sz="2400"/>
              <a:t>i</a:t>
            </a:r>
            <a:endParaRPr baseline="-25000" sz="2400"/>
          </a:p>
          <a:p>
            <a:pPr indent="-22860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400"/>
              <a:t>The </a:t>
            </a:r>
            <a:r>
              <a:rPr b="1" i="1" lang="en-US" sz="2400">
                <a:solidFill>
                  <a:srgbClr val="FF0000"/>
                </a:solidFill>
              </a:rPr>
              <a:t>height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of node n</a:t>
            </a:r>
            <a:r>
              <a:rPr baseline="-25000" lang="en-US" sz="2400"/>
              <a:t>i</a:t>
            </a:r>
            <a:r>
              <a:rPr lang="en-US" sz="2400"/>
              <a:t> is the length of longest path from node n</a:t>
            </a:r>
            <a:r>
              <a:rPr baseline="-25000" lang="en-US" sz="2400"/>
              <a:t>i</a:t>
            </a:r>
            <a:r>
              <a:rPr lang="en-US" sz="2400"/>
              <a:t> to a </a:t>
            </a:r>
            <a:r>
              <a:rPr i="1" lang="en-US" sz="2400"/>
              <a:t>leaf.</a:t>
            </a:r>
            <a:r>
              <a:rPr lang="en-US" sz="2400"/>
              <a:t> </a:t>
            </a:r>
            <a:endParaRPr/>
          </a:p>
          <a:p>
            <a:pPr indent="-22860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US" sz="2400"/>
              <a:t>If there is a path from n</a:t>
            </a:r>
            <a:r>
              <a:rPr baseline="-25000" lang="en-US" sz="2400"/>
              <a:t>1</a:t>
            </a:r>
            <a:r>
              <a:rPr lang="en-US" sz="2400"/>
              <a:t> to n</a:t>
            </a:r>
            <a:r>
              <a:rPr baseline="-25000" lang="en-US" sz="2400"/>
              <a:t>2</a:t>
            </a:r>
            <a:r>
              <a:rPr lang="en-US" sz="2400"/>
              <a:t>, then n</a:t>
            </a:r>
            <a:r>
              <a:rPr baseline="-25000" lang="en-US" sz="2400"/>
              <a:t>1</a:t>
            </a:r>
            <a:r>
              <a:rPr lang="en-US" sz="2400"/>
              <a:t> is </a:t>
            </a:r>
            <a:r>
              <a:rPr b="1" i="1" lang="en-US" sz="2400">
                <a:solidFill>
                  <a:srgbClr val="FF0000"/>
                </a:solidFill>
              </a:rPr>
              <a:t>ancestor</a:t>
            </a:r>
            <a:r>
              <a:rPr lang="en-US" sz="2400"/>
              <a:t> of n</a:t>
            </a:r>
            <a:r>
              <a:rPr baseline="-25000" lang="en-US" sz="2400"/>
              <a:t>2</a:t>
            </a:r>
            <a:r>
              <a:rPr lang="en-US" sz="2400"/>
              <a:t>, and n</a:t>
            </a:r>
            <a:r>
              <a:rPr baseline="-25000" lang="en-US" sz="2400"/>
              <a:t>2</a:t>
            </a:r>
            <a:r>
              <a:rPr lang="en-US" sz="2400"/>
              <a:t> is </a:t>
            </a:r>
            <a:r>
              <a:rPr b="1" i="1" lang="en-US" sz="2400">
                <a:solidFill>
                  <a:srgbClr val="FF0000"/>
                </a:solidFill>
              </a:rPr>
              <a:t>descendent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of n</a:t>
            </a:r>
            <a:r>
              <a:rPr baseline="-25000" lang="en-US" sz="2400"/>
              <a:t>1</a:t>
            </a:r>
            <a:r>
              <a:rPr lang="en-US" sz="2400"/>
              <a:t>. </a:t>
            </a:r>
            <a:endParaRPr/>
          </a:p>
          <a:p>
            <a:pPr indent="-22860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/>
              <a:t>If n</a:t>
            </a:r>
            <a:r>
              <a:rPr baseline="-25000" lang="en-US"/>
              <a:t>1</a:t>
            </a:r>
            <a:r>
              <a:rPr lang="en-US"/>
              <a:t> ≠ n</a:t>
            </a:r>
            <a:r>
              <a:rPr baseline="-25000" lang="en-US"/>
              <a:t>2</a:t>
            </a:r>
            <a:r>
              <a:rPr lang="en-US"/>
              <a:t> then n</a:t>
            </a:r>
            <a:r>
              <a:rPr baseline="-25000" lang="en-US"/>
              <a:t>1</a:t>
            </a:r>
            <a:r>
              <a:rPr lang="en-US"/>
              <a:t> is </a:t>
            </a:r>
            <a:r>
              <a:rPr i="1" lang="en-US">
                <a:solidFill>
                  <a:srgbClr val="2D2DB9"/>
                </a:solidFill>
              </a:rPr>
              <a:t>proper ancestor</a:t>
            </a:r>
            <a:r>
              <a:rPr lang="en-US">
                <a:solidFill>
                  <a:srgbClr val="2D2DB9"/>
                </a:solidFill>
              </a:rPr>
              <a:t> </a:t>
            </a:r>
            <a:r>
              <a:rPr lang="en-US"/>
              <a:t>of n</a:t>
            </a:r>
            <a:r>
              <a:rPr baseline="-25000" lang="en-US"/>
              <a:t>2</a:t>
            </a:r>
            <a:r>
              <a:rPr lang="en-US"/>
              <a:t>, and n</a:t>
            </a:r>
            <a:r>
              <a:rPr baseline="-25000" lang="en-US"/>
              <a:t>2</a:t>
            </a:r>
            <a:r>
              <a:rPr lang="en-US"/>
              <a:t> is </a:t>
            </a:r>
            <a:r>
              <a:rPr i="1" lang="en-US">
                <a:solidFill>
                  <a:srgbClr val="2D2DB9"/>
                </a:solidFill>
              </a:rPr>
              <a:t>proper descendent</a:t>
            </a:r>
            <a:r>
              <a:rPr lang="en-US">
                <a:solidFill>
                  <a:srgbClr val="2D2DB9"/>
                </a:solidFill>
              </a:rPr>
              <a:t> </a:t>
            </a:r>
            <a:r>
              <a:rPr lang="en-US"/>
              <a:t>of n</a:t>
            </a:r>
            <a:r>
              <a:rPr baseline="-25000" lang="en-US"/>
              <a:t>1</a:t>
            </a:r>
            <a:r>
              <a:rPr lang="en-US"/>
              <a:t>. </a:t>
            </a:r>
            <a:endParaRPr/>
          </a:p>
        </p:txBody>
      </p:sp>
      <p:sp>
        <p:nvSpPr>
          <p:cNvPr id="179" name="Google Shape;179;p5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"/>
              <a:buNone/>
            </a:pPr>
            <a:r>
              <a:rPr lang="en-US" sz="4000">
                <a:latin typeface="Times"/>
                <a:ea typeface="Times"/>
                <a:cs typeface="Times"/>
                <a:sym typeface="Times"/>
              </a:rPr>
              <a:t>A tree, with height and depth information</a:t>
            </a:r>
            <a:endParaRPr/>
          </a:p>
        </p:txBody>
      </p:sp>
      <p:sp>
        <p:nvSpPr>
          <p:cNvPr id="186" name="Google Shape;186;p6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700" y="1292225"/>
            <a:ext cx="8724900" cy="486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Implementation of Trees</a:t>
            </a:r>
            <a:endParaRPr/>
          </a:p>
        </p:txBody>
      </p:sp>
      <p:sp>
        <p:nvSpPr>
          <p:cNvPr id="193" name="Google Shape;193;p7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2057400" y="1371601"/>
            <a:ext cx="4038600" cy="13239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 dir="2700000" dist="107763">
              <a:schemeClr val="lt2">
                <a:alpha val="49803"/>
              </a:schemeClr>
            </a:outerShdw>
          </a:effectLst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struct TreeNode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Object       element;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struct TreeNode *firstChild;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struct TreeNode *nextSibling;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};</a:t>
            </a:r>
            <a:endParaRPr/>
          </a:p>
        </p:txBody>
      </p:sp>
      <p:grpSp>
        <p:nvGrpSpPr>
          <p:cNvPr id="195" name="Google Shape;195;p7"/>
          <p:cNvGrpSpPr/>
          <p:nvPr/>
        </p:nvGrpSpPr>
        <p:grpSpPr>
          <a:xfrm>
            <a:off x="2057401" y="3429000"/>
            <a:ext cx="7127875" cy="2952750"/>
            <a:chOff x="567" y="1978"/>
            <a:chExt cx="4490" cy="1860"/>
          </a:xfrm>
        </p:grpSpPr>
        <p:sp>
          <p:nvSpPr>
            <p:cNvPr id="196" name="Google Shape;196;p7"/>
            <p:cNvSpPr/>
            <p:nvPr/>
          </p:nvSpPr>
          <p:spPr>
            <a:xfrm>
              <a:off x="1610" y="1978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567" y="2522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1247" y="252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1882" y="252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2562" y="252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3742" y="252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4603" y="2523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1619" y="306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2290" y="306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2834" y="306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3444" y="306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3898" y="306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4371" y="306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830" y="306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210" name="Google Shape;210;p7"/>
            <p:cNvCxnSpPr/>
            <p:nvPr/>
          </p:nvCxnSpPr>
          <p:spPr>
            <a:xfrm flipH="1">
              <a:off x="793" y="2160"/>
              <a:ext cx="817" cy="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1" name="Google Shape;211;p7"/>
            <p:cNvCxnSpPr/>
            <p:nvPr/>
          </p:nvCxnSpPr>
          <p:spPr>
            <a:xfrm flipH="1">
              <a:off x="1764" y="2749"/>
              <a:ext cx="182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2" name="Google Shape;212;p7"/>
            <p:cNvCxnSpPr/>
            <p:nvPr/>
          </p:nvCxnSpPr>
          <p:spPr>
            <a:xfrm flipH="1">
              <a:off x="2435" y="2749"/>
              <a:ext cx="182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3" name="Google Shape;213;p7"/>
            <p:cNvCxnSpPr/>
            <p:nvPr/>
          </p:nvCxnSpPr>
          <p:spPr>
            <a:xfrm>
              <a:off x="4785" y="2749"/>
              <a:ext cx="136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4" name="Google Shape;214;p7"/>
            <p:cNvSpPr/>
            <p:nvPr/>
          </p:nvSpPr>
          <p:spPr>
            <a:xfrm>
              <a:off x="2556" y="3602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3107" y="3611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/>
            </a:p>
          </p:txBody>
        </p:sp>
        <p:cxnSp>
          <p:nvCxnSpPr>
            <p:cNvPr id="216" name="Google Shape;216;p7"/>
            <p:cNvCxnSpPr/>
            <p:nvPr/>
          </p:nvCxnSpPr>
          <p:spPr>
            <a:xfrm flipH="1">
              <a:off x="2708" y="3284"/>
              <a:ext cx="182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7" name="Google Shape;217;p7"/>
            <p:cNvCxnSpPr/>
            <p:nvPr/>
          </p:nvCxnSpPr>
          <p:spPr>
            <a:xfrm>
              <a:off x="793" y="2643"/>
              <a:ext cx="45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8" name="Google Shape;218;p7"/>
            <p:cNvCxnSpPr/>
            <p:nvPr/>
          </p:nvCxnSpPr>
          <p:spPr>
            <a:xfrm>
              <a:off x="1474" y="2643"/>
              <a:ext cx="40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9" name="Google Shape;219;p7"/>
            <p:cNvCxnSpPr/>
            <p:nvPr/>
          </p:nvCxnSpPr>
          <p:spPr>
            <a:xfrm>
              <a:off x="2109" y="2637"/>
              <a:ext cx="45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0" name="Google Shape;220;p7"/>
            <p:cNvCxnSpPr/>
            <p:nvPr/>
          </p:nvCxnSpPr>
          <p:spPr>
            <a:xfrm>
              <a:off x="2789" y="2637"/>
              <a:ext cx="95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1" name="Google Shape;221;p7"/>
            <p:cNvCxnSpPr/>
            <p:nvPr/>
          </p:nvCxnSpPr>
          <p:spPr>
            <a:xfrm>
              <a:off x="3969" y="2629"/>
              <a:ext cx="63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2" name="Google Shape;222;p7"/>
            <p:cNvCxnSpPr/>
            <p:nvPr/>
          </p:nvCxnSpPr>
          <p:spPr>
            <a:xfrm>
              <a:off x="2517" y="3181"/>
              <a:ext cx="31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3" name="Google Shape;223;p7"/>
            <p:cNvCxnSpPr/>
            <p:nvPr/>
          </p:nvCxnSpPr>
          <p:spPr>
            <a:xfrm>
              <a:off x="3671" y="3179"/>
              <a:ext cx="22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4" name="Google Shape;224;p7"/>
            <p:cNvCxnSpPr/>
            <p:nvPr/>
          </p:nvCxnSpPr>
          <p:spPr>
            <a:xfrm>
              <a:off x="4125" y="3179"/>
              <a:ext cx="22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5" name="Google Shape;225;p7"/>
            <p:cNvCxnSpPr/>
            <p:nvPr/>
          </p:nvCxnSpPr>
          <p:spPr>
            <a:xfrm>
              <a:off x="2789" y="3718"/>
              <a:ext cx="31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6" name="Google Shape;226;p7"/>
            <p:cNvCxnSpPr/>
            <p:nvPr/>
          </p:nvCxnSpPr>
          <p:spPr>
            <a:xfrm flipH="1">
              <a:off x="3605" y="2749"/>
              <a:ext cx="182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7" name="Google Shape;227;p7"/>
          <p:cNvGrpSpPr/>
          <p:nvPr/>
        </p:nvGrpSpPr>
        <p:grpSpPr>
          <a:xfrm>
            <a:off x="6400801" y="1143000"/>
            <a:ext cx="3732213" cy="2859088"/>
            <a:chOff x="2880" y="586"/>
            <a:chExt cx="2351" cy="1801"/>
          </a:xfrm>
        </p:grpSpPr>
        <p:sp>
          <p:nvSpPr>
            <p:cNvPr id="228" name="Google Shape;228;p7"/>
            <p:cNvSpPr/>
            <p:nvPr/>
          </p:nvSpPr>
          <p:spPr>
            <a:xfrm>
              <a:off x="3232" y="618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3232" y="754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3232" y="890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2880" y="1298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2880" y="1434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2880" y="1570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3696" y="1298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3696" y="1434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3696" y="1570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4467" y="1298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467" y="1434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4467" y="1570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0" name="Google Shape;240;p7"/>
            <p:cNvCxnSpPr/>
            <p:nvPr/>
          </p:nvCxnSpPr>
          <p:spPr>
            <a:xfrm flipH="1">
              <a:off x="3061" y="799"/>
              <a:ext cx="373" cy="4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lg" w="lg" type="triangle"/>
            </a:ln>
          </p:spPr>
        </p:cxnSp>
        <p:cxnSp>
          <p:nvCxnSpPr>
            <p:cNvPr id="241" name="Google Shape;241;p7"/>
            <p:cNvCxnSpPr/>
            <p:nvPr/>
          </p:nvCxnSpPr>
          <p:spPr>
            <a:xfrm>
              <a:off x="3144" y="1645"/>
              <a:ext cx="5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lg" w="lg" type="triangle"/>
            </a:ln>
          </p:spPr>
        </p:cxnSp>
        <p:cxnSp>
          <p:nvCxnSpPr>
            <p:cNvPr id="242" name="Google Shape;242;p7"/>
            <p:cNvCxnSpPr/>
            <p:nvPr/>
          </p:nvCxnSpPr>
          <p:spPr>
            <a:xfrm>
              <a:off x="3915" y="1645"/>
              <a:ext cx="5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lg" w="lg" type="triangle"/>
            </a:ln>
          </p:spPr>
        </p:cxnSp>
        <p:cxnSp>
          <p:nvCxnSpPr>
            <p:cNvPr id="243" name="Google Shape;243;p7"/>
            <p:cNvCxnSpPr/>
            <p:nvPr/>
          </p:nvCxnSpPr>
          <p:spPr>
            <a:xfrm>
              <a:off x="4687" y="1645"/>
              <a:ext cx="5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lg" w="lg" type="triangle"/>
            </a:ln>
          </p:spPr>
        </p:cxnSp>
        <p:cxnSp>
          <p:nvCxnSpPr>
            <p:cNvPr id="244" name="Google Shape;244;p7"/>
            <p:cNvCxnSpPr/>
            <p:nvPr/>
          </p:nvCxnSpPr>
          <p:spPr>
            <a:xfrm flipH="1">
              <a:off x="4321" y="1480"/>
              <a:ext cx="373" cy="4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lg" w="lg" type="triangle"/>
            </a:ln>
          </p:spPr>
        </p:cxnSp>
        <p:sp>
          <p:nvSpPr>
            <p:cNvPr id="245" name="Google Shape;245;p7"/>
            <p:cNvSpPr/>
            <p:nvPr/>
          </p:nvSpPr>
          <p:spPr>
            <a:xfrm>
              <a:off x="4150" y="1979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4150" y="2115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4150" y="2251"/>
              <a:ext cx="363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/>
            </a:p>
          </p:txBody>
        </p:sp>
        <p:sp>
          <p:nvSpPr>
            <p:cNvPr id="248" name="Google Shape;248;p7"/>
            <p:cNvSpPr txBox="1"/>
            <p:nvPr/>
          </p:nvSpPr>
          <p:spPr>
            <a:xfrm>
              <a:off x="3578" y="586"/>
              <a:ext cx="458" cy="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element</a:t>
              </a:r>
              <a:endParaRPr/>
            </a:p>
          </p:txBody>
        </p:sp>
        <p:sp>
          <p:nvSpPr>
            <p:cNvPr id="249" name="Google Shape;249;p7"/>
            <p:cNvSpPr txBox="1"/>
            <p:nvPr/>
          </p:nvSpPr>
          <p:spPr>
            <a:xfrm>
              <a:off x="3576" y="730"/>
              <a:ext cx="490" cy="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firstChild</a:t>
              </a:r>
              <a:endParaRPr/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3571" y="882"/>
              <a:ext cx="586" cy="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nextSibling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"/>
              <a:buNone/>
            </a:pPr>
            <a:r>
              <a:rPr lang="en-US" sz="4000">
                <a:latin typeface="Times"/>
                <a:ea typeface="Times"/>
                <a:cs typeface="Times"/>
                <a:sym typeface="Times"/>
              </a:rPr>
              <a:t>The Unix directory with file sizes</a:t>
            </a:r>
            <a:endParaRPr/>
          </a:p>
        </p:txBody>
      </p:sp>
      <p:sp>
        <p:nvSpPr>
          <p:cNvPr id="257" name="Google Shape;257;p8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939" y="1851025"/>
            <a:ext cx="86582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Binary Trees</a:t>
            </a:r>
            <a:endParaRPr/>
          </a:p>
        </p:txBody>
      </p:sp>
      <p:sp>
        <p:nvSpPr>
          <p:cNvPr id="265" name="Google Shape;265;p9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A </a:t>
            </a:r>
            <a:r>
              <a:rPr i="1" lang="en-US" sz="2400">
                <a:solidFill>
                  <a:srgbClr val="FF0000"/>
                </a:solidFill>
              </a:rPr>
              <a:t>binary tree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is a tree in which no node can have more than two children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The depth can be as large as </a:t>
            </a:r>
            <a:r>
              <a:rPr i="1" lang="en-US" sz="2400"/>
              <a:t>N-1</a:t>
            </a:r>
            <a:r>
              <a:rPr lang="en-US" sz="2400"/>
              <a:t> in the worst case.</a:t>
            </a:r>
            <a:r>
              <a:rPr lang="en-US"/>
              <a:t>   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7" name="Google Shape;267;p9"/>
          <p:cNvGrpSpPr/>
          <p:nvPr/>
        </p:nvGrpSpPr>
        <p:grpSpPr>
          <a:xfrm>
            <a:off x="3598864" y="3352801"/>
            <a:ext cx="3913187" cy="1871663"/>
            <a:chOff x="930" y="2569"/>
            <a:chExt cx="2465" cy="1179"/>
          </a:xfrm>
        </p:grpSpPr>
        <p:sp>
          <p:nvSpPr>
            <p:cNvPr id="268" name="Google Shape;268;p9"/>
            <p:cNvSpPr/>
            <p:nvPr/>
          </p:nvSpPr>
          <p:spPr>
            <a:xfrm>
              <a:off x="1973" y="2569"/>
              <a:ext cx="318" cy="226"/>
            </a:xfrm>
            <a:prstGeom prst="ellipse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root</a:t>
              </a: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930" y="3067"/>
              <a:ext cx="998" cy="681"/>
            </a:xfrm>
            <a:prstGeom prst="triangle">
              <a:avLst>
                <a:gd fmla="val 50000" name="adj"/>
              </a:avLst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2170" y="3065"/>
              <a:ext cx="1225" cy="590"/>
            </a:xfrm>
            <a:prstGeom prst="triangle">
              <a:avLst>
                <a:gd fmla="val 50000" name="adj"/>
              </a:avLst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cxnSp>
          <p:nvCxnSpPr>
            <p:cNvPr id="271" name="Google Shape;271;p9"/>
            <p:cNvCxnSpPr/>
            <p:nvPr/>
          </p:nvCxnSpPr>
          <p:spPr>
            <a:xfrm flipH="1">
              <a:off x="1429" y="2750"/>
              <a:ext cx="589" cy="3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2" name="Google Shape;272;p9"/>
            <p:cNvCxnSpPr/>
            <p:nvPr/>
          </p:nvCxnSpPr>
          <p:spPr>
            <a:xfrm>
              <a:off x="2245" y="2750"/>
              <a:ext cx="544" cy="3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73" name="Google Shape;273;p9"/>
          <p:cNvSpPr txBox="1"/>
          <p:nvPr/>
        </p:nvSpPr>
        <p:spPr>
          <a:xfrm>
            <a:off x="8170864" y="3581401"/>
            <a:ext cx="2420937" cy="14652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binary tree consisting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root and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subtrees 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of which could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possibly be empty.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7713663" y="3276600"/>
            <a:ext cx="304800" cy="2057400"/>
          </a:xfrm>
          <a:prstGeom prst="rightBrace">
            <a:avLst>
              <a:gd fmla="val 5625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149" y="4864613"/>
            <a:ext cx="2578100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/>
          <p:nvPr/>
        </p:nvSpPr>
        <p:spPr>
          <a:xfrm>
            <a:off x="2986089" y="2693988"/>
            <a:ext cx="942975" cy="2825750"/>
          </a:xfrm>
          <a:custGeom>
            <a:rect b="b" l="l" r="r" t="t"/>
            <a:pathLst>
              <a:path extrusionOk="0" h="2825578" w="943313">
                <a:moveTo>
                  <a:pt x="391378" y="0"/>
                </a:moveTo>
                <a:cubicBezTo>
                  <a:pt x="160032" y="831335"/>
                  <a:pt x="-71314" y="1662670"/>
                  <a:pt x="20675" y="2133600"/>
                </a:cubicBezTo>
                <a:cubicBezTo>
                  <a:pt x="112664" y="2604530"/>
                  <a:pt x="527988" y="2715054"/>
                  <a:pt x="943313" y="2825578"/>
                </a:cubicBezTo>
              </a:path>
            </a:pathLst>
          </a:cu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539749" y="5859974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Non-binary tree</a:t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4152900" y="5816601"/>
            <a:ext cx="6210300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1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node n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length of the path from </a:t>
            </a:r>
            <a:r>
              <a:rPr b="0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node n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baseline="-2500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1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node n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length of longest path from node n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 </a:t>
            </a:r>
            <a:r>
              <a:rPr b="0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leaf.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Binary Tree Terminology</a:t>
            </a:r>
            <a:endParaRPr/>
          </a:p>
        </p:txBody>
      </p:sp>
      <p:sp>
        <p:nvSpPr>
          <p:cNvPr id="284" name="Google Shape;284;p10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rgbClr val="FF0000"/>
                </a:solidFill>
              </a:rPr>
              <a:t>Left Child</a:t>
            </a:r>
            <a:r>
              <a:rPr lang="en-US" sz="2400"/>
              <a:t> – The left child of node n is a node directly below and to the left of node n in a binary tree.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rgbClr val="FF0000"/>
                </a:solidFill>
              </a:rPr>
              <a:t>Right Child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– The right child of node n is a node directly below and to the right of node n in a binary tree.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chemeClr val="accent6"/>
                </a:solidFill>
              </a:rPr>
              <a:t>Left Subtree</a:t>
            </a:r>
            <a:r>
              <a:rPr lang="en-US" sz="2400">
                <a:solidFill>
                  <a:schemeClr val="accent6"/>
                </a:solidFill>
              </a:rPr>
              <a:t> </a:t>
            </a:r>
            <a:r>
              <a:rPr lang="en-US" sz="2400"/>
              <a:t>– In a binary tree, the left subtree of node n is the left child (if any) of node n plus its descendants.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chemeClr val="accent6"/>
                </a:solidFill>
              </a:rPr>
              <a:t>Right Subtree</a:t>
            </a:r>
            <a:r>
              <a:rPr lang="en-US" sz="2400">
                <a:solidFill>
                  <a:schemeClr val="accent6"/>
                </a:solidFill>
              </a:rPr>
              <a:t> </a:t>
            </a:r>
            <a:r>
              <a:rPr lang="en-US" sz="2400"/>
              <a:t>– In a binary tree, the right subtree of node n is the right child (if any) of node n plus its descendants.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Binary Tree -- Example</a:t>
            </a:r>
            <a:endParaRPr/>
          </a:p>
        </p:txBody>
      </p:sp>
      <p:sp>
        <p:nvSpPr>
          <p:cNvPr id="291" name="Google Shape;291;p11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2" name="Google Shape;292;p11"/>
          <p:cNvGrpSpPr/>
          <p:nvPr/>
        </p:nvGrpSpPr>
        <p:grpSpPr>
          <a:xfrm>
            <a:off x="2790826" y="1981201"/>
            <a:ext cx="2612757" cy="3281363"/>
            <a:chOff x="864" y="1248"/>
            <a:chExt cx="1784" cy="2067"/>
          </a:xfrm>
        </p:grpSpPr>
        <p:cxnSp>
          <p:nvCxnSpPr>
            <p:cNvPr id="293" name="Google Shape;293;p11"/>
            <p:cNvCxnSpPr/>
            <p:nvPr/>
          </p:nvCxnSpPr>
          <p:spPr>
            <a:xfrm flipH="1">
              <a:off x="960" y="1392"/>
              <a:ext cx="285" cy="43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1"/>
            <p:cNvCxnSpPr/>
            <p:nvPr/>
          </p:nvCxnSpPr>
          <p:spPr>
            <a:xfrm>
              <a:off x="1248" y="1392"/>
              <a:ext cx="243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1"/>
            <p:cNvCxnSpPr/>
            <p:nvPr/>
          </p:nvCxnSpPr>
          <p:spPr>
            <a:xfrm flipH="1">
              <a:off x="1248" y="1776"/>
              <a:ext cx="243" cy="4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1"/>
            <p:cNvCxnSpPr/>
            <p:nvPr/>
          </p:nvCxnSpPr>
          <p:spPr>
            <a:xfrm>
              <a:off x="1488" y="1776"/>
              <a:ext cx="286" cy="43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>
              <a:off x="1008" y="2256"/>
              <a:ext cx="240" cy="43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1"/>
            <p:cNvCxnSpPr/>
            <p:nvPr/>
          </p:nvCxnSpPr>
          <p:spPr>
            <a:xfrm flipH="1">
              <a:off x="1536" y="2208"/>
              <a:ext cx="240" cy="4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1"/>
            <p:cNvCxnSpPr/>
            <p:nvPr/>
          </p:nvCxnSpPr>
          <p:spPr>
            <a:xfrm>
              <a:off x="1776" y="2208"/>
              <a:ext cx="336" cy="4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0" name="Google Shape;300;p11"/>
            <p:cNvSpPr txBox="1"/>
            <p:nvPr/>
          </p:nvSpPr>
          <p:spPr>
            <a:xfrm>
              <a:off x="1152" y="1248"/>
              <a:ext cx="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 A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1" name="Google Shape;301;p11"/>
            <p:cNvSpPr txBox="1"/>
            <p:nvPr/>
          </p:nvSpPr>
          <p:spPr>
            <a:xfrm>
              <a:off x="1152" y="2112"/>
              <a:ext cx="4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 D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" name="Google Shape;302;p11"/>
            <p:cNvSpPr txBox="1"/>
            <p:nvPr/>
          </p:nvSpPr>
          <p:spPr>
            <a:xfrm>
              <a:off x="1392" y="1632"/>
              <a:ext cx="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 C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11"/>
            <p:cNvSpPr txBox="1"/>
            <p:nvPr/>
          </p:nvSpPr>
          <p:spPr>
            <a:xfrm>
              <a:off x="1680" y="2064"/>
              <a:ext cx="40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 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p11"/>
            <p:cNvSpPr txBox="1"/>
            <p:nvPr/>
          </p:nvSpPr>
          <p:spPr>
            <a:xfrm>
              <a:off x="1440" y="2544"/>
              <a:ext cx="4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 G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" name="Google Shape;305;p11"/>
            <p:cNvSpPr txBox="1"/>
            <p:nvPr/>
          </p:nvSpPr>
          <p:spPr>
            <a:xfrm>
              <a:off x="912" y="2544"/>
              <a:ext cx="39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 F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p11"/>
            <p:cNvSpPr txBox="1"/>
            <p:nvPr/>
          </p:nvSpPr>
          <p:spPr>
            <a:xfrm>
              <a:off x="2016" y="2544"/>
              <a:ext cx="4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 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" name="Google Shape;307;p11"/>
            <p:cNvSpPr txBox="1"/>
            <p:nvPr/>
          </p:nvSpPr>
          <p:spPr>
            <a:xfrm>
              <a:off x="864" y="1680"/>
              <a:ext cx="41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 B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8" name="Google Shape;308;p11"/>
            <p:cNvCxnSpPr/>
            <p:nvPr/>
          </p:nvCxnSpPr>
          <p:spPr>
            <a:xfrm>
              <a:off x="2160" y="2736"/>
              <a:ext cx="240" cy="43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9" name="Google Shape;309;p11"/>
            <p:cNvSpPr txBox="1"/>
            <p:nvPr/>
          </p:nvSpPr>
          <p:spPr>
            <a:xfrm>
              <a:off x="2303" y="3024"/>
              <a:ext cx="34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 I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0" name="Google Shape;310;p11"/>
          <p:cNvSpPr txBox="1"/>
          <p:nvPr/>
        </p:nvSpPr>
        <p:spPr>
          <a:xfrm>
            <a:off x="6026151" y="1752601"/>
            <a:ext cx="3863975" cy="2678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is the </a:t>
            </a:r>
            <a:r>
              <a:rPr b="0" i="0" lang="en-US" sz="2400" u="none" cap="none" strike="noStrike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is the </a:t>
            </a:r>
            <a:r>
              <a:rPr b="0" i="0" lang="en-US" sz="2400" u="none" cap="none" strike="noStrike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child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A, 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 is the </a:t>
            </a:r>
            <a:r>
              <a:rPr b="0" i="0" lang="en-US" sz="2400" u="none" cap="none" strike="noStrike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child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A.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 doesn’t have a right child.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 doesn’t have a left child.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B, F, G and I are </a:t>
            </a:r>
            <a:r>
              <a:rPr b="0" i="0" lang="en-US" sz="2400" u="none" cap="none" strike="noStrike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leaves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 txBox="1"/>
          <p:nvPr>
            <p:ph idx="1" type="body"/>
          </p:nvPr>
        </p:nvSpPr>
        <p:spPr>
          <a:xfrm>
            <a:off x="4060885" y="3165475"/>
            <a:ext cx="4070230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sz="2800">
                <a:solidFill>
                  <a:srgbClr val="C00000"/>
                </a:solidFill>
              </a:rPr>
              <a:t>Tree Traversal Algorithms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16" name="Google Shape;316;p12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Preorder Traversal</a:t>
            </a:r>
            <a:endParaRPr/>
          </a:p>
        </p:txBody>
      </p:sp>
      <p:sp>
        <p:nvSpPr>
          <p:cNvPr descr="Rectangle: Click to edit Master text styles&#10;Second level&#10;Third level&#10;Fourth level&#10;Fifth level" id="322" name="Google Shape;322;p13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/>
              <a:t>A traversal visits the nodes of a tree in a systematic manner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/>
              <a:t>In a preorder traversal, a node is visited before its descendants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/>
              <a:t>Application: print a structured document</a:t>
            </a:r>
            <a:endParaRPr/>
          </a:p>
        </p:txBody>
      </p:sp>
      <p:sp>
        <p:nvSpPr>
          <p:cNvPr id="323" name="Google Shape;323;p13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484813" y="3886201"/>
            <a:ext cx="1865312" cy="3841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Make Money Fast!</a:t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2830514" y="4800601"/>
            <a:ext cx="1493837" cy="3841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Motivations</a:t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9067801" y="4800601"/>
            <a:ext cx="1223963" cy="3841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References</a:t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6892925" y="4800601"/>
            <a:ext cx="1233488" cy="3841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Methods</a:t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5410200" y="5572125"/>
            <a:ext cx="1092200" cy="65405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2.1 Stock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Fraud</a:t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975476" y="5572125"/>
            <a:ext cx="1077913" cy="65405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2.2 Ponzi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Scheme</a:t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2286000" y="5707064"/>
            <a:ext cx="1119188" cy="3841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1.1 Greed</a:t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3790951" y="5707064"/>
            <a:ext cx="1184275" cy="3841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1.2 Avidity</a:t>
            </a:r>
            <a:endParaRPr/>
          </a:p>
        </p:txBody>
      </p:sp>
      <p:cxnSp>
        <p:nvCxnSpPr>
          <p:cNvPr id="332" name="Google Shape;332;p13"/>
          <p:cNvCxnSpPr>
            <a:stCxn id="324" idx="2"/>
            <a:endCxn id="325" idx="0"/>
          </p:cNvCxnSpPr>
          <p:nvPr/>
        </p:nvCxnSpPr>
        <p:spPr>
          <a:xfrm flipH="1">
            <a:off x="3577369" y="4270376"/>
            <a:ext cx="2840100" cy="53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13"/>
          <p:cNvCxnSpPr>
            <a:stCxn id="324" idx="2"/>
            <a:endCxn id="327" idx="0"/>
          </p:cNvCxnSpPr>
          <p:nvPr/>
        </p:nvCxnSpPr>
        <p:spPr>
          <a:xfrm>
            <a:off x="6417469" y="4270376"/>
            <a:ext cx="1092300" cy="53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13"/>
          <p:cNvCxnSpPr>
            <a:stCxn id="324" idx="2"/>
            <a:endCxn id="326" idx="0"/>
          </p:cNvCxnSpPr>
          <p:nvPr/>
        </p:nvCxnSpPr>
        <p:spPr>
          <a:xfrm>
            <a:off x="6417469" y="4270376"/>
            <a:ext cx="3262200" cy="53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13"/>
          <p:cNvCxnSpPr>
            <a:stCxn id="327" idx="2"/>
            <a:endCxn id="329" idx="0"/>
          </p:cNvCxnSpPr>
          <p:nvPr/>
        </p:nvCxnSpPr>
        <p:spPr>
          <a:xfrm>
            <a:off x="7509669" y="5184776"/>
            <a:ext cx="4800" cy="38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13"/>
          <p:cNvCxnSpPr>
            <a:stCxn id="327" idx="2"/>
            <a:endCxn id="328" idx="0"/>
          </p:cNvCxnSpPr>
          <p:nvPr/>
        </p:nvCxnSpPr>
        <p:spPr>
          <a:xfrm flipH="1">
            <a:off x="5956269" y="5184776"/>
            <a:ext cx="1553400" cy="38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13"/>
          <p:cNvCxnSpPr>
            <a:stCxn id="325" idx="2"/>
            <a:endCxn id="331" idx="0"/>
          </p:cNvCxnSpPr>
          <p:nvPr/>
        </p:nvCxnSpPr>
        <p:spPr>
          <a:xfrm>
            <a:off x="3577432" y="5184776"/>
            <a:ext cx="805800" cy="52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13"/>
          <p:cNvCxnSpPr>
            <a:stCxn id="325" idx="2"/>
            <a:endCxn id="330" idx="0"/>
          </p:cNvCxnSpPr>
          <p:nvPr/>
        </p:nvCxnSpPr>
        <p:spPr>
          <a:xfrm flipH="1">
            <a:off x="2845732" y="5184776"/>
            <a:ext cx="731700" cy="52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13"/>
          <p:cNvSpPr/>
          <p:nvPr/>
        </p:nvSpPr>
        <p:spPr>
          <a:xfrm>
            <a:off x="8362951" y="5570538"/>
            <a:ext cx="1044575" cy="65405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2.3 Bank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Robbery</a:t>
            </a:r>
            <a:endParaRPr/>
          </a:p>
        </p:txBody>
      </p:sp>
      <p:cxnSp>
        <p:nvCxnSpPr>
          <p:cNvPr id="340" name="Google Shape;340;p13"/>
          <p:cNvCxnSpPr>
            <a:stCxn id="327" idx="2"/>
            <a:endCxn id="339" idx="0"/>
          </p:cNvCxnSpPr>
          <p:nvPr/>
        </p:nvCxnSpPr>
        <p:spPr>
          <a:xfrm>
            <a:off x="7509669" y="5184776"/>
            <a:ext cx="1375500" cy="38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13"/>
          <p:cNvSpPr txBox="1"/>
          <p:nvPr/>
        </p:nvSpPr>
        <p:spPr>
          <a:xfrm>
            <a:off x="5105401" y="3657601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3382963" y="44704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43" name="Google Shape;343;p13"/>
          <p:cNvSpPr txBox="1"/>
          <p:nvPr/>
        </p:nvSpPr>
        <p:spPr>
          <a:xfrm>
            <a:off x="2649538" y="53467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44" name="Google Shape;344;p13"/>
          <p:cNvSpPr txBox="1"/>
          <p:nvPr/>
        </p:nvSpPr>
        <p:spPr>
          <a:xfrm>
            <a:off x="6659563" y="44704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345" name="Google Shape;345;p13"/>
          <p:cNvSpPr txBox="1"/>
          <p:nvPr/>
        </p:nvSpPr>
        <p:spPr>
          <a:xfrm>
            <a:off x="4249738" y="53467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5554663" y="521335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347" name="Google Shape;347;p13"/>
          <p:cNvSpPr txBox="1"/>
          <p:nvPr/>
        </p:nvSpPr>
        <p:spPr>
          <a:xfrm>
            <a:off x="7154863" y="521335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/>
          </a:p>
        </p:txBody>
      </p:sp>
      <p:sp>
        <p:nvSpPr>
          <p:cNvPr id="348" name="Google Shape;348;p13"/>
          <p:cNvSpPr txBox="1"/>
          <p:nvPr/>
        </p:nvSpPr>
        <p:spPr>
          <a:xfrm>
            <a:off x="8755063" y="521335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/>
          </a:p>
        </p:txBody>
      </p:sp>
      <p:sp>
        <p:nvSpPr>
          <p:cNvPr id="349" name="Google Shape;349;p13"/>
          <p:cNvSpPr txBox="1"/>
          <p:nvPr/>
        </p:nvSpPr>
        <p:spPr>
          <a:xfrm>
            <a:off x="9555163" y="44704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/>
          </a:p>
        </p:txBody>
      </p:sp>
      <p:sp>
        <p:nvSpPr>
          <p:cNvPr id="350" name="Google Shape;350;p13"/>
          <p:cNvSpPr txBox="1"/>
          <p:nvPr/>
        </p:nvSpPr>
        <p:spPr>
          <a:xfrm>
            <a:off x="8001000" y="1216027"/>
            <a:ext cx="3352800" cy="16351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preOrder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1" sz="24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preorder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Postorder Traversal</a:t>
            </a:r>
            <a:endParaRPr/>
          </a:p>
        </p:txBody>
      </p:sp>
      <p:sp>
        <p:nvSpPr>
          <p:cNvPr descr="Rectangle: Click to edit Master text styles&#10;Second level&#10;Third level&#10;Fourth level&#10;Fifth level" id="356" name="Google Shape;356;p14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/>
              <a:t>In a postorder traversal, a node is visited after its descendants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/>
              <a:t>Application: compute space used by files in a directory and its subdirectories</a:t>
            </a:r>
            <a:endParaRPr/>
          </a:p>
        </p:txBody>
      </p:sp>
      <p:sp>
        <p:nvSpPr>
          <p:cNvPr id="357" name="Google Shape;357;p14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8" name="Google Shape;358;p14"/>
          <p:cNvSpPr txBox="1"/>
          <p:nvPr/>
        </p:nvSpPr>
        <p:spPr>
          <a:xfrm>
            <a:off x="8001000" y="1231900"/>
            <a:ext cx="3352800" cy="16351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postOrder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postOrder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6064251" y="3733801"/>
            <a:ext cx="715963" cy="3841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cs16/</a:t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2908301" y="4648201"/>
            <a:ext cx="1344613" cy="3841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homeworks/</a:t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9204325" y="4513263"/>
            <a:ext cx="958850" cy="654050"/>
          </a:xfrm>
          <a:prstGeom prst="roundRect">
            <a:avLst>
              <a:gd fmla="val 16667" name="adj"/>
            </a:avLst>
          </a:prstGeom>
          <a:solidFill>
            <a:schemeClr val="folHlink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todo.txt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1K</a:t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6929438" y="4648201"/>
            <a:ext cx="1166812" cy="3841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programs/</a:t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5443539" y="5567363"/>
            <a:ext cx="1031875" cy="647700"/>
          </a:xfrm>
          <a:prstGeom prst="roundRect">
            <a:avLst>
              <a:gd fmla="val 16667" name="adj"/>
            </a:avLst>
          </a:prstGeom>
          <a:solidFill>
            <a:schemeClr val="folHlink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DDR.cpp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10K</a:t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6916739" y="5567363"/>
            <a:ext cx="1208087" cy="647700"/>
          </a:xfrm>
          <a:prstGeom prst="roundRect">
            <a:avLst>
              <a:gd fmla="val 16667" name="adj"/>
            </a:avLst>
          </a:prstGeom>
          <a:solidFill>
            <a:schemeClr val="folHlink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Stocks.cpp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25K</a:t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2370138" y="5564188"/>
            <a:ext cx="957262" cy="654050"/>
          </a:xfrm>
          <a:prstGeom prst="roundRect">
            <a:avLst>
              <a:gd fmla="val 16667" name="adj"/>
            </a:avLst>
          </a:prstGeom>
          <a:solidFill>
            <a:schemeClr val="folHlink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h1c.doc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3K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3851276" y="5564188"/>
            <a:ext cx="1069975" cy="654050"/>
          </a:xfrm>
          <a:prstGeom prst="roundRect">
            <a:avLst>
              <a:gd fmla="val 16667" name="adj"/>
            </a:avLst>
          </a:prstGeom>
          <a:solidFill>
            <a:schemeClr val="folHlink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h1nc.doc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2K</a:t>
            </a:r>
            <a:endParaRPr/>
          </a:p>
        </p:txBody>
      </p:sp>
      <p:cxnSp>
        <p:nvCxnSpPr>
          <p:cNvPr id="367" name="Google Shape;367;p14"/>
          <p:cNvCxnSpPr>
            <a:stCxn id="359" idx="2"/>
            <a:endCxn id="360" idx="0"/>
          </p:cNvCxnSpPr>
          <p:nvPr/>
        </p:nvCxnSpPr>
        <p:spPr>
          <a:xfrm flipH="1">
            <a:off x="3580632" y="4117976"/>
            <a:ext cx="2841600" cy="53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14"/>
          <p:cNvCxnSpPr>
            <a:stCxn id="359" idx="2"/>
            <a:endCxn id="362" idx="0"/>
          </p:cNvCxnSpPr>
          <p:nvPr/>
        </p:nvCxnSpPr>
        <p:spPr>
          <a:xfrm>
            <a:off x="6422233" y="4117976"/>
            <a:ext cx="1090500" cy="53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14"/>
          <p:cNvCxnSpPr>
            <a:stCxn id="359" idx="2"/>
            <a:endCxn id="361" idx="0"/>
          </p:cNvCxnSpPr>
          <p:nvPr/>
        </p:nvCxnSpPr>
        <p:spPr>
          <a:xfrm>
            <a:off x="6422233" y="4117976"/>
            <a:ext cx="3261600" cy="3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14"/>
          <p:cNvCxnSpPr>
            <a:stCxn id="362" idx="2"/>
            <a:endCxn id="364" idx="0"/>
          </p:cNvCxnSpPr>
          <p:nvPr/>
        </p:nvCxnSpPr>
        <p:spPr>
          <a:xfrm>
            <a:off x="7512844" y="5032376"/>
            <a:ext cx="7800" cy="53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14"/>
          <p:cNvCxnSpPr>
            <a:stCxn id="362" idx="2"/>
            <a:endCxn id="363" idx="0"/>
          </p:cNvCxnSpPr>
          <p:nvPr/>
        </p:nvCxnSpPr>
        <p:spPr>
          <a:xfrm flipH="1">
            <a:off x="5959444" y="5032376"/>
            <a:ext cx="1553400" cy="53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14"/>
          <p:cNvCxnSpPr>
            <a:stCxn id="360" idx="2"/>
            <a:endCxn id="366" idx="0"/>
          </p:cNvCxnSpPr>
          <p:nvPr/>
        </p:nvCxnSpPr>
        <p:spPr>
          <a:xfrm>
            <a:off x="3580607" y="5032376"/>
            <a:ext cx="805800" cy="53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14"/>
          <p:cNvCxnSpPr>
            <a:stCxn id="360" idx="2"/>
            <a:endCxn id="365" idx="0"/>
          </p:cNvCxnSpPr>
          <p:nvPr/>
        </p:nvCxnSpPr>
        <p:spPr>
          <a:xfrm flipH="1">
            <a:off x="2848907" y="5032376"/>
            <a:ext cx="731700" cy="53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14"/>
          <p:cNvSpPr/>
          <p:nvPr/>
        </p:nvSpPr>
        <p:spPr>
          <a:xfrm>
            <a:off x="8567739" y="5565775"/>
            <a:ext cx="1152525" cy="647700"/>
          </a:xfrm>
          <a:prstGeom prst="roundRect">
            <a:avLst>
              <a:gd fmla="val 16667" name="adj"/>
            </a:avLst>
          </a:prstGeom>
          <a:solidFill>
            <a:schemeClr val="folHlink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Robot.cpp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20K</a:t>
            </a:r>
            <a:endParaRPr/>
          </a:p>
        </p:txBody>
      </p:sp>
      <p:cxnSp>
        <p:nvCxnSpPr>
          <p:cNvPr id="375" name="Google Shape;375;p14"/>
          <p:cNvCxnSpPr>
            <a:stCxn id="362" idx="2"/>
            <a:endCxn id="374" idx="0"/>
          </p:cNvCxnSpPr>
          <p:nvPr/>
        </p:nvCxnSpPr>
        <p:spPr>
          <a:xfrm>
            <a:off x="7512844" y="5032376"/>
            <a:ext cx="1631100" cy="53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14"/>
          <p:cNvSpPr txBox="1"/>
          <p:nvPr/>
        </p:nvSpPr>
        <p:spPr>
          <a:xfrm>
            <a:off x="5715001" y="3505201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/>
          </a:p>
        </p:txBody>
      </p:sp>
      <p:sp>
        <p:nvSpPr>
          <p:cNvPr id="377" name="Google Shape;377;p14"/>
          <p:cNvSpPr txBox="1"/>
          <p:nvPr/>
        </p:nvSpPr>
        <p:spPr>
          <a:xfrm>
            <a:off x="3382963" y="43180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78" name="Google Shape;378;p14"/>
          <p:cNvSpPr txBox="1"/>
          <p:nvPr/>
        </p:nvSpPr>
        <p:spPr>
          <a:xfrm>
            <a:off x="2649538" y="51943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79" name="Google Shape;379;p14"/>
          <p:cNvSpPr txBox="1"/>
          <p:nvPr/>
        </p:nvSpPr>
        <p:spPr>
          <a:xfrm>
            <a:off x="6705601" y="4318001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/>
          </a:p>
        </p:txBody>
      </p:sp>
      <p:sp>
        <p:nvSpPr>
          <p:cNvPr id="380" name="Google Shape;380;p14"/>
          <p:cNvSpPr txBox="1"/>
          <p:nvPr/>
        </p:nvSpPr>
        <p:spPr>
          <a:xfrm>
            <a:off x="4249738" y="51943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81" name="Google Shape;381;p14"/>
          <p:cNvSpPr txBox="1"/>
          <p:nvPr/>
        </p:nvSpPr>
        <p:spPr>
          <a:xfrm>
            <a:off x="5554663" y="51816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382" name="Google Shape;382;p14"/>
          <p:cNvSpPr txBox="1"/>
          <p:nvPr/>
        </p:nvSpPr>
        <p:spPr>
          <a:xfrm>
            <a:off x="7154863" y="51816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383" name="Google Shape;383;p14"/>
          <p:cNvSpPr txBox="1"/>
          <p:nvPr/>
        </p:nvSpPr>
        <p:spPr>
          <a:xfrm>
            <a:off x="9010651" y="5181601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384" name="Google Shape;384;p14"/>
          <p:cNvSpPr txBox="1"/>
          <p:nvPr/>
        </p:nvSpPr>
        <p:spPr>
          <a:xfrm>
            <a:off x="9555163" y="41148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Inorder Traversal</a:t>
            </a:r>
            <a:endParaRPr/>
          </a:p>
        </p:txBody>
      </p:sp>
      <p:sp>
        <p:nvSpPr>
          <p:cNvPr descr="Rectangle: Click to edit Master text styles&#10;Second level&#10;Third level&#10;Fourth level&#10;Fifth level" id="390" name="Google Shape;390;p15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/>
              <a:t>In an inorder traversal a node is visited after its left subtree and before its right subtree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/>
              <a:t>Application: draw a binary tree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</a:pPr>
            <a:r>
              <a:rPr lang="en-US" sz="1800"/>
              <a:t>x(v) = inorder rank of v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</a:pPr>
            <a:r>
              <a:rPr lang="en-US" sz="1800"/>
              <a:t>y(v) = depth of v</a:t>
            </a:r>
            <a:endParaRPr/>
          </a:p>
        </p:txBody>
      </p:sp>
      <p:sp>
        <p:nvSpPr>
          <p:cNvPr id="391" name="Google Shape;391;p15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7162800" y="1664179"/>
            <a:ext cx="4191000" cy="243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5770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¬ 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isExternal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b="0" i="0" sz="2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9144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5770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¬ 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isExternal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b="0" i="0" sz="2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9144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3" name="Google Shape;393;p15"/>
          <p:cNvGrpSpPr/>
          <p:nvPr/>
        </p:nvGrpSpPr>
        <p:grpSpPr>
          <a:xfrm>
            <a:off x="3646488" y="3962400"/>
            <a:ext cx="3429000" cy="2286000"/>
            <a:chOff x="2928" y="2256"/>
            <a:chExt cx="2160" cy="1440"/>
          </a:xfrm>
        </p:grpSpPr>
        <p:sp>
          <p:nvSpPr>
            <p:cNvPr id="394" name="Google Shape;394;p15"/>
            <p:cNvSpPr/>
            <p:nvPr/>
          </p:nvSpPr>
          <p:spPr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03" name="Google Shape;403;p15"/>
            <p:cNvCxnSpPr>
              <a:stCxn id="394" idx="3"/>
              <a:endCxn id="396" idx="7"/>
            </p:cNvCxnSpPr>
            <p:nvPr/>
          </p:nvCxnSpPr>
          <p:spPr>
            <a:xfrm flipH="1">
              <a:off x="3263" y="2461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15"/>
            <p:cNvCxnSpPr>
              <a:stCxn id="395" idx="1"/>
              <a:endCxn id="394" idx="5"/>
            </p:cNvCxnSpPr>
            <p:nvPr/>
          </p:nvCxnSpPr>
          <p:spPr>
            <a:xfrm rot="10800000">
              <a:off x="4343" y="2375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15"/>
            <p:cNvCxnSpPr>
              <a:stCxn id="402" idx="0"/>
              <a:endCxn id="395" idx="5"/>
            </p:cNvCxnSpPr>
            <p:nvPr/>
          </p:nvCxnSpPr>
          <p:spPr>
            <a:xfrm rot="10800000">
              <a:off x="4668" y="2724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15"/>
            <p:cNvCxnSpPr>
              <a:stCxn id="401" idx="0"/>
              <a:endCxn id="395" idx="3"/>
            </p:cNvCxnSpPr>
            <p:nvPr/>
          </p:nvCxnSpPr>
          <p:spPr>
            <a:xfrm flipH="1" rot="10800000">
              <a:off x="4488" y="2724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5"/>
            <p:cNvCxnSpPr>
              <a:stCxn id="400" idx="0"/>
              <a:endCxn id="397" idx="5"/>
            </p:cNvCxnSpPr>
            <p:nvPr/>
          </p:nvCxnSpPr>
          <p:spPr>
            <a:xfrm rot="10800000">
              <a:off x="3708" y="31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5"/>
            <p:cNvCxnSpPr>
              <a:stCxn id="399" idx="0"/>
              <a:endCxn id="397" idx="3"/>
            </p:cNvCxnSpPr>
            <p:nvPr/>
          </p:nvCxnSpPr>
          <p:spPr>
            <a:xfrm flipH="1" rot="10800000">
              <a:off x="3528" y="31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5"/>
            <p:cNvCxnSpPr>
              <a:stCxn id="398" idx="0"/>
              <a:endCxn id="396" idx="3"/>
            </p:cNvCxnSpPr>
            <p:nvPr/>
          </p:nvCxnSpPr>
          <p:spPr>
            <a:xfrm flipH="1" rot="10800000">
              <a:off x="3048" y="2724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5"/>
            <p:cNvCxnSpPr>
              <a:stCxn id="397" idx="1"/>
              <a:endCxn id="396" idx="5"/>
            </p:cNvCxnSpPr>
            <p:nvPr/>
          </p:nvCxnSpPr>
          <p:spPr>
            <a:xfrm rot="10800000">
              <a:off x="3383" y="27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1" name="Google Shape;411;p15"/>
          <p:cNvSpPr txBox="1"/>
          <p:nvPr/>
        </p:nvSpPr>
        <p:spPr>
          <a:xfrm>
            <a:off x="4238626" y="5486401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412" name="Google Shape;412;p15"/>
          <p:cNvSpPr txBox="1"/>
          <p:nvPr/>
        </p:nvSpPr>
        <p:spPr>
          <a:xfrm>
            <a:off x="3429001" y="4838701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413" name="Google Shape;413;p15"/>
          <p:cNvSpPr txBox="1"/>
          <p:nvPr/>
        </p:nvSpPr>
        <p:spPr>
          <a:xfrm>
            <a:off x="3857626" y="4259264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414" name="Google Shape;414;p15"/>
          <p:cNvSpPr txBox="1"/>
          <p:nvPr/>
        </p:nvSpPr>
        <p:spPr>
          <a:xfrm>
            <a:off x="5322888" y="54864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5305426" y="3733801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416" name="Google Shape;416;p15"/>
          <p:cNvSpPr txBox="1"/>
          <p:nvPr/>
        </p:nvSpPr>
        <p:spPr>
          <a:xfrm>
            <a:off x="5780088" y="48387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/>
          </a:p>
        </p:txBody>
      </p:sp>
      <p:sp>
        <p:nvSpPr>
          <p:cNvPr id="417" name="Google Shape;417;p15"/>
          <p:cNvSpPr txBox="1"/>
          <p:nvPr/>
        </p:nvSpPr>
        <p:spPr>
          <a:xfrm>
            <a:off x="6923088" y="48387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/>
          </a:p>
        </p:txBody>
      </p:sp>
      <p:sp>
        <p:nvSpPr>
          <p:cNvPr id="418" name="Google Shape;418;p15"/>
          <p:cNvSpPr txBox="1"/>
          <p:nvPr/>
        </p:nvSpPr>
        <p:spPr>
          <a:xfrm>
            <a:off x="6475413" y="4259264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/>
          </a:p>
        </p:txBody>
      </p:sp>
      <p:sp>
        <p:nvSpPr>
          <p:cNvPr id="419" name="Google Shape;419;p15"/>
          <p:cNvSpPr txBox="1"/>
          <p:nvPr/>
        </p:nvSpPr>
        <p:spPr>
          <a:xfrm>
            <a:off x="4865688" y="4838701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200"/>
              <a:t>Binary Tree – Representing Algebraic Expressions</a:t>
            </a:r>
            <a:endParaRPr/>
          </a:p>
        </p:txBody>
      </p:sp>
      <p:sp>
        <p:nvSpPr>
          <p:cNvPr id="425" name="Google Shape;425;p16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6" name="Google Shape;4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5975" y="1600201"/>
            <a:ext cx="7983538" cy="40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6"/>
          <p:cNvSpPr txBox="1"/>
          <p:nvPr/>
        </p:nvSpPr>
        <p:spPr>
          <a:xfrm>
            <a:off x="3792748" y="5842001"/>
            <a:ext cx="43338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Preorder traversal: left-Root-right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Construct Binary Tree from traversal sequence</a:t>
            </a:r>
            <a:endParaRPr/>
          </a:p>
        </p:txBody>
      </p:sp>
      <p:sp>
        <p:nvSpPr>
          <p:cNvPr id="433" name="Google Shape;433;p17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inOrder = {2,5,6,10,12,14,15};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preOrder = {10,5,2,6,14,12,15};</a:t>
            </a:r>
            <a:endParaRPr/>
          </a:p>
        </p:txBody>
      </p:sp>
      <p:sp>
        <p:nvSpPr>
          <p:cNvPr id="434" name="Google Shape;434;p17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600"/>
              <a:t>Height of Binary Tree</a:t>
            </a:r>
            <a:endParaRPr/>
          </a:p>
        </p:txBody>
      </p:sp>
      <p:sp>
        <p:nvSpPr>
          <p:cNvPr id="440" name="Google Shape;440;p18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The height of a binary tree T can be defined </a:t>
            </a:r>
            <a:r>
              <a:rPr i="1" lang="en-US" sz="2400"/>
              <a:t>recursively</a:t>
            </a:r>
            <a:r>
              <a:rPr lang="en-US" sz="2400"/>
              <a:t> as: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If T is empty, its height is -1.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If T is non-empty tree, then since T is of the form</a:t>
            </a:r>
            <a:endParaRPr/>
          </a:p>
          <a:p>
            <a:pPr indent="-762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/>
              <a:t>		           r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22860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/>
              <a:t>		  T</a:t>
            </a:r>
            <a:r>
              <a:rPr baseline="-25000" lang="en-US"/>
              <a:t>L</a:t>
            </a:r>
            <a:r>
              <a:rPr lang="en-US"/>
              <a:t>           T</a:t>
            </a:r>
            <a:r>
              <a:rPr baseline="-25000" lang="en-US"/>
              <a:t>R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/>
              <a:t>	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/>
              <a:t>the height of T is 1 greater than the height of its root’s taller subtree; i.e.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/>
              <a:t>		</a:t>
            </a:r>
            <a:r>
              <a:rPr i="1" lang="en-US">
                <a:solidFill>
                  <a:schemeClr val="accent2"/>
                </a:solidFill>
              </a:rPr>
              <a:t>height(T)</a:t>
            </a:r>
            <a:r>
              <a:rPr i="1" lang="en-US"/>
              <a:t> = 1 + max{</a:t>
            </a:r>
            <a:r>
              <a:rPr i="1" lang="en-US">
                <a:solidFill>
                  <a:schemeClr val="accent6"/>
                </a:solidFill>
              </a:rPr>
              <a:t>height(T</a:t>
            </a:r>
            <a:r>
              <a:rPr baseline="-25000" i="1" lang="en-US">
                <a:solidFill>
                  <a:schemeClr val="accent6"/>
                </a:solidFill>
              </a:rPr>
              <a:t>L</a:t>
            </a:r>
            <a:r>
              <a:rPr i="1" lang="en-US">
                <a:solidFill>
                  <a:schemeClr val="accent6"/>
                </a:solidFill>
              </a:rPr>
              <a:t>)</a:t>
            </a:r>
            <a:r>
              <a:rPr i="1" lang="en-US"/>
              <a:t>, </a:t>
            </a:r>
            <a:r>
              <a:rPr i="1" lang="en-US">
                <a:solidFill>
                  <a:schemeClr val="accent6"/>
                </a:solidFill>
              </a:rPr>
              <a:t>height(T</a:t>
            </a:r>
            <a:r>
              <a:rPr baseline="-25000" i="1" lang="en-US">
                <a:solidFill>
                  <a:schemeClr val="accent6"/>
                </a:solidFill>
              </a:rPr>
              <a:t>R</a:t>
            </a:r>
            <a:r>
              <a:rPr i="1" lang="en-US">
                <a:solidFill>
                  <a:schemeClr val="accent6"/>
                </a:solidFill>
              </a:rPr>
              <a:t>)</a:t>
            </a:r>
            <a:r>
              <a:rPr i="1" lang="en-US"/>
              <a:t>}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41" name="Google Shape;441;p18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42" name="Google Shape;442;p18"/>
          <p:cNvCxnSpPr/>
          <p:nvPr/>
        </p:nvCxnSpPr>
        <p:spPr>
          <a:xfrm flipH="1">
            <a:off x="2116347" y="3286918"/>
            <a:ext cx="492125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18"/>
          <p:cNvCxnSpPr/>
          <p:nvPr/>
        </p:nvCxnSpPr>
        <p:spPr>
          <a:xfrm>
            <a:off x="2649747" y="3286918"/>
            <a:ext cx="422275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Height of Binary Tree (cont.)</a:t>
            </a:r>
            <a:endParaRPr/>
          </a:p>
        </p:txBody>
      </p:sp>
      <p:sp>
        <p:nvSpPr>
          <p:cNvPr id="449" name="Google Shape;449;p19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0" name="Google Shape;4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6125" y="1600200"/>
            <a:ext cx="7456488" cy="38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9"/>
          <p:cNvSpPr txBox="1"/>
          <p:nvPr/>
        </p:nvSpPr>
        <p:spPr>
          <a:xfrm>
            <a:off x="2790825" y="5715000"/>
            <a:ext cx="628749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trees with the same nodes but different heights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/>
              <a:t>Maximum and Minimum Heights of a Binary Tree</a:t>
            </a:r>
            <a:endParaRPr/>
          </a:p>
        </p:txBody>
      </p:sp>
      <p:sp>
        <p:nvSpPr>
          <p:cNvPr id="457" name="Google Shape;457;p20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 u="sng"/>
              <a:t>maximum</a:t>
            </a:r>
            <a:r>
              <a:rPr lang="en-US" sz="2400"/>
              <a:t> height of a binary tree with N nodes is N-1.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Each level of a </a:t>
            </a:r>
            <a:r>
              <a:rPr lang="en-US" sz="2400" u="sng"/>
              <a:t>minimum</a:t>
            </a:r>
            <a:r>
              <a:rPr lang="en-US" sz="2400"/>
              <a:t> height tree, except the last level, must contain as many nodes as possible.</a:t>
            </a:r>
            <a:endParaRPr/>
          </a:p>
        </p:txBody>
      </p:sp>
      <p:sp>
        <p:nvSpPr>
          <p:cNvPr id="458" name="Google Shape;458;p20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9" name="Google Shape;4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1289" y="2895600"/>
            <a:ext cx="1711325" cy="2566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4650" y="2832100"/>
            <a:ext cx="2971800" cy="2859088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0"/>
          <p:cNvSpPr txBox="1"/>
          <p:nvPr/>
        </p:nvSpPr>
        <p:spPr>
          <a:xfrm>
            <a:off x="1735138" y="5614989"/>
            <a:ext cx="36385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maximum-height binary tree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seven nodes</a:t>
            </a:r>
            <a:endParaRPr/>
          </a:p>
        </p:txBody>
      </p:sp>
      <p:sp>
        <p:nvSpPr>
          <p:cNvPr id="462" name="Google Shape;462;p20"/>
          <p:cNvSpPr txBox="1"/>
          <p:nvPr/>
        </p:nvSpPr>
        <p:spPr>
          <a:xfrm>
            <a:off x="6237289" y="5919788"/>
            <a:ext cx="3565525" cy="86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binary trees of height 2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but (a) is minimum-height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Some Height Theorems</a:t>
            </a:r>
            <a:endParaRPr/>
          </a:p>
        </p:txBody>
      </p:sp>
      <p:sp>
        <p:nvSpPr>
          <p:cNvPr id="468" name="Google Shape;468;p21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i="1" lang="en-US" sz="2400"/>
              <a:t>Theorem 1:</a:t>
            </a:r>
            <a:r>
              <a:rPr lang="en-US" sz="2400"/>
              <a:t> The maximum number of nodes that a binary tree of height h can have is 2</a:t>
            </a:r>
            <a:r>
              <a:rPr baseline="30000" lang="en-US" sz="2400"/>
              <a:t>h+1</a:t>
            </a:r>
            <a:r>
              <a:rPr lang="en-US" sz="2400"/>
              <a:t>-1.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i="1" lang="en-US" sz="2400"/>
              <a:t>Theorem 2:</a:t>
            </a:r>
            <a:r>
              <a:rPr lang="en-US" sz="2400"/>
              <a:t> The minimum height of a binary tree with N nodes is  ⎡log</a:t>
            </a:r>
            <a:r>
              <a:rPr baseline="-25000" lang="en-US" sz="2400"/>
              <a:t>2</a:t>
            </a:r>
            <a:r>
              <a:rPr lang="en-US" sz="2400"/>
              <a:t>(N+1)-1⎤ 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lang="en-US" sz="2400"/>
              <a:t>Let’s prove these two theorems.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469" name="Google Shape;469;p21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/>
              <a:t>Counting the nodes in a binary tree</a:t>
            </a:r>
            <a:endParaRPr i="1" sz="2800"/>
          </a:p>
        </p:txBody>
      </p:sp>
      <p:sp>
        <p:nvSpPr>
          <p:cNvPr id="475" name="Google Shape;475;p22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6" name="Google Shape;4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5976" y="1191889"/>
            <a:ext cx="7878763" cy="50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2"/>
          <p:cNvSpPr txBox="1"/>
          <p:nvPr/>
        </p:nvSpPr>
        <p:spPr>
          <a:xfrm>
            <a:off x="1876426" y="2030089"/>
            <a:ext cx="485775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</p:txBody>
      </p:sp>
      <p:sp>
        <p:nvSpPr>
          <p:cNvPr id="478" name="Google Shape;478;p22"/>
          <p:cNvSpPr txBox="1"/>
          <p:nvPr/>
        </p:nvSpPr>
        <p:spPr>
          <a:xfrm>
            <a:off x="1600201" y="1191889"/>
            <a:ext cx="124777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</a:t>
            </a:r>
            <a:endParaRPr/>
          </a:p>
        </p:txBody>
      </p:sp>
      <p:sp>
        <p:nvSpPr>
          <p:cNvPr id="479" name="Google Shape;479;p22"/>
          <p:cNvSpPr/>
          <p:nvPr/>
        </p:nvSpPr>
        <p:spPr>
          <a:xfrm>
            <a:off x="5334000" y="1115688"/>
            <a:ext cx="609600" cy="5410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7820026" y="1115689"/>
            <a:ext cx="2695575" cy="50831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7732143" y="1533201"/>
            <a:ext cx="3886200" cy="212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1: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..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= 1*(1-2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/ (1-2) =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baseline="3000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line is a geometric series   where a=1, r=2, n=h+1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2" name="Google Shape;4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9628" y="3287391"/>
            <a:ext cx="3279775" cy="3049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/>
              <a:t>Counting the nodes in a binary tree</a:t>
            </a:r>
            <a:endParaRPr i="1" sz="2800"/>
          </a:p>
        </p:txBody>
      </p:sp>
      <p:sp>
        <p:nvSpPr>
          <p:cNvPr id="488" name="Google Shape;488;p23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9" name="Google Shape;4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5976" y="1295401"/>
            <a:ext cx="7878763" cy="50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3"/>
          <p:cNvSpPr txBox="1"/>
          <p:nvPr/>
        </p:nvSpPr>
        <p:spPr>
          <a:xfrm>
            <a:off x="1876426" y="2133601"/>
            <a:ext cx="485775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</p:txBody>
      </p:sp>
      <p:sp>
        <p:nvSpPr>
          <p:cNvPr id="491" name="Google Shape;491;p23"/>
          <p:cNvSpPr txBox="1"/>
          <p:nvPr/>
        </p:nvSpPr>
        <p:spPr>
          <a:xfrm>
            <a:off x="1600201" y="1295401"/>
            <a:ext cx="124777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</a:t>
            </a:r>
            <a:endParaRPr/>
          </a:p>
        </p:txBody>
      </p:sp>
      <p:sp>
        <p:nvSpPr>
          <p:cNvPr id="492" name="Google Shape;492;p23"/>
          <p:cNvSpPr/>
          <p:nvPr/>
        </p:nvSpPr>
        <p:spPr>
          <a:xfrm>
            <a:off x="5334000" y="1219200"/>
            <a:ext cx="609600" cy="5410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7820026" y="1219201"/>
            <a:ext cx="2695575" cy="50831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3"/>
          <p:cNvSpPr txBox="1"/>
          <p:nvPr/>
        </p:nvSpPr>
        <p:spPr>
          <a:xfrm>
            <a:off x="6705600" y="1941514"/>
            <a:ext cx="3886200" cy="2738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1: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..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= 1*(1-2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/ (1-2) =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max # of nodes for height h, as we cannot insert one node without increasing the height. So, in general N &lt;= 2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4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/>
              <a:t>Counting the nodes in a binary tree</a:t>
            </a:r>
            <a:endParaRPr i="1" sz="2800"/>
          </a:p>
        </p:txBody>
      </p:sp>
      <p:sp>
        <p:nvSpPr>
          <p:cNvPr id="500" name="Google Shape;500;p24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1" name="Google Shape;501;p24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2" name="Google Shape;5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5976" y="1295401"/>
            <a:ext cx="7878763" cy="50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4"/>
          <p:cNvSpPr txBox="1"/>
          <p:nvPr/>
        </p:nvSpPr>
        <p:spPr>
          <a:xfrm>
            <a:off x="1876426" y="2133601"/>
            <a:ext cx="485775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</p:txBody>
      </p:sp>
      <p:sp>
        <p:nvSpPr>
          <p:cNvPr id="504" name="Google Shape;504;p24"/>
          <p:cNvSpPr txBox="1"/>
          <p:nvPr/>
        </p:nvSpPr>
        <p:spPr>
          <a:xfrm>
            <a:off x="1600201" y="1295401"/>
            <a:ext cx="124777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</a:t>
            </a:r>
            <a:endParaRPr/>
          </a:p>
        </p:txBody>
      </p:sp>
      <p:sp>
        <p:nvSpPr>
          <p:cNvPr id="505" name="Google Shape;505;p24"/>
          <p:cNvSpPr/>
          <p:nvPr/>
        </p:nvSpPr>
        <p:spPr>
          <a:xfrm>
            <a:off x="5334000" y="1219200"/>
            <a:ext cx="609600" cy="5410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7820026" y="1219201"/>
            <a:ext cx="2695575" cy="50831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 txBox="1"/>
          <p:nvPr/>
        </p:nvSpPr>
        <p:spPr>
          <a:xfrm>
            <a:off x="6858000" y="1941514"/>
            <a:ext cx="373380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2: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N+1=2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//take logs of sides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log(N+1) = log(2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h+1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= log(N+1)-1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minimum height when N+1 is a power of 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 does not change when some nodes missing at the last level, e.g., N+1=13 instead of 16.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h must be produced there.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in general h = ⎡log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(N+1)-1⎤ 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5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200"/>
              <a:t>Number of Binary trees with Same # of Nodes</a:t>
            </a:r>
            <a:endParaRPr/>
          </a:p>
        </p:txBody>
      </p:sp>
      <p:sp>
        <p:nvSpPr>
          <p:cNvPr id="513" name="Google Shape;513;p25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25"/>
          <p:cNvSpPr txBox="1"/>
          <p:nvPr/>
        </p:nvSpPr>
        <p:spPr>
          <a:xfrm>
            <a:off x="1946276" y="1295400"/>
            <a:ext cx="26654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n=0 🡺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empty tree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1946275" y="1935164"/>
            <a:ext cx="915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n=1 🡺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 flipH="1" rot="10800000">
            <a:off x="3273426" y="1874838"/>
            <a:ext cx="2841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∙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17" name="Google Shape;517;p25"/>
          <p:cNvGrpSpPr/>
          <p:nvPr/>
        </p:nvGrpSpPr>
        <p:grpSpPr>
          <a:xfrm>
            <a:off x="3074988" y="2478089"/>
            <a:ext cx="1122362" cy="827087"/>
            <a:chOff x="959" y="1632"/>
            <a:chExt cx="812" cy="537"/>
          </a:xfrm>
        </p:grpSpPr>
        <p:sp>
          <p:nvSpPr>
            <p:cNvPr id="518" name="Google Shape;518;p25"/>
            <p:cNvSpPr txBox="1"/>
            <p:nvPr/>
          </p:nvSpPr>
          <p:spPr>
            <a:xfrm>
              <a:off x="959" y="1872"/>
              <a:ext cx="235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9" name="Google Shape;519;p25"/>
            <p:cNvSpPr txBox="1"/>
            <p:nvPr/>
          </p:nvSpPr>
          <p:spPr>
            <a:xfrm>
              <a:off x="1103" y="1632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" name="Google Shape;520;p25"/>
            <p:cNvSpPr txBox="1"/>
            <p:nvPr/>
          </p:nvSpPr>
          <p:spPr>
            <a:xfrm>
              <a:off x="1537" y="1872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p25"/>
            <p:cNvSpPr txBox="1"/>
            <p:nvPr/>
          </p:nvSpPr>
          <p:spPr>
            <a:xfrm>
              <a:off x="1391" y="1632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22" name="Google Shape;522;p25"/>
            <p:cNvCxnSpPr/>
            <p:nvPr/>
          </p:nvCxnSpPr>
          <p:spPr>
            <a:xfrm flipH="1">
              <a:off x="1055" y="1776"/>
              <a:ext cx="145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" name="Google Shape;523;p25"/>
            <p:cNvCxnSpPr/>
            <p:nvPr/>
          </p:nvCxnSpPr>
          <p:spPr>
            <a:xfrm>
              <a:off x="1488" y="1776"/>
              <a:ext cx="14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4" name="Google Shape;524;p25"/>
          <p:cNvSpPr txBox="1"/>
          <p:nvPr/>
        </p:nvSpPr>
        <p:spPr>
          <a:xfrm>
            <a:off x="2012950" y="2673351"/>
            <a:ext cx="915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n=2 🡺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25"/>
          <p:cNvSpPr txBox="1"/>
          <p:nvPr/>
        </p:nvSpPr>
        <p:spPr>
          <a:xfrm>
            <a:off x="2012950" y="3560764"/>
            <a:ext cx="915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n=3 🡺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25"/>
          <p:cNvSpPr txBox="1"/>
          <p:nvPr/>
        </p:nvSpPr>
        <p:spPr>
          <a:xfrm>
            <a:off x="4137026" y="1812925"/>
            <a:ext cx="10715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tree)</a:t>
            </a:r>
            <a:endParaRPr/>
          </a:p>
        </p:txBody>
      </p:sp>
      <p:sp>
        <p:nvSpPr>
          <p:cNvPr id="527" name="Google Shape;527;p25"/>
          <p:cNvSpPr txBox="1"/>
          <p:nvPr/>
        </p:nvSpPr>
        <p:spPr>
          <a:xfrm>
            <a:off x="4337051" y="2625725"/>
            <a:ext cx="1190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trees)</a:t>
            </a:r>
            <a:endParaRPr/>
          </a:p>
        </p:txBody>
      </p:sp>
      <p:sp>
        <p:nvSpPr>
          <p:cNvPr id="528" name="Google Shape;528;p25"/>
          <p:cNvSpPr txBox="1"/>
          <p:nvPr/>
        </p:nvSpPr>
        <p:spPr>
          <a:xfrm>
            <a:off x="6861176" y="3736975"/>
            <a:ext cx="1190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(? trees)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6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200"/>
              <a:t>Number of Binary trees with Same # of Nodes</a:t>
            </a:r>
            <a:endParaRPr/>
          </a:p>
        </p:txBody>
      </p:sp>
      <p:sp>
        <p:nvSpPr>
          <p:cNvPr id="534" name="Google Shape;534;p26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26"/>
          <p:cNvSpPr txBox="1"/>
          <p:nvPr/>
        </p:nvSpPr>
        <p:spPr>
          <a:xfrm>
            <a:off x="1946276" y="1295400"/>
            <a:ext cx="26654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n=0 🡺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empty tree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26"/>
          <p:cNvSpPr txBox="1"/>
          <p:nvPr/>
        </p:nvSpPr>
        <p:spPr>
          <a:xfrm>
            <a:off x="1946275" y="1935164"/>
            <a:ext cx="915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n=1 🡺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26"/>
          <p:cNvSpPr txBox="1"/>
          <p:nvPr/>
        </p:nvSpPr>
        <p:spPr>
          <a:xfrm flipH="1" rot="10800000">
            <a:off x="3273426" y="1874838"/>
            <a:ext cx="2841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∙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38" name="Google Shape;538;p26"/>
          <p:cNvGrpSpPr/>
          <p:nvPr/>
        </p:nvGrpSpPr>
        <p:grpSpPr>
          <a:xfrm>
            <a:off x="3074988" y="2478089"/>
            <a:ext cx="1122362" cy="827087"/>
            <a:chOff x="959" y="1632"/>
            <a:chExt cx="812" cy="537"/>
          </a:xfrm>
        </p:grpSpPr>
        <p:sp>
          <p:nvSpPr>
            <p:cNvPr id="539" name="Google Shape;539;p26"/>
            <p:cNvSpPr txBox="1"/>
            <p:nvPr/>
          </p:nvSpPr>
          <p:spPr>
            <a:xfrm>
              <a:off x="959" y="1872"/>
              <a:ext cx="235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0" name="Google Shape;540;p26"/>
            <p:cNvSpPr txBox="1"/>
            <p:nvPr/>
          </p:nvSpPr>
          <p:spPr>
            <a:xfrm>
              <a:off x="1103" y="1632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1" name="Google Shape;541;p26"/>
            <p:cNvSpPr txBox="1"/>
            <p:nvPr/>
          </p:nvSpPr>
          <p:spPr>
            <a:xfrm>
              <a:off x="1537" y="1872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2" name="Google Shape;542;p26"/>
            <p:cNvSpPr txBox="1"/>
            <p:nvPr/>
          </p:nvSpPr>
          <p:spPr>
            <a:xfrm>
              <a:off x="1391" y="1632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43" name="Google Shape;543;p26"/>
            <p:cNvCxnSpPr/>
            <p:nvPr/>
          </p:nvCxnSpPr>
          <p:spPr>
            <a:xfrm flipH="1">
              <a:off x="1055" y="1776"/>
              <a:ext cx="145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6"/>
            <p:cNvCxnSpPr/>
            <p:nvPr/>
          </p:nvCxnSpPr>
          <p:spPr>
            <a:xfrm>
              <a:off x="1488" y="1776"/>
              <a:ext cx="14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45" name="Google Shape;545;p26"/>
          <p:cNvGrpSpPr/>
          <p:nvPr/>
        </p:nvGrpSpPr>
        <p:grpSpPr>
          <a:xfrm>
            <a:off x="2873376" y="3438526"/>
            <a:ext cx="3714547" cy="1273175"/>
            <a:chOff x="766" y="2304"/>
            <a:chExt cx="2684" cy="827"/>
          </a:xfrm>
        </p:grpSpPr>
        <p:sp>
          <p:nvSpPr>
            <p:cNvPr id="546" name="Google Shape;546;p26"/>
            <p:cNvSpPr txBox="1"/>
            <p:nvPr/>
          </p:nvSpPr>
          <p:spPr>
            <a:xfrm>
              <a:off x="1054" y="2304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7" name="Google Shape;547;p26"/>
            <p:cNvSpPr txBox="1"/>
            <p:nvPr/>
          </p:nvSpPr>
          <p:spPr>
            <a:xfrm>
              <a:off x="2928" y="2304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48" name="Google Shape;548;p26"/>
            <p:cNvGrpSpPr/>
            <p:nvPr/>
          </p:nvGrpSpPr>
          <p:grpSpPr>
            <a:xfrm>
              <a:off x="766" y="2352"/>
              <a:ext cx="2684" cy="779"/>
              <a:chOff x="766" y="2352"/>
              <a:chExt cx="2684" cy="779"/>
            </a:xfrm>
          </p:grpSpPr>
          <p:sp>
            <p:nvSpPr>
              <p:cNvPr id="549" name="Google Shape;549;p26"/>
              <p:cNvSpPr txBox="1"/>
              <p:nvPr/>
            </p:nvSpPr>
            <p:spPr>
              <a:xfrm>
                <a:off x="911" y="2544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0" name="Google Shape;550;p26"/>
              <p:cNvSpPr txBox="1"/>
              <p:nvPr/>
            </p:nvSpPr>
            <p:spPr>
              <a:xfrm>
                <a:off x="766" y="2787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1" name="Google Shape;551;p26"/>
              <p:cNvSpPr txBox="1"/>
              <p:nvPr/>
            </p:nvSpPr>
            <p:spPr>
              <a:xfrm>
                <a:off x="1343" y="2595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2" name="Google Shape;552;p26"/>
              <p:cNvSpPr txBox="1"/>
              <p:nvPr/>
            </p:nvSpPr>
            <p:spPr>
              <a:xfrm>
                <a:off x="1486" y="2352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3" name="Google Shape;553;p26"/>
              <p:cNvSpPr txBox="1"/>
              <p:nvPr/>
            </p:nvSpPr>
            <p:spPr>
              <a:xfrm>
                <a:off x="1440" y="2833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54" name="Google Shape;554;p26"/>
              <p:cNvCxnSpPr/>
              <p:nvPr/>
            </p:nvCxnSpPr>
            <p:spPr>
              <a:xfrm flipH="1">
                <a:off x="1008" y="2448"/>
                <a:ext cx="145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5" name="Google Shape;555;p26"/>
              <p:cNvCxnSpPr/>
              <p:nvPr/>
            </p:nvCxnSpPr>
            <p:spPr>
              <a:xfrm flipH="1">
                <a:off x="864" y="2691"/>
                <a:ext cx="147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6" name="Google Shape;556;p26"/>
              <p:cNvCxnSpPr/>
              <p:nvPr/>
            </p:nvCxnSpPr>
            <p:spPr>
              <a:xfrm flipH="1">
                <a:off x="1440" y="2499"/>
                <a:ext cx="141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" name="Google Shape;557;p26"/>
              <p:cNvCxnSpPr/>
              <p:nvPr/>
            </p:nvCxnSpPr>
            <p:spPr>
              <a:xfrm>
                <a:off x="1440" y="2736"/>
                <a:ext cx="94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" name="Google Shape;558;p26"/>
              <p:cNvCxnSpPr/>
              <p:nvPr/>
            </p:nvCxnSpPr>
            <p:spPr>
              <a:xfrm flipH="1">
                <a:off x="1872" y="2499"/>
                <a:ext cx="146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" name="Google Shape;559;p26"/>
              <p:cNvCxnSpPr/>
              <p:nvPr/>
            </p:nvCxnSpPr>
            <p:spPr>
              <a:xfrm>
                <a:off x="2016" y="2499"/>
                <a:ext cx="142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" name="Google Shape;560;p26"/>
              <p:cNvCxnSpPr/>
              <p:nvPr/>
            </p:nvCxnSpPr>
            <p:spPr>
              <a:xfrm>
                <a:off x="2592" y="2499"/>
                <a:ext cx="143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1" name="Google Shape;561;p26"/>
              <p:cNvCxnSpPr/>
              <p:nvPr/>
            </p:nvCxnSpPr>
            <p:spPr>
              <a:xfrm flipH="1">
                <a:off x="2592" y="2736"/>
                <a:ext cx="143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2" name="Google Shape;562;p26"/>
              <p:cNvCxnSpPr/>
              <p:nvPr/>
            </p:nvCxnSpPr>
            <p:spPr>
              <a:xfrm>
                <a:off x="3023" y="2448"/>
                <a:ext cx="145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" name="Google Shape;563;p26"/>
              <p:cNvCxnSpPr/>
              <p:nvPr/>
            </p:nvCxnSpPr>
            <p:spPr>
              <a:xfrm>
                <a:off x="3168" y="2691"/>
                <a:ext cx="145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4" name="Google Shape;564;p26"/>
              <p:cNvSpPr txBox="1"/>
              <p:nvPr/>
            </p:nvSpPr>
            <p:spPr>
              <a:xfrm>
                <a:off x="1919" y="2352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5" name="Google Shape;565;p26"/>
              <p:cNvSpPr txBox="1"/>
              <p:nvPr/>
            </p:nvSpPr>
            <p:spPr>
              <a:xfrm>
                <a:off x="1774" y="2595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6" name="Google Shape;566;p26"/>
              <p:cNvSpPr txBox="1"/>
              <p:nvPr/>
            </p:nvSpPr>
            <p:spPr>
              <a:xfrm>
                <a:off x="2495" y="2352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7" name="Google Shape;567;p26"/>
              <p:cNvSpPr txBox="1"/>
              <p:nvPr/>
            </p:nvSpPr>
            <p:spPr>
              <a:xfrm>
                <a:off x="2062" y="2595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8" name="Google Shape;568;p26"/>
              <p:cNvSpPr txBox="1"/>
              <p:nvPr/>
            </p:nvSpPr>
            <p:spPr>
              <a:xfrm>
                <a:off x="2640" y="2595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9" name="Google Shape;569;p26"/>
              <p:cNvSpPr txBox="1"/>
              <p:nvPr/>
            </p:nvSpPr>
            <p:spPr>
              <a:xfrm>
                <a:off x="2495" y="2834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0" name="Google Shape;570;p26"/>
              <p:cNvSpPr txBox="1"/>
              <p:nvPr/>
            </p:nvSpPr>
            <p:spPr>
              <a:xfrm>
                <a:off x="3070" y="2544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1" name="Google Shape;571;p26"/>
              <p:cNvSpPr txBox="1"/>
              <p:nvPr/>
            </p:nvSpPr>
            <p:spPr>
              <a:xfrm>
                <a:off x="3215" y="2787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572" name="Google Shape;572;p26"/>
          <p:cNvSpPr txBox="1"/>
          <p:nvPr/>
        </p:nvSpPr>
        <p:spPr>
          <a:xfrm>
            <a:off x="2012950" y="2673351"/>
            <a:ext cx="915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n=2 🡺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26"/>
          <p:cNvSpPr txBox="1"/>
          <p:nvPr/>
        </p:nvSpPr>
        <p:spPr>
          <a:xfrm>
            <a:off x="2012950" y="3560764"/>
            <a:ext cx="915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n=3 🡺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>
            <a:off x="4137026" y="1812925"/>
            <a:ext cx="10715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tree)</a:t>
            </a:r>
            <a:endParaRPr/>
          </a:p>
        </p:txBody>
      </p:sp>
      <p:sp>
        <p:nvSpPr>
          <p:cNvPr id="575" name="Google Shape;575;p26"/>
          <p:cNvSpPr txBox="1"/>
          <p:nvPr/>
        </p:nvSpPr>
        <p:spPr>
          <a:xfrm>
            <a:off x="4337051" y="2625725"/>
            <a:ext cx="1190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trees)</a:t>
            </a:r>
            <a:endParaRPr/>
          </a:p>
        </p:txBody>
      </p:sp>
      <p:sp>
        <p:nvSpPr>
          <p:cNvPr id="576" name="Google Shape;576;p26"/>
          <p:cNvSpPr txBox="1"/>
          <p:nvPr/>
        </p:nvSpPr>
        <p:spPr>
          <a:xfrm>
            <a:off x="6861176" y="3736975"/>
            <a:ext cx="1190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trees)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Full Binary Tree</a:t>
            </a:r>
            <a:endParaRPr/>
          </a:p>
        </p:txBody>
      </p:sp>
      <p:sp>
        <p:nvSpPr>
          <p:cNvPr id="582" name="Google Shape;582;p27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In a </a:t>
            </a:r>
            <a:r>
              <a:rPr i="1" lang="en-US" sz="2400">
                <a:solidFill>
                  <a:srgbClr val="FF0000"/>
                </a:solidFill>
              </a:rPr>
              <a:t>full binary tree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a tree in which every node in the tree has either 0 or 2 children</a:t>
            </a:r>
            <a:endParaRPr/>
          </a:p>
        </p:txBody>
      </p:sp>
      <p:sp>
        <p:nvSpPr>
          <p:cNvPr id="583" name="Google Shape;583;p27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4" name="Google Shape;5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6825" y="2671764"/>
            <a:ext cx="20383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8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Full Binary Tree – Example </a:t>
            </a:r>
            <a:endParaRPr/>
          </a:p>
        </p:txBody>
      </p:sp>
      <p:sp>
        <p:nvSpPr>
          <p:cNvPr id="590" name="Google Shape;590;p28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1" name="Google Shape;5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0826" y="1752600"/>
            <a:ext cx="2936875" cy="34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8"/>
          <p:cNvSpPr txBox="1"/>
          <p:nvPr/>
        </p:nvSpPr>
        <p:spPr>
          <a:xfrm>
            <a:off x="5815014" y="2895601"/>
            <a:ext cx="32718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full binary tree of height 2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9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Complete Binary Tree</a:t>
            </a:r>
            <a:endParaRPr/>
          </a:p>
        </p:txBody>
      </p:sp>
      <p:sp>
        <p:nvSpPr>
          <p:cNvPr id="598" name="Google Shape;598;p29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In a </a:t>
            </a:r>
            <a:r>
              <a:rPr i="1" lang="en-US" sz="2400">
                <a:solidFill>
                  <a:srgbClr val="FF0000"/>
                </a:solidFill>
              </a:rPr>
              <a:t>complete binary tree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every level, except possibly the last, is completely filled, and all nodes in the last level are as far left as possible</a:t>
            </a:r>
            <a:endParaRPr/>
          </a:p>
        </p:txBody>
      </p:sp>
      <p:sp>
        <p:nvSpPr>
          <p:cNvPr id="599" name="Google Shape;599;p29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0" name="Google Shape;6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2539" y="2847975"/>
            <a:ext cx="2066925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0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Complete Binary Tree – Example </a:t>
            </a:r>
            <a:endParaRPr/>
          </a:p>
        </p:txBody>
      </p:sp>
      <p:sp>
        <p:nvSpPr>
          <p:cNvPr id="606" name="Google Shape;606;p30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7" name="Google Shape;6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0825" y="1447800"/>
            <a:ext cx="6224588" cy="4205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1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Full but Not Complete Binary Tree – Example </a:t>
            </a:r>
            <a:endParaRPr/>
          </a:p>
        </p:txBody>
      </p:sp>
      <p:sp>
        <p:nvSpPr>
          <p:cNvPr id="613" name="Google Shape;613;p31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4" name="Google Shape;61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0089" y="2162175"/>
            <a:ext cx="317182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2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Neither Full Nor Complete Binary Tree – Example </a:t>
            </a:r>
            <a:endParaRPr/>
          </a:p>
        </p:txBody>
      </p:sp>
      <p:sp>
        <p:nvSpPr>
          <p:cNvPr id="620" name="Google Shape;620;p32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21" name="Google Shape;621;p32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2" name="Google Shape;6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3048000"/>
            <a:ext cx="10668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3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Full and Complete Binary Tree – Example </a:t>
            </a:r>
            <a:endParaRPr/>
          </a:p>
        </p:txBody>
      </p:sp>
      <p:sp>
        <p:nvSpPr>
          <p:cNvPr id="628" name="Google Shape;628;p33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29" name="Google Shape;629;p33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0" name="Google Shape;63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1" y="2209800"/>
            <a:ext cx="2936875" cy="34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4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Balanced Binary Tree</a:t>
            </a:r>
            <a:endParaRPr/>
          </a:p>
        </p:txBody>
      </p:sp>
      <p:sp>
        <p:nvSpPr>
          <p:cNvPr id="636" name="Google Shape;636;p34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A binary tree is </a:t>
            </a:r>
            <a:r>
              <a:rPr i="1" lang="en-US" sz="2400">
                <a:solidFill>
                  <a:srgbClr val="FF0000"/>
                </a:solidFill>
              </a:rPr>
              <a:t>height balanced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(or </a:t>
            </a:r>
            <a:r>
              <a:rPr i="1" lang="en-US" sz="2400">
                <a:solidFill>
                  <a:srgbClr val="FF0000"/>
                </a:solidFill>
              </a:rPr>
              <a:t>balanced</a:t>
            </a:r>
            <a:r>
              <a:rPr lang="en-US" sz="2400"/>
              <a:t>), if the height of any node’s right subtree differs from the height of the node’s left subtree by no more than 1.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A complete binary tree is a balanced tree.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/>
              <a:t>Other height balanced trees: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AVL trees //binary search tree (BST)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Red-Black trees //binary search tree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B-trees //generalization of a BST (3+ children allowed)</a:t>
            </a:r>
            <a:br>
              <a:rPr lang="en-US"/>
            </a:br>
            <a:r>
              <a:rPr lang="en-US"/>
              <a:t> ....</a:t>
            </a:r>
            <a:endParaRPr/>
          </a:p>
          <a:p>
            <a:pPr indent="-762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37" name="Google Shape;637;p34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aafbbaed6d_0_0"/>
          <p:cNvSpPr txBox="1"/>
          <p:nvPr>
            <p:ph type="title"/>
          </p:nvPr>
        </p:nvSpPr>
        <p:spPr>
          <a:xfrm>
            <a:off x="838200" y="554037"/>
            <a:ext cx="10515600" cy="52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2aafbbaed6d_0_0"/>
          <p:cNvSpPr txBox="1"/>
          <p:nvPr>
            <p:ph idx="1" type="body"/>
          </p:nvPr>
        </p:nvSpPr>
        <p:spPr>
          <a:xfrm>
            <a:off x="838200" y="1270000"/>
            <a:ext cx="7315200" cy="490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2aafbbaed6d_0_0"/>
          <p:cNvSpPr txBox="1"/>
          <p:nvPr>
            <p:ph idx="12" type="sldNum"/>
          </p:nvPr>
        </p:nvSpPr>
        <p:spPr>
          <a:xfrm>
            <a:off x="8610600" y="64071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5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200"/>
              <a:t>A Pointer-Based Implementation of Binary Trees</a:t>
            </a:r>
            <a:r>
              <a:rPr lang="en-US"/>
              <a:t> </a:t>
            </a:r>
            <a:endParaRPr/>
          </a:p>
        </p:txBody>
      </p:sp>
      <p:sp>
        <p:nvSpPr>
          <p:cNvPr id="651" name="Google Shape;651;p35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2" name="Google Shape;6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1" y="1371601"/>
            <a:ext cx="5064125" cy="4310063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35"/>
          <p:cNvSpPr txBox="1"/>
          <p:nvPr/>
        </p:nvSpPr>
        <p:spPr>
          <a:xfrm>
            <a:off x="1981200" y="1600201"/>
            <a:ext cx="4343400" cy="1465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struct BinaryNode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Object          element;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struct BinaryNode *left;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struct BinaryNode *right;  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};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6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Binary Tree Traversals</a:t>
            </a:r>
            <a:endParaRPr/>
          </a:p>
        </p:txBody>
      </p:sp>
      <p:sp>
        <p:nvSpPr>
          <p:cNvPr id="659" name="Google Shape;659;p36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Preorder Traversal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 the node is visited before its left and right subtrees, </a:t>
            </a:r>
            <a:endParaRPr/>
          </a:p>
          <a:p>
            <a:pPr indent="-762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Postorder Traversal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 the node is visited after both subtrees.</a:t>
            </a:r>
            <a:endParaRPr/>
          </a:p>
          <a:p>
            <a:pPr indent="-762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Inorder Traversal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the node is visited between the subtrees,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Visit left subtree, visit the node, and visit the right subtree.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660" name="Google Shape;660;p36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7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Binary Tree Traversals</a:t>
            </a:r>
            <a:endParaRPr/>
          </a:p>
        </p:txBody>
      </p:sp>
      <p:sp>
        <p:nvSpPr>
          <p:cNvPr id="666" name="Google Shape;666;p37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7" name="Google Shape;66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676401"/>
            <a:ext cx="7754938" cy="3763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8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Preorder</a:t>
            </a:r>
            <a:endParaRPr/>
          </a:p>
        </p:txBody>
      </p:sp>
      <p:sp>
        <p:nvSpPr>
          <p:cNvPr id="673" name="Google Shape;673;p38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preorder(struct tree_node * p)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	if (p !=NULL) {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cout &lt;&lt; p-&gt;data &lt;&lt; endl;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preorder(p-&gt;left_child);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preorder(p-&gt;right_child);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4" name="Google Shape;674;p38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9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Inorder</a:t>
            </a:r>
            <a:endParaRPr/>
          </a:p>
        </p:txBody>
      </p:sp>
      <p:sp>
        <p:nvSpPr>
          <p:cNvPr id="680" name="Google Shape;680;p39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inorder(struct tree_node *p)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	if (p !=NULL) {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inorder(p-&gt;left_child);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cout &lt;&lt; p-&gt;data &lt;&lt; endl;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inorder(p-&gt;right_child);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1" name="Google Shape;681;p39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0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Postorder</a:t>
            </a:r>
            <a:endParaRPr/>
          </a:p>
        </p:txBody>
      </p:sp>
      <p:sp>
        <p:nvSpPr>
          <p:cNvPr id="687" name="Google Shape;687;p40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postorder(struct tree_node *p)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	if (p !=NULL) {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postorder(p-&gt;left_child);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postorder(p-&gt;right_child);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cout &lt;&lt; p-&gt;data &lt;&lt; endl;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  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8" name="Google Shape;688;p40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1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200"/>
              <a:t>Finding the maximum value in a binary tree </a:t>
            </a:r>
            <a:endParaRPr/>
          </a:p>
        </p:txBody>
      </p:sp>
      <p:sp>
        <p:nvSpPr>
          <p:cNvPr id="694" name="Google Shape;694;p41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int FindMax(struct tree_node *p)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int root_val, left, right, max;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max = -1; </a:t>
            </a:r>
            <a:r>
              <a:rPr lang="en-US" sz="1800">
                <a:solidFill>
                  <a:srgbClr val="32946A"/>
                </a:solidFill>
                <a:latin typeface="Courier New"/>
                <a:ea typeface="Courier New"/>
                <a:cs typeface="Courier New"/>
                <a:sym typeface="Courier New"/>
              </a:rPr>
              <a:t>// Assuming all values are positive integers</a:t>
            </a:r>
            <a:endParaRPr sz="1800">
              <a:solidFill>
                <a:srgbClr val="3294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if (p!=NULL)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root_val = p -&gt; data;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left = FindMax(p -&gt;left_child);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right = FindMax(p-&gt;right_child);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800">
                <a:solidFill>
                  <a:srgbClr val="32946A"/>
                </a:solidFill>
                <a:latin typeface="Courier New"/>
                <a:ea typeface="Courier New"/>
                <a:cs typeface="Courier New"/>
                <a:sym typeface="Courier New"/>
              </a:rPr>
              <a:t>// Find the largest of the three values.</a:t>
            </a:r>
            <a:endParaRPr sz="1800">
              <a:solidFill>
                <a:srgbClr val="3294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if (left &gt; right)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     max = left;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else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    max = right;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if (root_val &gt; max)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    max = root_val;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return max;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83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695" name="Google Shape;695;p41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2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200"/>
              <a:t>Adding up all values in a Binary Tree</a:t>
            </a:r>
            <a:r>
              <a:rPr lang="en-US"/>
              <a:t> </a:t>
            </a:r>
            <a:endParaRPr/>
          </a:p>
        </p:txBody>
      </p:sp>
      <p:sp>
        <p:nvSpPr>
          <p:cNvPr id="701" name="Google Shape;701;p42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int add(struct tree_node *p) </a:t>
            </a:r>
            <a:endParaRPr/>
          </a:p>
          <a:p>
            <a:pPr indent="-228600" lvl="0" marL="228600" rtl="0" algn="just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if (p == NULL) 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return 0;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else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return (p-&gt;data + add(p-&gt;left_child)+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      add(p-&gt;right_child));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just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2" name="Google Shape;702;p42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3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708" name="Google Shape;708;p43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/>
              <a:t>Write a function that will count the leaves of a binary tree.</a:t>
            </a:r>
            <a:endParaRPr/>
          </a:p>
          <a:p>
            <a:pPr indent="-6096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/>
              <a:t>Write a function that will find the height of a binary tree. </a:t>
            </a:r>
            <a:endParaRPr/>
          </a:p>
          <a:p>
            <a:pPr indent="-6096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/>
              <a:t>Write a function that will interchange all left and right subtrees in a binary tree. </a:t>
            </a:r>
            <a:endParaRPr/>
          </a:p>
        </p:txBody>
      </p:sp>
      <p:sp>
        <p:nvSpPr>
          <p:cNvPr id="709" name="Google Shape;709;p43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4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Binary Search Trees</a:t>
            </a:r>
            <a:endParaRPr/>
          </a:p>
        </p:txBody>
      </p:sp>
      <p:sp>
        <p:nvSpPr>
          <p:cNvPr id="715" name="Google Shape;715;p44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An important application of binary trees is their use in searching.</a:t>
            </a:r>
            <a:endParaRPr/>
          </a:p>
          <a:p>
            <a:pPr indent="-533400" lvl="0" marL="533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i="1" lang="en-US">
                <a:solidFill>
                  <a:srgbClr val="FF0000"/>
                </a:solidFill>
              </a:rPr>
              <a:t>Binary search tree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is a binary tree in which every  node X contains a data value that satisfies the following:</a:t>
            </a:r>
            <a:endParaRPr/>
          </a:p>
          <a:p>
            <a:pPr indent="-4572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LcParenR"/>
            </a:pPr>
            <a:r>
              <a:rPr lang="en-US"/>
              <a:t>all data values in its left subtree are smaller than the data value in X </a:t>
            </a:r>
            <a:endParaRPr/>
          </a:p>
          <a:p>
            <a:pPr indent="-4572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LcParenR"/>
            </a:pPr>
            <a:r>
              <a:rPr lang="en-US"/>
              <a:t>the data value in X is smaller than all the values in its right subtree.</a:t>
            </a:r>
            <a:endParaRPr/>
          </a:p>
          <a:p>
            <a:pPr indent="-4572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LcParenR"/>
            </a:pPr>
            <a:r>
              <a:rPr lang="en-US"/>
              <a:t>the left and right subtrees are also binary search tees.</a:t>
            </a:r>
            <a:endParaRPr/>
          </a:p>
        </p:txBody>
      </p:sp>
      <p:sp>
        <p:nvSpPr>
          <p:cNvPr id="716" name="Google Shape;716;p44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5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22" name="Google Shape;722;p45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23" name="Google Shape;723;p45"/>
          <p:cNvGrpSpPr/>
          <p:nvPr/>
        </p:nvGrpSpPr>
        <p:grpSpPr>
          <a:xfrm>
            <a:off x="2106614" y="1184276"/>
            <a:ext cx="3074987" cy="3540125"/>
            <a:chOff x="367" y="746"/>
            <a:chExt cx="1588" cy="1588"/>
          </a:xfrm>
        </p:grpSpPr>
        <p:sp>
          <p:nvSpPr>
            <p:cNvPr id="724" name="Google Shape;724;p45"/>
            <p:cNvSpPr/>
            <p:nvPr/>
          </p:nvSpPr>
          <p:spPr>
            <a:xfrm>
              <a:off x="1274" y="746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725" name="Google Shape;725;p45"/>
            <p:cNvSpPr/>
            <p:nvPr/>
          </p:nvSpPr>
          <p:spPr>
            <a:xfrm>
              <a:off x="821" y="1199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726" name="Google Shape;726;p45"/>
            <p:cNvSpPr/>
            <p:nvPr/>
          </p:nvSpPr>
          <p:spPr>
            <a:xfrm>
              <a:off x="1728" y="1200"/>
              <a:ext cx="227" cy="226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727" name="Google Shape;727;p45"/>
            <p:cNvSpPr/>
            <p:nvPr/>
          </p:nvSpPr>
          <p:spPr>
            <a:xfrm>
              <a:off x="367" y="1653"/>
              <a:ext cx="227" cy="226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28" name="Google Shape;728;p45"/>
            <p:cNvSpPr/>
            <p:nvPr/>
          </p:nvSpPr>
          <p:spPr>
            <a:xfrm>
              <a:off x="1274" y="1653"/>
              <a:ext cx="227" cy="226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729" name="Google Shape;729;p45"/>
            <p:cNvSpPr/>
            <p:nvPr/>
          </p:nvSpPr>
          <p:spPr>
            <a:xfrm>
              <a:off x="821" y="2107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cxnSp>
          <p:nvCxnSpPr>
            <p:cNvPr id="730" name="Google Shape;730;p45"/>
            <p:cNvCxnSpPr/>
            <p:nvPr/>
          </p:nvCxnSpPr>
          <p:spPr>
            <a:xfrm flipH="1">
              <a:off x="564" y="1411"/>
              <a:ext cx="272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45"/>
            <p:cNvCxnSpPr/>
            <p:nvPr/>
          </p:nvCxnSpPr>
          <p:spPr>
            <a:xfrm flipH="1">
              <a:off x="1031" y="1856"/>
              <a:ext cx="272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45"/>
            <p:cNvCxnSpPr/>
            <p:nvPr/>
          </p:nvCxnSpPr>
          <p:spPr>
            <a:xfrm flipH="1">
              <a:off x="1026" y="951"/>
              <a:ext cx="272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p45"/>
            <p:cNvCxnSpPr/>
            <p:nvPr/>
          </p:nvCxnSpPr>
          <p:spPr>
            <a:xfrm>
              <a:off x="1031" y="1394"/>
              <a:ext cx="273" cy="2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4" name="Google Shape;734;p45"/>
            <p:cNvCxnSpPr/>
            <p:nvPr/>
          </p:nvCxnSpPr>
          <p:spPr>
            <a:xfrm>
              <a:off x="1480" y="943"/>
              <a:ext cx="273" cy="2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35" name="Google Shape;735;p45"/>
          <p:cNvGrpSpPr/>
          <p:nvPr/>
        </p:nvGrpSpPr>
        <p:grpSpPr>
          <a:xfrm>
            <a:off x="6484938" y="1219200"/>
            <a:ext cx="3040062" cy="3581400"/>
            <a:chOff x="3125" y="768"/>
            <a:chExt cx="1588" cy="1593"/>
          </a:xfrm>
        </p:grpSpPr>
        <p:sp>
          <p:nvSpPr>
            <p:cNvPr id="736" name="Google Shape;736;p45"/>
            <p:cNvSpPr/>
            <p:nvPr/>
          </p:nvSpPr>
          <p:spPr>
            <a:xfrm>
              <a:off x="4032" y="768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737" name="Google Shape;737;p45"/>
            <p:cNvSpPr/>
            <p:nvPr/>
          </p:nvSpPr>
          <p:spPr>
            <a:xfrm>
              <a:off x="3579" y="1221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738" name="Google Shape;738;p45"/>
            <p:cNvSpPr/>
            <p:nvPr/>
          </p:nvSpPr>
          <p:spPr>
            <a:xfrm>
              <a:off x="4486" y="1222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739" name="Google Shape;739;p45"/>
            <p:cNvSpPr/>
            <p:nvPr/>
          </p:nvSpPr>
          <p:spPr>
            <a:xfrm>
              <a:off x="3125" y="1680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40" name="Google Shape;740;p45"/>
            <p:cNvSpPr/>
            <p:nvPr/>
          </p:nvSpPr>
          <p:spPr>
            <a:xfrm>
              <a:off x="4032" y="1680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741" name="Google Shape;741;p45"/>
            <p:cNvSpPr/>
            <p:nvPr/>
          </p:nvSpPr>
          <p:spPr>
            <a:xfrm>
              <a:off x="3579" y="2134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cxnSp>
          <p:nvCxnSpPr>
            <p:cNvPr id="742" name="Google Shape;742;p45"/>
            <p:cNvCxnSpPr/>
            <p:nvPr/>
          </p:nvCxnSpPr>
          <p:spPr>
            <a:xfrm flipH="1">
              <a:off x="3322" y="1438"/>
              <a:ext cx="272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45"/>
            <p:cNvCxnSpPr/>
            <p:nvPr/>
          </p:nvCxnSpPr>
          <p:spPr>
            <a:xfrm flipH="1">
              <a:off x="3781" y="1891"/>
              <a:ext cx="272" cy="2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45"/>
            <p:cNvCxnSpPr/>
            <p:nvPr/>
          </p:nvCxnSpPr>
          <p:spPr>
            <a:xfrm flipH="1">
              <a:off x="3784" y="973"/>
              <a:ext cx="272" cy="2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5" name="Google Shape;745;p45"/>
            <p:cNvCxnSpPr/>
            <p:nvPr/>
          </p:nvCxnSpPr>
          <p:spPr>
            <a:xfrm>
              <a:off x="3789" y="1421"/>
              <a:ext cx="273" cy="2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6" name="Google Shape;746;p45"/>
            <p:cNvCxnSpPr/>
            <p:nvPr/>
          </p:nvCxnSpPr>
          <p:spPr>
            <a:xfrm>
              <a:off x="4238" y="965"/>
              <a:ext cx="273" cy="2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7" name="Google Shape;747;p45"/>
            <p:cNvSpPr/>
            <p:nvPr/>
          </p:nvSpPr>
          <p:spPr>
            <a:xfrm>
              <a:off x="4486" y="2134"/>
              <a:ext cx="227" cy="227"/>
            </a:xfrm>
            <a:prstGeom prst="ellipse">
              <a:avLst/>
            </a:prstGeom>
            <a:solidFill>
              <a:srgbClr val="EAEAE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cxnSp>
          <p:nvCxnSpPr>
            <p:cNvPr id="748" name="Google Shape;748;p45"/>
            <p:cNvCxnSpPr/>
            <p:nvPr/>
          </p:nvCxnSpPr>
          <p:spPr>
            <a:xfrm>
              <a:off x="4237" y="1882"/>
              <a:ext cx="273" cy="2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9" name="Google Shape;749;p45"/>
          <p:cNvSpPr txBox="1"/>
          <p:nvPr/>
        </p:nvSpPr>
        <p:spPr>
          <a:xfrm>
            <a:off x="2209800" y="5410201"/>
            <a:ext cx="2459882" cy="402291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search tree</a:t>
            </a:r>
            <a:endParaRPr/>
          </a:p>
        </p:txBody>
      </p:sp>
      <p:sp>
        <p:nvSpPr>
          <p:cNvPr id="750" name="Google Shape;750;p45"/>
          <p:cNvSpPr txBox="1"/>
          <p:nvPr/>
        </p:nvSpPr>
        <p:spPr>
          <a:xfrm>
            <a:off x="5943600" y="5486401"/>
            <a:ext cx="4191000" cy="71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search tree,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a</a:t>
            </a: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tree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6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200"/>
              <a:t>Binary Search Trees – containing same data</a:t>
            </a:r>
            <a:endParaRPr/>
          </a:p>
        </p:txBody>
      </p:sp>
      <p:sp>
        <p:nvSpPr>
          <p:cNvPr id="756" name="Google Shape;756;p46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7" name="Google Shape;75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6425" y="3733801"/>
            <a:ext cx="2813050" cy="18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9326" y="1295400"/>
            <a:ext cx="5103813" cy="48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7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Operations on BSTs</a:t>
            </a:r>
            <a:endParaRPr/>
          </a:p>
        </p:txBody>
      </p:sp>
      <p:sp>
        <p:nvSpPr>
          <p:cNvPr id="764" name="Google Shape;764;p47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Most of the operations on binary trees are O(log</a:t>
            </a:r>
            <a:r>
              <a:rPr i="1" lang="en-US"/>
              <a:t>N</a:t>
            </a:r>
            <a:r>
              <a:rPr lang="en-US"/>
              <a:t>). 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This is the main motivation for using binary trees rather than using ordinary lists to store</a:t>
            </a:r>
            <a:r>
              <a:rPr lang="en-US" sz="3200"/>
              <a:t> </a:t>
            </a:r>
            <a:r>
              <a:rPr lang="en-US"/>
              <a:t>items.</a:t>
            </a:r>
            <a:r>
              <a:rPr lang="en-US" sz="3200"/>
              <a:t>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Most of the operations can be implemented using recursion. 	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we generally do not need to worry about running out of stack space, since the average depth of binary search  trees is O(log</a:t>
            </a:r>
            <a:r>
              <a:rPr i="1" lang="en-US"/>
              <a:t>N</a:t>
            </a:r>
            <a:r>
              <a:rPr lang="en-US"/>
              <a:t>).</a:t>
            </a:r>
            <a:endParaRPr/>
          </a:p>
        </p:txBody>
      </p:sp>
      <p:sp>
        <p:nvSpPr>
          <p:cNvPr id="765" name="Google Shape;765;p47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8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600"/>
              <a:t>Insert operation</a:t>
            </a:r>
            <a:endParaRPr/>
          </a:p>
        </p:txBody>
      </p:sp>
      <p:sp>
        <p:nvSpPr>
          <p:cNvPr id="771" name="Google Shape;771;p48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lang="en-US"/>
              <a:t>Algorithm for inserting X into tree T: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Proceed down the tree as you would with </a:t>
            </a:r>
            <a:br>
              <a:rPr lang="en-US"/>
            </a:br>
            <a:r>
              <a:rPr lang="en-US"/>
              <a:t>a find operation. 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/>
              <a:t>if X is found 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/>
              <a:t>       do nothing, (or “update” something)</a:t>
            </a:r>
            <a:br>
              <a:rPr lang="en-US"/>
            </a:br>
            <a:r>
              <a:rPr lang="en-US"/>
              <a:t> else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/>
              <a:t>        insert X at the last spot on the path traversed.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72" name="Google Shape;772;p48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9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600"/>
              <a:t>Deletion operation</a:t>
            </a:r>
            <a:endParaRPr/>
          </a:p>
        </p:txBody>
      </p:sp>
      <p:sp>
        <p:nvSpPr>
          <p:cNvPr id="778" name="Google Shape;778;p49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/>
              <a:t>There are three cases to consider: </a:t>
            </a:r>
            <a:endParaRPr/>
          </a:p>
          <a:p>
            <a:pPr indent="-533400" lvl="1" marL="990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eriod"/>
            </a:pPr>
            <a:r>
              <a:rPr lang="en-US"/>
              <a:t>Deleting a leaf node</a:t>
            </a:r>
            <a:endParaRPr/>
          </a:p>
          <a:p>
            <a:pPr indent="-457200" lvl="2" marL="1371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Char char="•"/>
            </a:pPr>
            <a:r>
              <a:rPr lang="en-US"/>
              <a:t>Replace the link to the deleted node by NULL.</a:t>
            </a:r>
            <a:endParaRPr/>
          </a:p>
          <a:p>
            <a:pPr indent="-533400" lvl="1" marL="990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eriod"/>
            </a:pPr>
            <a:r>
              <a:rPr lang="en-US"/>
              <a:t>Deleting a node with one child:</a:t>
            </a:r>
            <a:endParaRPr/>
          </a:p>
          <a:p>
            <a:pPr indent="-457200" lvl="2" marL="1371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Char char="•"/>
            </a:pPr>
            <a:r>
              <a:rPr lang="en-US"/>
              <a:t>The node can be deleted after its parent adjusts a link to bypass the node. </a:t>
            </a:r>
            <a:endParaRPr/>
          </a:p>
          <a:p>
            <a:pPr indent="-533400" lvl="1" marL="990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eriod"/>
            </a:pPr>
            <a:r>
              <a:rPr lang="en-US"/>
              <a:t>Deleting a node with two children: </a:t>
            </a:r>
            <a:endParaRPr/>
          </a:p>
          <a:p>
            <a:pPr indent="-457200" lvl="2" marL="1371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Char char="•"/>
            </a:pPr>
            <a:r>
              <a:rPr lang="en-US"/>
              <a:t>The deleted value must be replaced by an existing value that is either one of the following:</a:t>
            </a:r>
            <a:endParaRPr/>
          </a:p>
          <a:p>
            <a:pPr indent="-381000" lvl="3" marL="1752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largest value in the deleted node’s left subtree</a:t>
            </a:r>
            <a:endParaRPr/>
          </a:p>
          <a:p>
            <a:pPr indent="-381000" lvl="3" marL="1752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smallest value in the deleted node’s right subtree.</a:t>
            </a:r>
            <a:endParaRPr/>
          </a:p>
          <a:p>
            <a:pPr indent="-609600" lvl="0" marL="609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79" name="Google Shape;779;p49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0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Deletion – Case1: A Leaf Node</a:t>
            </a:r>
            <a:endParaRPr/>
          </a:p>
        </p:txBody>
      </p:sp>
      <p:sp>
        <p:nvSpPr>
          <p:cNvPr id="785" name="Google Shape;785;p50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86" name="Google Shape;786;p50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50"/>
          <p:cNvSpPr txBox="1"/>
          <p:nvPr/>
        </p:nvSpPr>
        <p:spPr>
          <a:xfrm>
            <a:off x="2157414" y="1219200"/>
            <a:ext cx="83567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remove the leaf containing the item, we have to set the pointer in its parent to NULL.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8" name="Google Shape;788;p50"/>
          <p:cNvSpPr txBox="1"/>
          <p:nvPr/>
        </p:nvSpPr>
        <p:spPr>
          <a:xfrm>
            <a:off x="4724400" y="2057401"/>
            <a:ext cx="25796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70 (A leaf node)</a:t>
            </a:r>
            <a:endParaRPr/>
          </a:p>
        </p:txBody>
      </p:sp>
      <p:sp>
        <p:nvSpPr>
          <p:cNvPr id="789" name="Google Shape;789;p50"/>
          <p:cNvSpPr txBox="1"/>
          <p:nvPr/>
        </p:nvSpPr>
        <p:spPr>
          <a:xfrm>
            <a:off x="5167313" y="2860676"/>
            <a:ext cx="5132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🡺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0" name="Google Shape;790;p50"/>
          <p:cNvCxnSpPr/>
          <p:nvPr/>
        </p:nvCxnSpPr>
        <p:spPr>
          <a:xfrm flipH="1">
            <a:off x="3181351" y="2687638"/>
            <a:ext cx="487363" cy="4810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50"/>
          <p:cNvCxnSpPr/>
          <p:nvPr/>
        </p:nvCxnSpPr>
        <p:spPr>
          <a:xfrm>
            <a:off x="3749675" y="2687638"/>
            <a:ext cx="406400" cy="4810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50"/>
          <p:cNvCxnSpPr/>
          <p:nvPr/>
        </p:nvCxnSpPr>
        <p:spPr>
          <a:xfrm>
            <a:off x="4318000" y="3408364"/>
            <a:ext cx="330200" cy="4778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3" name="Google Shape;793;p50"/>
          <p:cNvSpPr txBox="1"/>
          <p:nvPr/>
        </p:nvSpPr>
        <p:spPr>
          <a:xfrm>
            <a:off x="3506788" y="228600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/>
          </a:p>
        </p:txBody>
      </p:sp>
      <p:sp>
        <p:nvSpPr>
          <p:cNvPr id="794" name="Google Shape;794;p50"/>
          <p:cNvSpPr txBox="1"/>
          <p:nvPr/>
        </p:nvSpPr>
        <p:spPr>
          <a:xfrm>
            <a:off x="3994150" y="3087689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/>
          </a:p>
        </p:txBody>
      </p:sp>
      <p:sp>
        <p:nvSpPr>
          <p:cNvPr id="795" name="Google Shape;795;p50"/>
          <p:cNvSpPr txBox="1"/>
          <p:nvPr/>
        </p:nvSpPr>
        <p:spPr>
          <a:xfrm>
            <a:off x="4562475" y="381000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endParaRPr/>
          </a:p>
        </p:txBody>
      </p:sp>
      <p:sp>
        <p:nvSpPr>
          <p:cNvPr id="796" name="Google Shape;796;p50"/>
          <p:cNvSpPr txBox="1"/>
          <p:nvPr/>
        </p:nvSpPr>
        <p:spPr>
          <a:xfrm>
            <a:off x="2936876" y="3087689"/>
            <a:ext cx="4683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/>
          </a:p>
        </p:txBody>
      </p:sp>
      <p:cxnSp>
        <p:nvCxnSpPr>
          <p:cNvPr id="797" name="Google Shape;797;p50"/>
          <p:cNvCxnSpPr/>
          <p:nvPr/>
        </p:nvCxnSpPr>
        <p:spPr>
          <a:xfrm>
            <a:off x="3181350" y="3408364"/>
            <a:ext cx="406400" cy="561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50"/>
          <p:cNvCxnSpPr/>
          <p:nvPr/>
        </p:nvCxnSpPr>
        <p:spPr>
          <a:xfrm flipH="1">
            <a:off x="2693988" y="3408364"/>
            <a:ext cx="406400" cy="561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9" name="Google Shape;799;p50"/>
          <p:cNvSpPr txBox="1"/>
          <p:nvPr/>
        </p:nvSpPr>
        <p:spPr>
          <a:xfrm>
            <a:off x="3424238" y="3889375"/>
            <a:ext cx="4683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endParaRPr/>
          </a:p>
        </p:txBody>
      </p:sp>
      <p:sp>
        <p:nvSpPr>
          <p:cNvPr id="800" name="Google Shape;800;p50"/>
          <p:cNvSpPr txBox="1"/>
          <p:nvPr/>
        </p:nvSpPr>
        <p:spPr>
          <a:xfrm>
            <a:off x="2368550" y="3889376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/>
          </a:p>
        </p:txBody>
      </p:sp>
      <p:cxnSp>
        <p:nvCxnSpPr>
          <p:cNvPr id="801" name="Google Shape;801;p50"/>
          <p:cNvCxnSpPr/>
          <p:nvPr/>
        </p:nvCxnSpPr>
        <p:spPr>
          <a:xfrm flipH="1">
            <a:off x="3276600" y="4267200"/>
            <a:ext cx="330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2" name="Google Shape;802;p50"/>
          <p:cNvSpPr txBox="1"/>
          <p:nvPr/>
        </p:nvSpPr>
        <p:spPr>
          <a:xfrm>
            <a:off x="2819400" y="472440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/>
          </a:p>
        </p:txBody>
      </p:sp>
      <p:grpSp>
        <p:nvGrpSpPr>
          <p:cNvPr id="803" name="Google Shape;803;p50"/>
          <p:cNvGrpSpPr/>
          <p:nvPr/>
        </p:nvGrpSpPr>
        <p:grpSpPr>
          <a:xfrm>
            <a:off x="6553201" y="2362200"/>
            <a:ext cx="2600325" cy="1930400"/>
            <a:chOff x="3456" y="1488"/>
            <a:chExt cx="1154" cy="1209"/>
          </a:xfrm>
        </p:grpSpPr>
        <p:cxnSp>
          <p:nvCxnSpPr>
            <p:cNvPr id="804" name="Google Shape;804;p50"/>
            <p:cNvCxnSpPr/>
            <p:nvPr/>
          </p:nvCxnSpPr>
          <p:spPr>
            <a:xfrm flipH="1">
              <a:off x="3936" y="1728"/>
              <a:ext cx="28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50"/>
            <p:cNvCxnSpPr/>
            <p:nvPr/>
          </p:nvCxnSpPr>
          <p:spPr>
            <a:xfrm>
              <a:off x="4272" y="1728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6" name="Google Shape;806;p50"/>
            <p:cNvSpPr txBox="1"/>
            <p:nvPr/>
          </p:nvSpPr>
          <p:spPr>
            <a:xfrm>
              <a:off x="4128" y="1488"/>
              <a:ext cx="195" cy="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endParaRPr/>
            </a:p>
          </p:txBody>
        </p:sp>
        <p:sp>
          <p:nvSpPr>
            <p:cNvPr id="807" name="Google Shape;807;p50"/>
            <p:cNvSpPr txBox="1"/>
            <p:nvPr/>
          </p:nvSpPr>
          <p:spPr>
            <a:xfrm>
              <a:off x="4416" y="1968"/>
              <a:ext cx="194" cy="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60</a:t>
              </a:r>
              <a:endParaRPr/>
            </a:p>
          </p:txBody>
        </p:sp>
        <p:sp>
          <p:nvSpPr>
            <p:cNvPr id="808" name="Google Shape;808;p50"/>
            <p:cNvSpPr txBox="1"/>
            <p:nvPr/>
          </p:nvSpPr>
          <p:spPr>
            <a:xfrm>
              <a:off x="3792" y="1968"/>
              <a:ext cx="27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40</a:t>
              </a:r>
              <a:endParaRPr/>
            </a:p>
          </p:txBody>
        </p:sp>
        <p:cxnSp>
          <p:nvCxnSpPr>
            <p:cNvPr id="809" name="Google Shape;809;p50"/>
            <p:cNvCxnSpPr/>
            <p:nvPr/>
          </p:nvCxnSpPr>
          <p:spPr>
            <a:xfrm>
              <a:off x="3936" y="2160"/>
              <a:ext cx="24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p50"/>
            <p:cNvCxnSpPr/>
            <p:nvPr/>
          </p:nvCxnSpPr>
          <p:spPr>
            <a:xfrm flipH="1">
              <a:off x="3648" y="2160"/>
              <a:ext cx="24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1" name="Google Shape;811;p50"/>
            <p:cNvSpPr txBox="1"/>
            <p:nvPr/>
          </p:nvSpPr>
          <p:spPr>
            <a:xfrm>
              <a:off x="4080" y="2448"/>
              <a:ext cx="194" cy="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45</a:t>
              </a:r>
              <a:endParaRPr/>
            </a:p>
          </p:txBody>
        </p:sp>
        <p:sp>
          <p:nvSpPr>
            <p:cNvPr id="812" name="Google Shape;812;p50"/>
            <p:cNvSpPr txBox="1"/>
            <p:nvPr/>
          </p:nvSpPr>
          <p:spPr>
            <a:xfrm>
              <a:off x="3456" y="2448"/>
              <a:ext cx="194" cy="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30</a:t>
              </a:r>
              <a:endParaRPr/>
            </a:p>
          </p:txBody>
        </p:sp>
      </p:grpSp>
      <p:cxnSp>
        <p:nvCxnSpPr>
          <p:cNvPr id="813" name="Google Shape;813;p50"/>
          <p:cNvCxnSpPr/>
          <p:nvPr/>
        </p:nvCxnSpPr>
        <p:spPr>
          <a:xfrm flipH="1">
            <a:off x="7772401" y="4276726"/>
            <a:ext cx="403225" cy="5238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4" name="Google Shape;814;p50"/>
          <p:cNvSpPr txBox="1"/>
          <p:nvPr/>
        </p:nvSpPr>
        <p:spPr>
          <a:xfrm>
            <a:off x="7315200" y="4800600"/>
            <a:ext cx="585788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1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Deletion – Case2: A Node with only a left child</a:t>
            </a:r>
            <a:endParaRPr/>
          </a:p>
        </p:txBody>
      </p:sp>
      <p:sp>
        <p:nvSpPr>
          <p:cNvPr id="820" name="Google Shape;820;p51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21" name="Google Shape;821;p51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22" name="Google Shape;822;p51"/>
          <p:cNvCxnSpPr/>
          <p:nvPr/>
        </p:nvCxnSpPr>
        <p:spPr>
          <a:xfrm flipH="1">
            <a:off x="3275013" y="2100263"/>
            <a:ext cx="500062" cy="506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51"/>
          <p:cNvCxnSpPr/>
          <p:nvPr/>
        </p:nvCxnSpPr>
        <p:spPr>
          <a:xfrm>
            <a:off x="3859213" y="2100263"/>
            <a:ext cx="417512" cy="506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51"/>
          <p:cNvCxnSpPr/>
          <p:nvPr/>
        </p:nvCxnSpPr>
        <p:spPr>
          <a:xfrm>
            <a:off x="4445001" y="2860676"/>
            <a:ext cx="417513" cy="4238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51"/>
          <p:cNvSpPr txBox="1"/>
          <p:nvPr/>
        </p:nvSpPr>
        <p:spPr>
          <a:xfrm>
            <a:off x="3608388" y="1676400"/>
            <a:ext cx="4411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/>
          </a:p>
        </p:txBody>
      </p:sp>
      <p:sp>
        <p:nvSpPr>
          <p:cNvPr id="826" name="Google Shape;826;p51"/>
          <p:cNvSpPr txBox="1"/>
          <p:nvPr/>
        </p:nvSpPr>
        <p:spPr>
          <a:xfrm>
            <a:off x="4110039" y="2522539"/>
            <a:ext cx="4397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/>
          </a:p>
        </p:txBody>
      </p:sp>
      <p:sp>
        <p:nvSpPr>
          <p:cNvPr id="827" name="Google Shape;827;p51"/>
          <p:cNvSpPr txBox="1"/>
          <p:nvPr/>
        </p:nvSpPr>
        <p:spPr>
          <a:xfrm>
            <a:off x="4695825" y="3284538"/>
            <a:ext cx="4411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endParaRPr/>
          </a:p>
        </p:txBody>
      </p:sp>
      <p:sp>
        <p:nvSpPr>
          <p:cNvPr id="828" name="Google Shape;828;p51"/>
          <p:cNvSpPr txBox="1"/>
          <p:nvPr/>
        </p:nvSpPr>
        <p:spPr>
          <a:xfrm>
            <a:off x="3024189" y="2522539"/>
            <a:ext cx="479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/>
          </a:p>
        </p:txBody>
      </p:sp>
      <p:cxnSp>
        <p:nvCxnSpPr>
          <p:cNvPr id="829" name="Google Shape;829;p51"/>
          <p:cNvCxnSpPr/>
          <p:nvPr/>
        </p:nvCxnSpPr>
        <p:spPr>
          <a:xfrm>
            <a:off x="3275013" y="2860676"/>
            <a:ext cx="417512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51"/>
          <p:cNvCxnSpPr/>
          <p:nvPr/>
        </p:nvCxnSpPr>
        <p:spPr>
          <a:xfrm flipH="1">
            <a:off x="2773363" y="2860676"/>
            <a:ext cx="417512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" name="Google Shape;831;p51"/>
          <p:cNvSpPr txBox="1"/>
          <p:nvPr/>
        </p:nvSpPr>
        <p:spPr>
          <a:xfrm>
            <a:off x="3525839" y="3368676"/>
            <a:ext cx="479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endParaRPr/>
          </a:p>
        </p:txBody>
      </p:sp>
      <p:sp>
        <p:nvSpPr>
          <p:cNvPr id="832" name="Google Shape;832;p51"/>
          <p:cNvSpPr txBox="1"/>
          <p:nvPr/>
        </p:nvSpPr>
        <p:spPr>
          <a:xfrm>
            <a:off x="2438400" y="3368676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/>
          </a:p>
        </p:txBody>
      </p:sp>
      <p:cxnSp>
        <p:nvCxnSpPr>
          <p:cNvPr id="833" name="Google Shape;833;p51"/>
          <p:cNvCxnSpPr/>
          <p:nvPr/>
        </p:nvCxnSpPr>
        <p:spPr>
          <a:xfrm flipH="1">
            <a:off x="3276601" y="3792538"/>
            <a:ext cx="415925" cy="703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4" name="Google Shape;834;p51"/>
          <p:cNvSpPr txBox="1"/>
          <p:nvPr/>
        </p:nvSpPr>
        <p:spPr>
          <a:xfrm>
            <a:off x="3048000" y="4495800"/>
            <a:ext cx="4411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/>
          </a:p>
        </p:txBody>
      </p:sp>
      <p:sp>
        <p:nvSpPr>
          <p:cNvPr id="835" name="Google Shape;835;p51"/>
          <p:cNvSpPr txBox="1"/>
          <p:nvPr/>
        </p:nvSpPr>
        <p:spPr>
          <a:xfrm>
            <a:off x="4038600" y="1219201"/>
            <a:ext cx="4375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45 (A  node with only a left child)</a:t>
            </a:r>
            <a:endParaRPr/>
          </a:p>
        </p:txBody>
      </p:sp>
      <p:grpSp>
        <p:nvGrpSpPr>
          <p:cNvPr id="836" name="Google Shape;836;p51"/>
          <p:cNvGrpSpPr/>
          <p:nvPr/>
        </p:nvGrpSpPr>
        <p:grpSpPr>
          <a:xfrm>
            <a:off x="6705602" y="1676401"/>
            <a:ext cx="2794457" cy="2455381"/>
            <a:chOff x="3408" y="1344"/>
            <a:chExt cx="1539" cy="1147"/>
          </a:xfrm>
        </p:grpSpPr>
        <p:cxnSp>
          <p:nvCxnSpPr>
            <p:cNvPr id="837" name="Google Shape;837;p51"/>
            <p:cNvCxnSpPr/>
            <p:nvPr/>
          </p:nvCxnSpPr>
          <p:spPr>
            <a:xfrm flipH="1">
              <a:off x="3888" y="1584"/>
              <a:ext cx="28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51"/>
            <p:cNvCxnSpPr/>
            <p:nvPr/>
          </p:nvCxnSpPr>
          <p:spPr>
            <a:xfrm>
              <a:off x="4224" y="1584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51"/>
            <p:cNvCxnSpPr/>
            <p:nvPr/>
          </p:nvCxnSpPr>
          <p:spPr>
            <a:xfrm>
              <a:off x="4560" y="2016"/>
              <a:ext cx="24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0" name="Google Shape;840;p51"/>
            <p:cNvSpPr txBox="1"/>
            <p:nvPr/>
          </p:nvSpPr>
          <p:spPr>
            <a:xfrm>
              <a:off x="4080" y="1344"/>
              <a:ext cx="243" cy="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endParaRPr/>
            </a:p>
          </p:txBody>
        </p:sp>
        <p:sp>
          <p:nvSpPr>
            <p:cNvPr id="841" name="Google Shape;841;p51"/>
            <p:cNvSpPr txBox="1"/>
            <p:nvPr/>
          </p:nvSpPr>
          <p:spPr>
            <a:xfrm>
              <a:off x="4368" y="1824"/>
              <a:ext cx="243" cy="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60</a:t>
              </a:r>
              <a:endParaRPr/>
            </a:p>
          </p:txBody>
        </p:sp>
        <p:sp>
          <p:nvSpPr>
            <p:cNvPr id="842" name="Google Shape;842;p51"/>
            <p:cNvSpPr txBox="1"/>
            <p:nvPr/>
          </p:nvSpPr>
          <p:spPr>
            <a:xfrm>
              <a:off x="4704" y="2256"/>
              <a:ext cx="243" cy="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70</a:t>
              </a:r>
              <a:endParaRPr/>
            </a:p>
          </p:txBody>
        </p:sp>
        <p:sp>
          <p:nvSpPr>
            <p:cNvPr id="843" name="Google Shape;843;p51"/>
            <p:cNvSpPr txBox="1"/>
            <p:nvPr/>
          </p:nvSpPr>
          <p:spPr>
            <a:xfrm>
              <a:off x="3744" y="1824"/>
              <a:ext cx="276" cy="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40</a:t>
              </a:r>
              <a:endParaRPr/>
            </a:p>
          </p:txBody>
        </p:sp>
        <p:cxnSp>
          <p:nvCxnSpPr>
            <p:cNvPr id="844" name="Google Shape;844;p51"/>
            <p:cNvCxnSpPr/>
            <p:nvPr/>
          </p:nvCxnSpPr>
          <p:spPr>
            <a:xfrm>
              <a:off x="3888" y="2016"/>
              <a:ext cx="24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51"/>
            <p:cNvCxnSpPr/>
            <p:nvPr/>
          </p:nvCxnSpPr>
          <p:spPr>
            <a:xfrm flipH="1">
              <a:off x="3600" y="2016"/>
              <a:ext cx="24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6" name="Google Shape;846;p51"/>
            <p:cNvSpPr txBox="1"/>
            <p:nvPr/>
          </p:nvSpPr>
          <p:spPr>
            <a:xfrm>
              <a:off x="4032" y="2304"/>
              <a:ext cx="243" cy="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42</a:t>
              </a:r>
              <a:endParaRPr/>
            </a:p>
          </p:txBody>
        </p:sp>
        <p:sp>
          <p:nvSpPr>
            <p:cNvPr id="847" name="Google Shape;847;p51"/>
            <p:cNvSpPr txBox="1"/>
            <p:nvPr/>
          </p:nvSpPr>
          <p:spPr>
            <a:xfrm>
              <a:off x="3408" y="2304"/>
              <a:ext cx="243" cy="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30</a:t>
              </a:r>
              <a:endParaRPr/>
            </a:p>
          </p:txBody>
        </p:sp>
      </p:grpSp>
      <p:sp>
        <p:nvSpPr>
          <p:cNvPr id="848" name="Google Shape;848;p51"/>
          <p:cNvSpPr txBox="1"/>
          <p:nvPr/>
        </p:nvSpPr>
        <p:spPr>
          <a:xfrm>
            <a:off x="5715000" y="2819400"/>
            <a:ext cx="5095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🡺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2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Deletion – Case2: A Node with only a right child</a:t>
            </a:r>
            <a:endParaRPr/>
          </a:p>
        </p:txBody>
      </p:sp>
      <p:sp>
        <p:nvSpPr>
          <p:cNvPr id="854" name="Google Shape;854;p52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55" name="Google Shape;855;p52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56" name="Google Shape;856;p52"/>
          <p:cNvCxnSpPr/>
          <p:nvPr/>
        </p:nvCxnSpPr>
        <p:spPr>
          <a:xfrm flipH="1">
            <a:off x="3286125" y="2252663"/>
            <a:ext cx="509588" cy="506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52"/>
          <p:cNvCxnSpPr/>
          <p:nvPr/>
        </p:nvCxnSpPr>
        <p:spPr>
          <a:xfrm>
            <a:off x="3881438" y="2252663"/>
            <a:ext cx="423862" cy="506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52"/>
          <p:cNvCxnSpPr/>
          <p:nvPr/>
        </p:nvCxnSpPr>
        <p:spPr>
          <a:xfrm>
            <a:off x="4475163" y="3013076"/>
            <a:ext cx="423862" cy="4238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9" name="Google Shape;859;p52"/>
          <p:cNvSpPr txBox="1"/>
          <p:nvPr/>
        </p:nvSpPr>
        <p:spPr>
          <a:xfrm>
            <a:off x="3625850" y="182880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/>
          </a:p>
        </p:txBody>
      </p:sp>
      <p:sp>
        <p:nvSpPr>
          <p:cNvPr id="860" name="Google Shape;860;p52"/>
          <p:cNvSpPr txBox="1"/>
          <p:nvPr/>
        </p:nvSpPr>
        <p:spPr>
          <a:xfrm>
            <a:off x="4135438" y="2674939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/>
          </a:p>
        </p:txBody>
      </p:sp>
      <p:sp>
        <p:nvSpPr>
          <p:cNvPr id="861" name="Google Shape;861;p52"/>
          <p:cNvSpPr txBox="1"/>
          <p:nvPr/>
        </p:nvSpPr>
        <p:spPr>
          <a:xfrm>
            <a:off x="4729164" y="3436939"/>
            <a:ext cx="5286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endParaRPr/>
          </a:p>
        </p:txBody>
      </p:sp>
      <p:sp>
        <p:nvSpPr>
          <p:cNvPr id="862" name="Google Shape;862;p52"/>
          <p:cNvSpPr txBox="1"/>
          <p:nvPr/>
        </p:nvSpPr>
        <p:spPr>
          <a:xfrm>
            <a:off x="3032126" y="2674939"/>
            <a:ext cx="4873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/>
          </a:p>
        </p:txBody>
      </p:sp>
      <p:cxnSp>
        <p:nvCxnSpPr>
          <p:cNvPr id="863" name="Google Shape;863;p52"/>
          <p:cNvCxnSpPr/>
          <p:nvPr/>
        </p:nvCxnSpPr>
        <p:spPr>
          <a:xfrm>
            <a:off x="3286125" y="3013076"/>
            <a:ext cx="425450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52"/>
          <p:cNvCxnSpPr/>
          <p:nvPr/>
        </p:nvCxnSpPr>
        <p:spPr>
          <a:xfrm flipH="1">
            <a:off x="2778126" y="3013076"/>
            <a:ext cx="423863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5" name="Google Shape;865;p52"/>
          <p:cNvSpPr txBox="1"/>
          <p:nvPr/>
        </p:nvSpPr>
        <p:spPr>
          <a:xfrm>
            <a:off x="3541713" y="3521076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endParaRPr/>
          </a:p>
        </p:txBody>
      </p:sp>
      <p:sp>
        <p:nvSpPr>
          <p:cNvPr id="866" name="Google Shape;866;p52"/>
          <p:cNvSpPr txBox="1"/>
          <p:nvPr/>
        </p:nvSpPr>
        <p:spPr>
          <a:xfrm>
            <a:off x="2438400" y="3521076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/>
          </a:p>
        </p:txBody>
      </p:sp>
      <p:cxnSp>
        <p:nvCxnSpPr>
          <p:cNvPr id="867" name="Google Shape;867;p52"/>
          <p:cNvCxnSpPr/>
          <p:nvPr/>
        </p:nvCxnSpPr>
        <p:spPr>
          <a:xfrm flipH="1">
            <a:off x="3352800" y="3962400"/>
            <a:ext cx="34925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8" name="Google Shape;868;p52"/>
          <p:cNvSpPr txBox="1"/>
          <p:nvPr/>
        </p:nvSpPr>
        <p:spPr>
          <a:xfrm>
            <a:off x="3048000" y="449580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/>
          </a:p>
        </p:txBody>
      </p:sp>
      <p:sp>
        <p:nvSpPr>
          <p:cNvPr id="869" name="Google Shape;869;p52"/>
          <p:cNvSpPr txBox="1"/>
          <p:nvPr/>
        </p:nvSpPr>
        <p:spPr>
          <a:xfrm>
            <a:off x="4114800" y="1295401"/>
            <a:ext cx="4516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60 (A  node with only a right child)</a:t>
            </a:r>
            <a:endParaRPr/>
          </a:p>
        </p:txBody>
      </p:sp>
      <p:sp>
        <p:nvSpPr>
          <p:cNvPr id="870" name="Google Shape;870;p52"/>
          <p:cNvSpPr txBox="1"/>
          <p:nvPr/>
        </p:nvSpPr>
        <p:spPr>
          <a:xfrm>
            <a:off x="6019800" y="2514600"/>
            <a:ext cx="5095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🡺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71" name="Google Shape;871;p52"/>
          <p:cNvCxnSpPr/>
          <p:nvPr/>
        </p:nvCxnSpPr>
        <p:spPr>
          <a:xfrm flipH="1">
            <a:off x="7864476" y="2100263"/>
            <a:ext cx="557213" cy="506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52"/>
          <p:cNvCxnSpPr/>
          <p:nvPr/>
        </p:nvCxnSpPr>
        <p:spPr>
          <a:xfrm>
            <a:off x="8515350" y="2100263"/>
            <a:ext cx="463550" cy="5064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52"/>
          <p:cNvSpPr txBox="1"/>
          <p:nvPr/>
        </p:nvSpPr>
        <p:spPr>
          <a:xfrm>
            <a:off x="8235950" y="167640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/>
          </a:p>
        </p:txBody>
      </p:sp>
      <p:sp>
        <p:nvSpPr>
          <p:cNvPr id="874" name="Google Shape;874;p52"/>
          <p:cNvSpPr txBox="1"/>
          <p:nvPr/>
        </p:nvSpPr>
        <p:spPr>
          <a:xfrm>
            <a:off x="8793163" y="2522539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endParaRPr/>
          </a:p>
        </p:txBody>
      </p:sp>
      <p:sp>
        <p:nvSpPr>
          <p:cNvPr id="875" name="Google Shape;875;p52"/>
          <p:cNvSpPr txBox="1"/>
          <p:nvPr/>
        </p:nvSpPr>
        <p:spPr>
          <a:xfrm>
            <a:off x="7585075" y="2522539"/>
            <a:ext cx="534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/>
          </a:p>
        </p:txBody>
      </p:sp>
      <p:cxnSp>
        <p:nvCxnSpPr>
          <p:cNvPr id="876" name="Google Shape;876;p52"/>
          <p:cNvCxnSpPr/>
          <p:nvPr/>
        </p:nvCxnSpPr>
        <p:spPr>
          <a:xfrm>
            <a:off x="7864475" y="2860676"/>
            <a:ext cx="463550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52"/>
          <p:cNvCxnSpPr/>
          <p:nvPr/>
        </p:nvCxnSpPr>
        <p:spPr>
          <a:xfrm flipH="1">
            <a:off x="7305675" y="2860676"/>
            <a:ext cx="465138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8" name="Google Shape;878;p52"/>
          <p:cNvSpPr txBox="1"/>
          <p:nvPr/>
        </p:nvSpPr>
        <p:spPr>
          <a:xfrm>
            <a:off x="8142288" y="3368676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endParaRPr/>
          </a:p>
        </p:txBody>
      </p:sp>
      <p:sp>
        <p:nvSpPr>
          <p:cNvPr id="879" name="Google Shape;879;p52"/>
          <p:cNvSpPr txBox="1"/>
          <p:nvPr/>
        </p:nvSpPr>
        <p:spPr>
          <a:xfrm>
            <a:off x="6934200" y="3368676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/>
          </a:p>
        </p:txBody>
      </p:sp>
      <p:cxnSp>
        <p:nvCxnSpPr>
          <p:cNvPr id="880" name="Google Shape;880;p52"/>
          <p:cNvCxnSpPr/>
          <p:nvPr/>
        </p:nvCxnSpPr>
        <p:spPr>
          <a:xfrm flipH="1">
            <a:off x="8001001" y="3792538"/>
            <a:ext cx="327025" cy="550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52"/>
          <p:cNvSpPr txBox="1"/>
          <p:nvPr/>
        </p:nvSpPr>
        <p:spPr>
          <a:xfrm>
            <a:off x="7696200" y="426720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3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Deletion – Case3: A Node with two children</a:t>
            </a:r>
            <a:endParaRPr/>
          </a:p>
        </p:txBody>
      </p:sp>
      <p:sp>
        <p:nvSpPr>
          <p:cNvPr id="887" name="Google Shape;887;p53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88" name="Google Shape;888;p53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89" name="Google Shape;889;p53"/>
          <p:cNvGrpSpPr/>
          <p:nvPr/>
        </p:nvGrpSpPr>
        <p:grpSpPr>
          <a:xfrm>
            <a:off x="6518275" y="2895601"/>
            <a:ext cx="3105150" cy="2392363"/>
            <a:chOff x="3408" y="1824"/>
            <a:chExt cx="1509" cy="1151"/>
          </a:xfrm>
        </p:grpSpPr>
        <p:cxnSp>
          <p:nvCxnSpPr>
            <p:cNvPr id="890" name="Google Shape;890;p53"/>
            <p:cNvCxnSpPr/>
            <p:nvPr/>
          </p:nvCxnSpPr>
          <p:spPr>
            <a:xfrm flipH="1">
              <a:off x="3888" y="2064"/>
              <a:ext cx="28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p53"/>
            <p:cNvCxnSpPr/>
            <p:nvPr/>
          </p:nvCxnSpPr>
          <p:spPr>
            <a:xfrm>
              <a:off x="4224" y="2064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53"/>
            <p:cNvCxnSpPr/>
            <p:nvPr/>
          </p:nvCxnSpPr>
          <p:spPr>
            <a:xfrm>
              <a:off x="4560" y="2496"/>
              <a:ext cx="24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3" name="Google Shape;893;p53"/>
            <p:cNvSpPr txBox="1"/>
            <p:nvPr/>
          </p:nvSpPr>
          <p:spPr>
            <a:xfrm>
              <a:off x="4080" y="1824"/>
              <a:ext cx="213" cy="1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endParaRPr/>
            </a:p>
          </p:txBody>
        </p:sp>
        <p:sp>
          <p:nvSpPr>
            <p:cNvPr id="894" name="Google Shape;894;p53"/>
            <p:cNvSpPr txBox="1"/>
            <p:nvPr/>
          </p:nvSpPr>
          <p:spPr>
            <a:xfrm>
              <a:off x="4368" y="2304"/>
              <a:ext cx="21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60</a:t>
              </a:r>
              <a:endParaRPr/>
            </a:p>
          </p:txBody>
        </p:sp>
        <p:sp>
          <p:nvSpPr>
            <p:cNvPr id="895" name="Google Shape;895;p53"/>
            <p:cNvSpPr txBox="1"/>
            <p:nvPr/>
          </p:nvSpPr>
          <p:spPr>
            <a:xfrm>
              <a:off x="4704" y="2736"/>
              <a:ext cx="213" cy="1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70</a:t>
              </a:r>
              <a:endParaRPr/>
            </a:p>
          </p:txBody>
        </p:sp>
        <p:sp>
          <p:nvSpPr>
            <p:cNvPr id="896" name="Google Shape;896;p53"/>
            <p:cNvSpPr txBox="1"/>
            <p:nvPr/>
          </p:nvSpPr>
          <p:spPr>
            <a:xfrm>
              <a:off x="3744" y="2304"/>
              <a:ext cx="27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42</a:t>
              </a:r>
              <a:endParaRPr/>
            </a:p>
          </p:txBody>
        </p:sp>
        <p:cxnSp>
          <p:nvCxnSpPr>
            <p:cNvPr id="897" name="Google Shape;897;p53"/>
            <p:cNvCxnSpPr/>
            <p:nvPr/>
          </p:nvCxnSpPr>
          <p:spPr>
            <a:xfrm>
              <a:off x="3888" y="2496"/>
              <a:ext cx="24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p53"/>
            <p:cNvCxnSpPr/>
            <p:nvPr/>
          </p:nvCxnSpPr>
          <p:spPr>
            <a:xfrm flipH="1">
              <a:off x="3600" y="2496"/>
              <a:ext cx="24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9" name="Google Shape;899;p53"/>
            <p:cNvSpPr txBox="1"/>
            <p:nvPr/>
          </p:nvSpPr>
          <p:spPr>
            <a:xfrm>
              <a:off x="4032" y="2784"/>
              <a:ext cx="213" cy="1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45</a:t>
              </a:r>
              <a:endParaRPr/>
            </a:p>
          </p:txBody>
        </p:sp>
        <p:sp>
          <p:nvSpPr>
            <p:cNvPr id="900" name="Google Shape;900;p53"/>
            <p:cNvSpPr txBox="1"/>
            <p:nvPr/>
          </p:nvSpPr>
          <p:spPr>
            <a:xfrm>
              <a:off x="3408" y="2784"/>
              <a:ext cx="213" cy="1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30</a:t>
              </a:r>
              <a:endParaRPr/>
            </a:p>
          </p:txBody>
        </p:sp>
      </p:grpSp>
      <p:sp>
        <p:nvSpPr>
          <p:cNvPr id="901" name="Google Shape;901;p53"/>
          <p:cNvSpPr txBox="1"/>
          <p:nvPr/>
        </p:nvSpPr>
        <p:spPr>
          <a:xfrm>
            <a:off x="4038600" y="2286001"/>
            <a:ext cx="40528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40 (A  node with two children)</a:t>
            </a:r>
            <a:endParaRPr/>
          </a:p>
        </p:txBody>
      </p:sp>
      <p:sp>
        <p:nvSpPr>
          <p:cNvPr id="902" name="Google Shape;902;p53"/>
          <p:cNvSpPr txBox="1"/>
          <p:nvPr/>
        </p:nvSpPr>
        <p:spPr>
          <a:xfrm>
            <a:off x="2212976" y="1181100"/>
            <a:ext cx="838242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Locate the inorder successor of the node.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Copy the item in this node into the node which contains the item which will be deleted.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Delete the node of the inorder successor.</a:t>
            </a:r>
            <a:endParaRPr/>
          </a:p>
        </p:txBody>
      </p:sp>
      <p:sp>
        <p:nvSpPr>
          <p:cNvPr id="903" name="Google Shape;903;p53"/>
          <p:cNvSpPr txBox="1"/>
          <p:nvPr/>
        </p:nvSpPr>
        <p:spPr>
          <a:xfrm>
            <a:off x="5562600" y="3505200"/>
            <a:ext cx="5095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🡺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04" name="Google Shape;904;p53"/>
          <p:cNvCxnSpPr/>
          <p:nvPr/>
        </p:nvCxnSpPr>
        <p:spPr>
          <a:xfrm flipH="1">
            <a:off x="2998788" y="3222625"/>
            <a:ext cx="474662" cy="484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53"/>
          <p:cNvCxnSpPr/>
          <p:nvPr/>
        </p:nvCxnSpPr>
        <p:spPr>
          <a:xfrm>
            <a:off x="3551239" y="3222625"/>
            <a:ext cx="395287" cy="484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53"/>
          <p:cNvCxnSpPr/>
          <p:nvPr/>
        </p:nvCxnSpPr>
        <p:spPr>
          <a:xfrm>
            <a:off x="4103689" y="3948114"/>
            <a:ext cx="395287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53"/>
          <p:cNvSpPr txBox="1"/>
          <p:nvPr/>
        </p:nvSpPr>
        <p:spPr>
          <a:xfrm>
            <a:off x="3314700" y="281940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/>
          </a:p>
        </p:txBody>
      </p:sp>
      <p:sp>
        <p:nvSpPr>
          <p:cNvPr id="908" name="Google Shape;908;p53"/>
          <p:cNvSpPr txBox="1"/>
          <p:nvPr/>
        </p:nvSpPr>
        <p:spPr>
          <a:xfrm>
            <a:off x="3787775" y="362585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/>
          </a:p>
        </p:txBody>
      </p:sp>
      <p:sp>
        <p:nvSpPr>
          <p:cNvPr id="909" name="Google Shape;909;p53"/>
          <p:cNvSpPr txBox="1"/>
          <p:nvPr/>
        </p:nvSpPr>
        <p:spPr>
          <a:xfrm>
            <a:off x="4340225" y="4351339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endParaRPr/>
          </a:p>
        </p:txBody>
      </p:sp>
      <p:sp>
        <p:nvSpPr>
          <p:cNvPr id="910" name="Google Shape;910;p53"/>
          <p:cNvSpPr txBox="1"/>
          <p:nvPr/>
        </p:nvSpPr>
        <p:spPr>
          <a:xfrm>
            <a:off x="2762251" y="3625851"/>
            <a:ext cx="4540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/>
          </a:p>
        </p:txBody>
      </p:sp>
      <p:cxnSp>
        <p:nvCxnSpPr>
          <p:cNvPr id="911" name="Google Shape;911;p53"/>
          <p:cNvCxnSpPr/>
          <p:nvPr/>
        </p:nvCxnSpPr>
        <p:spPr>
          <a:xfrm>
            <a:off x="2998789" y="3948113"/>
            <a:ext cx="395287" cy="565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53"/>
          <p:cNvCxnSpPr/>
          <p:nvPr/>
        </p:nvCxnSpPr>
        <p:spPr>
          <a:xfrm flipH="1">
            <a:off x="2525713" y="3948113"/>
            <a:ext cx="393700" cy="565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53"/>
          <p:cNvSpPr txBox="1"/>
          <p:nvPr/>
        </p:nvSpPr>
        <p:spPr>
          <a:xfrm>
            <a:off x="3235325" y="4432301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endParaRPr/>
          </a:p>
        </p:txBody>
      </p:sp>
      <p:sp>
        <p:nvSpPr>
          <p:cNvPr id="914" name="Google Shape;914;p53"/>
          <p:cNvSpPr txBox="1"/>
          <p:nvPr/>
        </p:nvSpPr>
        <p:spPr>
          <a:xfrm>
            <a:off x="2209800" y="4432301"/>
            <a:ext cx="4397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/>
          </a:p>
        </p:txBody>
      </p:sp>
      <p:cxnSp>
        <p:nvCxnSpPr>
          <p:cNvPr id="915" name="Google Shape;915;p53"/>
          <p:cNvCxnSpPr/>
          <p:nvPr/>
        </p:nvCxnSpPr>
        <p:spPr>
          <a:xfrm flipH="1">
            <a:off x="3124201" y="4835526"/>
            <a:ext cx="269875" cy="4984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6" name="Google Shape;916;p53"/>
          <p:cNvSpPr txBox="1"/>
          <p:nvPr/>
        </p:nvSpPr>
        <p:spPr>
          <a:xfrm>
            <a:off x="2743200" y="5334001"/>
            <a:ext cx="4397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4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Deletion – Case3: A Node with two children</a:t>
            </a:r>
            <a:endParaRPr/>
          </a:p>
        </p:txBody>
      </p:sp>
      <p:sp>
        <p:nvSpPr>
          <p:cNvPr id="922" name="Google Shape;922;p54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23" name="Google Shape;923;p54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4" name="Google Shape;92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1" y="1524000"/>
            <a:ext cx="5064125" cy="467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a98deb7a6b_0_0"/>
          <p:cNvSpPr txBox="1"/>
          <p:nvPr>
            <p:ph type="title"/>
          </p:nvPr>
        </p:nvSpPr>
        <p:spPr>
          <a:xfrm>
            <a:off x="838200" y="554037"/>
            <a:ext cx="10515600" cy="52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g2a98deb7a6b_0_0"/>
          <p:cNvSpPr txBox="1"/>
          <p:nvPr>
            <p:ph idx="1" type="body"/>
          </p:nvPr>
        </p:nvSpPr>
        <p:spPr>
          <a:xfrm>
            <a:off x="838200" y="1270000"/>
            <a:ext cx="7315200" cy="490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g2a98deb7a6b_0_0"/>
          <p:cNvSpPr txBox="1"/>
          <p:nvPr>
            <p:ph idx="12" type="sldNum"/>
          </p:nvPr>
        </p:nvSpPr>
        <p:spPr>
          <a:xfrm>
            <a:off x="8610600" y="64071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a98deb7a6b_0_7"/>
          <p:cNvSpPr txBox="1"/>
          <p:nvPr>
            <p:ph type="title"/>
          </p:nvPr>
        </p:nvSpPr>
        <p:spPr>
          <a:xfrm>
            <a:off x="838200" y="554037"/>
            <a:ext cx="10515600" cy="52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g2a98deb7a6b_0_7"/>
          <p:cNvSpPr txBox="1"/>
          <p:nvPr>
            <p:ph idx="1" type="body"/>
          </p:nvPr>
        </p:nvSpPr>
        <p:spPr>
          <a:xfrm>
            <a:off x="838200" y="1270000"/>
            <a:ext cx="7315200" cy="490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g2a98deb7a6b_0_7"/>
          <p:cNvSpPr txBox="1"/>
          <p:nvPr>
            <p:ph idx="12" type="sldNum"/>
          </p:nvPr>
        </p:nvSpPr>
        <p:spPr>
          <a:xfrm>
            <a:off x="8610600" y="64071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5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600"/>
              <a:t>Analysis of BST Operations</a:t>
            </a:r>
            <a:endParaRPr/>
          </a:p>
        </p:txBody>
      </p:sp>
      <p:sp>
        <p:nvSpPr>
          <p:cNvPr id="946" name="Google Shape;946;p55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The cost of an operation is proportional to the depth of the last accessed node.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The cost is logarithmic for a well-balanced tree, but it could be as bad as linear for a degenerate tree.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In the best case we have logarithmic access cost, and in the worst case we have linear access cost.</a:t>
            </a:r>
            <a:endParaRPr/>
          </a:p>
        </p:txBody>
      </p:sp>
      <p:sp>
        <p:nvSpPr>
          <p:cNvPr id="947" name="Google Shape;947;p55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6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3600"/>
              <a:t>Minimum Height</a:t>
            </a:r>
            <a:endParaRPr/>
          </a:p>
        </p:txBody>
      </p:sp>
      <p:sp>
        <p:nvSpPr>
          <p:cNvPr id="953" name="Google Shape;953;p56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That is, the height of an n-node binary search tree is: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i="1" lang="en-US"/>
              <a:t>Best Case</a:t>
            </a:r>
            <a:r>
              <a:rPr lang="en-US"/>
              <a:t> –     ⎡log</a:t>
            </a:r>
            <a:r>
              <a:rPr baseline="-25000" lang="en-US"/>
              <a:t>2</a:t>
            </a:r>
            <a:r>
              <a:rPr lang="en-US"/>
              <a:t>(n+1)-1⎤  </a:t>
            </a:r>
            <a:r>
              <a:rPr lang="en-US" sz="1400"/>
              <a:t>(see slide 25)</a:t>
            </a:r>
            <a:r>
              <a:rPr lang="en-US"/>
              <a:t>	🡺  O(log</a:t>
            </a:r>
            <a:r>
              <a:rPr baseline="-25000" lang="en-US" sz="2000"/>
              <a:t>2</a:t>
            </a:r>
            <a:r>
              <a:rPr lang="en-US"/>
              <a:t>n)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i="1" lang="en-US"/>
              <a:t>Worst Case</a:t>
            </a:r>
            <a:r>
              <a:rPr lang="en-US"/>
              <a:t> –  n-1 			🡺  O(n)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i="1" lang="en-US"/>
              <a:t>Average Case</a:t>
            </a:r>
            <a:r>
              <a:rPr lang="en-US"/>
              <a:t> – close to ⎡log</a:t>
            </a:r>
            <a:r>
              <a:rPr baseline="-25000" lang="en-US"/>
              <a:t>2</a:t>
            </a:r>
            <a:r>
              <a:rPr lang="en-US"/>
              <a:t>(n+1)-1⎤ 	🡺  O(log</a:t>
            </a:r>
            <a:r>
              <a:rPr baseline="-25000" lang="en-US" sz="2000"/>
              <a:t>2</a:t>
            </a:r>
            <a:r>
              <a:rPr lang="en-US"/>
              <a:t>n)</a:t>
            </a:r>
            <a:endParaRPr/>
          </a:p>
          <a:p>
            <a:pPr indent="-762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54" name="Google Shape;954;p56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7"/>
          <p:cNvSpPr txBox="1"/>
          <p:nvPr>
            <p:ph type="title"/>
          </p:nvPr>
        </p:nvSpPr>
        <p:spPr>
          <a:xfrm>
            <a:off x="837407" y="352425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"/>
              <a:buNone/>
            </a:pPr>
            <a:r>
              <a:rPr lang="en-US" sz="4000">
                <a:latin typeface="Times"/>
                <a:ea typeface="Times"/>
                <a:cs typeface="Times"/>
                <a:sym typeface="Times"/>
              </a:rPr>
              <a:t>(a) The balanced tree has a height of log </a:t>
            </a:r>
            <a:r>
              <a:rPr i="1" lang="en-US" sz="4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US" sz="4000">
                <a:latin typeface="Times"/>
                <a:ea typeface="Times"/>
                <a:cs typeface="Times"/>
                <a:sym typeface="Times"/>
              </a:rPr>
              <a:t>; (b) the unbalanced tree has a height of </a:t>
            </a:r>
            <a:r>
              <a:rPr i="1" lang="en-US" sz="4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US" sz="4000">
                <a:latin typeface="Times"/>
                <a:ea typeface="Times"/>
                <a:cs typeface="Times"/>
                <a:sym typeface="Times"/>
              </a:rPr>
              <a:t> – 1.</a:t>
            </a:r>
            <a:endParaRPr/>
          </a:p>
        </p:txBody>
      </p:sp>
      <p:sp>
        <p:nvSpPr>
          <p:cNvPr id="961" name="Google Shape;961;p57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62" name="Google Shape;962;p57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3" name="Google Shape;96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8826" y="1754188"/>
            <a:ext cx="8132763" cy="40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58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Number of BSTs</a:t>
            </a:r>
            <a:endParaRPr/>
          </a:p>
        </p:txBody>
      </p:sp>
      <p:sp>
        <p:nvSpPr>
          <p:cNvPr id="969" name="Google Shape;969;p58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58"/>
          <p:cNvSpPr txBox="1"/>
          <p:nvPr/>
        </p:nvSpPr>
        <p:spPr>
          <a:xfrm>
            <a:off x="838200" y="1281405"/>
            <a:ext cx="7927975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we’re inserting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items into an empty binary search tree to create 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search tree with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🡺  How many different binary search trees with n nodes, and 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🡺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are their probabilities,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n! different orderings of n keys.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how many different binary search trees with n nodes?</a:t>
            </a:r>
            <a:endParaRPr/>
          </a:p>
        </p:txBody>
      </p:sp>
      <p:sp>
        <p:nvSpPr>
          <p:cNvPr id="971" name="Google Shape;971;p58"/>
          <p:cNvSpPr txBox="1"/>
          <p:nvPr/>
        </p:nvSpPr>
        <p:spPr>
          <a:xfrm>
            <a:off x="2001839" y="4052889"/>
            <a:ext cx="5178425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n=0  🡺  1 BST (empty tree)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n=1  🡺  1 BST (a binary tree with a single node)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n=2  🡺  2 BSTs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n=3  🡺  5 BSTs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9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Number of BSTs</a:t>
            </a:r>
            <a:endParaRPr/>
          </a:p>
        </p:txBody>
      </p:sp>
      <p:sp>
        <p:nvSpPr>
          <p:cNvPr id="977" name="Google Shape;977;p59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8" name="Google Shape;978;p59"/>
          <p:cNvSpPr txBox="1"/>
          <p:nvPr/>
        </p:nvSpPr>
        <p:spPr>
          <a:xfrm flipH="1">
            <a:off x="3271838" y="1874838"/>
            <a:ext cx="284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79" name="Google Shape;979;p59"/>
          <p:cNvGrpSpPr/>
          <p:nvPr/>
        </p:nvGrpSpPr>
        <p:grpSpPr>
          <a:xfrm>
            <a:off x="3563939" y="1752601"/>
            <a:ext cx="3716135" cy="1273175"/>
            <a:chOff x="766" y="2304"/>
            <a:chExt cx="2684" cy="827"/>
          </a:xfrm>
        </p:grpSpPr>
        <p:sp>
          <p:nvSpPr>
            <p:cNvPr id="980" name="Google Shape;980;p59"/>
            <p:cNvSpPr txBox="1"/>
            <p:nvPr/>
          </p:nvSpPr>
          <p:spPr>
            <a:xfrm>
              <a:off x="1054" y="2304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1" name="Google Shape;981;p59"/>
            <p:cNvSpPr txBox="1"/>
            <p:nvPr/>
          </p:nvSpPr>
          <p:spPr>
            <a:xfrm>
              <a:off x="2928" y="2304"/>
              <a:ext cx="234" cy="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82" name="Google Shape;982;p59"/>
            <p:cNvGrpSpPr/>
            <p:nvPr/>
          </p:nvGrpSpPr>
          <p:grpSpPr>
            <a:xfrm>
              <a:off x="766" y="2352"/>
              <a:ext cx="2684" cy="779"/>
              <a:chOff x="766" y="2352"/>
              <a:chExt cx="2684" cy="779"/>
            </a:xfrm>
          </p:grpSpPr>
          <p:sp>
            <p:nvSpPr>
              <p:cNvPr id="983" name="Google Shape;983;p59"/>
              <p:cNvSpPr txBox="1"/>
              <p:nvPr/>
            </p:nvSpPr>
            <p:spPr>
              <a:xfrm>
                <a:off x="910" y="2544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4" name="Google Shape;984;p59"/>
              <p:cNvSpPr txBox="1"/>
              <p:nvPr/>
            </p:nvSpPr>
            <p:spPr>
              <a:xfrm>
                <a:off x="766" y="2787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5" name="Google Shape;985;p59"/>
              <p:cNvSpPr txBox="1"/>
              <p:nvPr/>
            </p:nvSpPr>
            <p:spPr>
              <a:xfrm>
                <a:off x="1343" y="2595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6" name="Google Shape;986;p59"/>
              <p:cNvSpPr txBox="1"/>
              <p:nvPr/>
            </p:nvSpPr>
            <p:spPr>
              <a:xfrm>
                <a:off x="1486" y="2352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7" name="Google Shape;987;p59"/>
              <p:cNvSpPr txBox="1"/>
              <p:nvPr/>
            </p:nvSpPr>
            <p:spPr>
              <a:xfrm>
                <a:off x="1440" y="2833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88" name="Google Shape;988;p59"/>
              <p:cNvCxnSpPr/>
              <p:nvPr/>
            </p:nvCxnSpPr>
            <p:spPr>
              <a:xfrm flipH="1">
                <a:off x="1008" y="2448"/>
                <a:ext cx="144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" name="Google Shape;989;p59"/>
              <p:cNvCxnSpPr/>
              <p:nvPr/>
            </p:nvCxnSpPr>
            <p:spPr>
              <a:xfrm flipH="1">
                <a:off x="863" y="2691"/>
                <a:ext cx="142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" name="Google Shape;990;p59"/>
              <p:cNvCxnSpPr/>
              <p:nvPr/>
            </p:nvCxnSpPr>
            <p:spPr>
              <a:xfrm flipH="1">
                <a:off x="1440" y="2499"/>
                <a:ext cx="143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59"/>
              <p:cNvCxnSpPr/>
              <p:nvPr/>
            </p:nvCxnSpPr>
            <p:spPr>
              <a:xfrm>
                <a:off x="1440" y="2736"/>
                <a:ext cx="96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59"/>
              <p:cNvCxnSpPr/>
              <p:nvPr/>
            </p:nvCxnSpPr>
            <p:spPr>
              <a:xfrm flipH="1">
                <a:off x="1872" y="2499"/>
                <a:ext cx="141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3" name="Google Shape;993;p59"/>
              <p:cNvCxnSpPr/>
              <p:nvPr/>
            </p:nvCxnSpPr>
            <p:spPr>
              <a:xfrm>
                <a:off x="2016" y="2499"/>
                <a:ext cx="144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4" name="Google Shape;994;p59"/>
              <p:cNvCxnSpPr/>
              <p:nvPr/>
            </p:nvCxnSpPr>
            <p:spPr>
              <a:xfrm>
                <a:off x="2593" y="2499"/>
                <a:ext cx="143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" name="Google Shape;995;p59"/>
              <p:cNvCxnSpPr/>
              <p:nvPr/>
            </p:nvCxnSpPr>
            <p:spPr>
              <a:xfrm flipH="1">
                <a:off x="2593" y="2736"/>
                <a:ext cx="143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" name="Google Shape;996;p59"/>
              <p:cNvCxnSpPr/>
              <p:nvPr/>
            </p:nvCxnSpPr>
            <p:spPr>
              <a:xfrm>
                <a:off x="3024" y="2448"/>
                <a:ext cx="144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7" name="Google Shape;997;p59"/>
              <p:cNvCxnSpPr/>
              <p:nvPr/>
            </p:nvCxnSpPr>
            <p:spPr>
              <a:xfrm>
                <a:off x="3168" y="2691"/>
                <a:ext cx="144" cy="2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8" name="Google Shape;998;p59"/>
              <p:cNvSpPr txBox="1"/>
              <p:nvPr/>
            </p:nvSpPr>
            <p:spPr>
              <a:xfrm>
                <a:off x="1919" y="2352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9" name="Google Shape;999;p59"/>
              <p:cNvSpPr txBox="1"/>
              <p:nvPr/>
            </p:nvSpPr>
            <p:spPr>
              <a:xfrm>
                <a:off x="1774" y="2595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0" name="Google Shape;1000;p59"/>
              <p:cNvSpPr txBox="1"/>
              <p:nvPr/>
            </p:nvSpPr>
            <p:spPr>
              <a:xfrm>
                <a:off x="2495" y="2352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1" name="Google Shape;1001;p59"/>
              <p:cNvSpPr txBox="1"/>
              <p:nvPr/>
            </p:nvSpPr>
            <p:spPr>
              <a:xfrm>
                <a:off x="2062" y="2595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2" name="Google Shape;1002;p59"/>
              <p:cNvSpPr txBox="1"/>
              <p:nvPr/>
            </p:nvSpPr>
            <p:spPr>
              <a:xfrm>
                <a:off x="2640" y="2595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3" name="Google Shape;1003;p59"/>
              <p:cNvSpPr txBox="1"/>
              <p:nvPr/>
            </p:nvSpPr>
            <p:spPr>
              <a:xfrm>
                <a:off x="2495" y="2834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4" name="Google Shape;1004;p59"/>
              <p:cNvSpPr txBox="1"/>
              <p:nvPr/>
            </p:nvSpPr>
            <p:spPr>
              <a:xfrm>
                <a:off x="3071" y="2544"/>
                <a:ext cx="234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5" name="Google Shape;1005;p59"/>
              <p:cNvSpPr txBox="1"/>
              <p:nvPr/>
            </p:nvSpPr>
            <p:spPr>
              <a:xfrm>
                <a:off x="3215" y="2787"/>
                <a:ext cx="235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∙</a:t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006" name="Google Shape;1006;p59"/>
          <p:cNvSpPr txBox="1"/>
          <p:nvPr/>
        </p:nvSpPr>
        <p:spPr>
          <a:xfrm>
            <a:off x="2085975" y="2133601"/>
            <a:ext cx="915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n=3 🡺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7" name="Google Shape;1007;p59"/>
          <p:cNvSpPr txBox="1"/>
          <p:nvPr/>
        </p:nvSpPr>
        <p:spPr>
          <a:xfrm>
            <a:off x="1946276" y="2895601"/>
            <a:ext cx="56927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Probabilities:     1/6         1/6       2/6          1/6         1/6</a:t>
            </a:r>
            <a:endParaRPr/>
          </a:p>
        </p:txBody>
      </p:sp>
      <p:sp>
        <p:nvSpPr>
          <p:cNvPr id="1008" name="Google Shape;1008;p59"/>
          <p:cNvSpPr txBox="1"/>
          <p:nvPr/>
        </p:nvSpPr>
        <p:spPr>
          <a:xfrm>
            <a:off x="1804988" y="3352801"/>
            <a:ext cx="60007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Insertion Order:  3,2,1       3,1,2    2,1,3       1,3,2      1,2,3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2,3,1</a:t>
            </a:r>
            <a:endParaRPr/>
          </a:p>
        </p:txBody>
      </p:sp>
      <p:sp>
        <p:nvSpPr>
          <p:cNvPr id="1009" name="Google Shape;1009;p59"/>
          <p:cNvSpPr txBox="1"/>
          <p:nvPr/>
        </p:nvSpPr>
        <p:spPr>
          <a:xfrm>
            <a:off x="1946276" y="4359276"/>
            <a:ext cx="8416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general, given n elements, the number of binary search trees that can be made from those elements is given by the n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Catalan Number (denoted C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0" name="Google Shape;1010;p59"/>
          <p:cNvSpPr txBox="1"/>
          <p:nvPr/>
        </p:nvSpPr>
        <p:spPr>
          <a:xfrm>
            <a:off x="4371976" y="5200650"/>
            <a:ext cx="1846263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(2n)!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----------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(n+1)!n!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60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Order of Operations on BSTs</a:t>
            </a:r>
            <a:endParaRPr/>
          </a:p>
        </p:txBody>
      </p:sp>
      <p:sp>
        <p:nvSpPr>
          <p:cNvPr id="1016" name="Google Shape;1016;p60"/>
          <p:cNvSpPr txBox="1"/>
          <p:nvPr>
            <p:ph idx="12" type="sldNum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7" name="Google Shape;101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77957"/>
            <a:ext cx="6064250" cy="312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1"/>
          <p:cNvSpPr txBox="1"/>
          <p:nvPr>
            <p:ph type="title"/>
          </p:nvPr>
        </p:nvSpPr>
        <p:spPr>
          <a:xfrm>
            <a:off x="838200" y="554037"/>
            <a:ext cx="105156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023" name="Google Shape;1023;p61"/>
          <p:cNvSpPr txBox="1"/>
          <p:nvPr>
            <p:ph idx="1" type="body"/>
          </p:nvPr>
        </p:nvSpPr>
        <p:spPr>
          <a:xfrm>
            <a:off x="838200" y="1270000"/>
            <a:ext cx="73152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CENG707 - Data Structures and Algorithms by </a:t>
            </a:r>
            <a:r>
              <a:rPr i="0" lang="en-US">
                <a:latin typeface="Georgia"/>
                <a:ea typeface="Georgia"/>
                <a:cs typeface="Georgia"/>
                <a:sym typeface="Georgia"/>
              </a:rPr>
              <a:t>Yusuf Sahillioğlu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t/>
            </a:r>
            <a:endParaRPr b="1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2018-08-09T05:48:18Z</dcterms:created>
  <dc:creator>vikas kumar</dc:creator>
</cp:coreProperties>
</file>