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</p:sldIdLst>
  <p:sldSz cy="6858000" cx="9144000"/>
  <p:notesSz cx="6858000" cy="9144000"/>
  <p:embeddedFontLst>
    <p:embeddedFont>
      <p:font typeface="Constantia"/>
      <p:regular r:id="rId78"/>
      <p:bold r:id="rId79"/>
      <p:italic r:id="rId80"/>
      <p:boldItalic r:id="rId81"/>
    </p:embeddedFont>
    <p:embeddedFont>
      <p:font typeface="Tahoma"/>
      <p:regular r:id="rId82"/>
      <p:bold r:id="rId83"/>
    </p:embeddedFont>
    <p:embeddedFont>
      <p:font typeface="Noto Sans Symbols"/>
      <p:regular r:id="rId84"/>
      <p:bold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86" roundtripDataSignature="AMtx7mgsUbq3Wi5klvdeqVqdtjSCqNf9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6C2A0-DACD-47AC-85C7-1F37AFD40226}">
  <a:tblStyle styleId="{F6C6C2A0-DACD-47AC-85C7-1F37AFD402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84" Type="http://schemas.openxmlformats.org/officeDocument/2006/relationships/font" Target="fonts/NotoSansSymbols-regular.fntdata"/><Relationship Id="rId83" Type="http://schemas.openxmlformats.org/officeDocument/2006/relationships/font" Target="fonts/Tahoma-bold.fntdata"/><Relationship Id="rId42" Type="http://schemas.openxmlformats.org/officeDocument/2006/relationships/slide" Target="slides/slide34.xml"/><Relationship Id="rId86" Type="http://customschemas.google.com/relationships/presentationmetadata" Target="metadata"/><Relationship Id="rId41" Type="http://schemas.openxmlformats.org/officeDocument/2006/relationships/slide" Target="slides/slide33.xml"/><Relationship Id="rId85" Type="http://schemas.openxmlformats.org/officeDocument/2006/relationships/font" Target="fonts/NotoSansSymbols-bold.fntdata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80" Type="http://schemas.openxmlformats.org/officeDocument/2006/relationships/font" Target="fonts/Constantia-italic.fntdata"/><Relationship Id="rId82" Type="http://schemas.openxmlformats.org/officeDocument/2006/relationships/font" Target="fonts/Tahoma-regular.fntdata"/><Relationship Id="rId81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31" Type="http://schemas.openxmlformats.org/officeDocument/2006/relationships/slide" Target="slides/slide23.xml"/><Relationship Id="rId75" Type="http://schemas.openxmlformats.org/officeDocument/2006/relationships/slide" Target="slides/slide67.xml"/><Relationship Id="rId30" Type="http://schemas.openxmlformats.org/officeDocument/2006/relationships/slide" Target="slides/slide22.xml"/><Relationship Id="rId74" Type="http://schemas.openxmlformats.org/officeDocument/2006/relationships/slide" Target="slides/slide66.xml"/><Relationship Id="rId33" Type="http://schemas.openxmlformats.org/officeDocument/2006/relationships/slide" Target="slides/slide25.xml"/><Relationship Id="rId77" Type="http://schemas.openxmlformats.org/officeDocument/2006/relationships/slide" Target="slides/slide69.xml"/><Relationship Id="rId32" Type="http://schemas.openxmlformats.org/officeDocument/2006/relationships/slide" Target="slides/slide24.xml"/><Relationship Id="rId76" Type="http://schemas.openxmlformats.org/officeDocument/2006/relationships/slide" Target="slides/slide68.xml"/><Relationship Id="rId35" Type="http://schemas.openxmlformats.org/officeDocument/2006/relationships/slide" Target="slides/slide27.xml"/><Relationship Id="rId79" Type="http://schemas.openxmlformats.org/officeDocument/2006/relationships/font" Target="fonts/Constantia-bold.fntdata"/><Relationship Id="rId34" Type="http://schemas.openxmlformats.org/officeDocument/2006/relationships/slide" Target="slides/slide26.xml"/><Relationship Id="rId78" Type="http://schemas.openxmlformats.org/officeDocument/2006/relationships/font" Target="fonts/Constantia-regular.fntdata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slide" Target="slides/slide60.xml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slide" Target="slides/slide6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>
            <p:ph idx="2" type="sldImg"/>
          </p:nvPr>
        </p:nvSpPr>
        <p:spPr>
          <a:xfrm>
            <a:off x="1143000" y="685800"/>
            <a:ext cx="4564062" cy="3421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" name="Google Shape;11;n"/>
          <p:cNvSpPr txBox="1"/>
          <p:nvPr>
            <p:ph idx="1" type="body"/>
          </p:nvPr>
        </p:nvSpPr>
        <p:spPr>
          <a:xfrm>
            <a:off x="685800" y="4343400"/>
            <a:ext cx="5478462" cy="410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n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 txBox="1"/>
          <p:nvPr>
            <p:ph idx="12" type="sldNum"/>
          </p:nvPr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6" name="Google Shape;2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2" name="Google Shape;24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3" name="Google Shape;2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6" name="Google Shape;27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6" name="Google Shape;34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6" name="Google Shape;3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4" name="Google Shape;39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5" name="Google Shape;3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3" name="Google Shape;40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2" name="Google Shape;41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3" name="Google Shape;4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2" name="Google Shape;42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3" name="Google Shape;4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1" name="Google Shape;43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2" name="Google Shape;4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1" name="Google Shape;44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9" name="Google Shape;44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0" name="Google Shape;4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8" name="Google Shape;45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7" name="Google Shape;46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8" name="Google Shape;46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6" name="Google Shape;47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7" name="Google Shape;4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5" name="Google Shape;48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6" name="Google Shape;4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4" name="Google Shape;49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5" name="Google Shape;4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3" name="Google Shape;50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4" name="Google Shape;5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2" name="Google Shape;51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3" name="Google Shape;51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1" name="Google Shape;52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2" name="Google Shape;5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0" name="Google Shape;53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1" name="Google Shape;53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9" name="Google Shape;53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0" name="Google Shape;5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8" name="Google Shape;54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9" name="Google Shape;5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7" name="Google Shape;55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8" name="Google Shape;5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6" name="Google Shape;56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7" name="Google Shape;5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5" name="Google Shape;57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6" name="Google Shape;5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4" name="Google Shape;58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5" name="Google Shape;58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3" name="Google Shape;59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4" name="Google Shape;59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2" name="Google Shape;602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3" name="Google Shape;60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1" name="Google Shape;61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2" name="Google Shape;61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0" name="Google Shape;62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1" name="Google Shape;62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9" name="Google Shape;62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0" name="Google Shape;63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8" name="Google Shape;63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9" name="Google Shape;63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7" name="Google Shape;64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8" name="Google Shape;64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6" name="Google Shape;65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7" name="Google Shape;65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5" name="Google Shape;66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66" name="Google Shape;66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4" name="Google Shape;67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5" name="Google Shape;67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4" name="Google Shape;68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5" name="Google Shape;68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3" name="Google Shape;69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4" name="Google Shape;69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2" name="Google Shape;702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3" name="Google Shape;70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3:notes"/>
          <p:cNvSpPr txBox="1"/>
          <p:nvPr>
            <p:ph idx="1" type="body"/>
          </p:nvPr>
        </p:nvSpPr>
        <p:spPr>
          <a:xfrm>
            <a:off x="685800" y="4343400"/>
            <a:ext cx="5478462" cy="4106862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3:notes"/>
          <p:cNvSpPr/>
          <p:nvPr>
            <p:ph idx="2" type="sldImg"/>
          </p:nvPr>
        </p:nvSpPr>
        <p:spPr>
          <a:xfrm>
            <a:off x="1143000" y="685800"/>
            <a:ext cx="4564062" cy="3421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4:notes"/>
          <p:cNvSpPr txBox="1"/>
          <p:nvPr>
            <p:ph idx="1" type="body"/>
          </p:nvPr>
        </p:nvSpPr>
        <p:spPr>
          <a:xfrm>
            <a:off x="685800" y="4343400"/>
            <a:ext cx="5478462" cy="4106862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4:notes"/>
          <p:cNvSpPr/>
          <p:nvPr>
            <p:ph idx="2" type="sldImg"/>
          </p:nvPr>
        </p:nvSpPr>
        <p:spPr>
          <a:xfrm>
            <a:off x="1143000" y="685800"/>
            <a:ext cx="4564062" cy="3421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5:notes"/>
          <p:cNvSpPr txBox="1"/>
          <p:nvPr>
            <p:ph idx="1" type="body"/>
          </p:nvPr>
        </p:nvSpPr>
        <p:spPr>
          <a:xfrm>
            <a:off x="685800" y="4343400"/>
            <a:ext cx="5478462" cy="4106862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5:notes"/>
          <p:cNvSpPr/>
          <p:nvPr>
            <p:ph idx="2" type="sldImg"/>
          </p:nvPr>
        </p:nvSpPr>
        <p:spPr>
          <a:xfrm>
            <a:off x="1143000" y="685800"/>
            <a:ext cx="4564062" cy="3421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:notes"/>
          <p:cNvSpPr txBox="1"/>
          <p:nvPr>
            <p:ph idx="1" type="body"/>
          </p:nvPr>
        </p:nvSpPr>
        <p:spPr>
          <a:xfrm>
            <a:off x="685800" y="4343400"/>
            <a:ext cx="5478462" cy="4106862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6:notes"/>
          <p:cNvSpPr/>
          <p:nvPr>
            <p:ph idx="2" type="sldImg"/>
          </p:nvPr>
        </p:nvSpPr>
        <p:spPr>
          <a:xfrm>
            <a:off x="1143000" y="685800"/>
            <a:ext cx="4564062" cy="3421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9" name="Google Shape;75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0" name="Google Shape;76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8" name="Google Shape;768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9" name="Google Shape;76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7" name="Google Shape;77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8" name="Google Shape;77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0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86" name="Google Shape;786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7" name="Google Shape;78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96" name="Google Shape;79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7" name="Google Shape;79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2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07" name="Google Shape;807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8" name="Google Shape;80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3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18" name="Google Shape;818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9" name="Google Shape;81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4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7" name="Google Shape;827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8" name="Google Shape;82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5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37" name="Google Shape;83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8" name="Google Shape;83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6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47" name="Google Shape;84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8" name="Google Shape;84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7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58" name="Google Shape;85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9" name="Google Shape;85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8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71" name="Google Shape;871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2" name="Google Shape;87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9:notes"/>
          <p:cNvSpPr txBox="1"/>
          <p:nvPr/>
        </p:nvSpPr>
        <p:spPr>
          <a:xfrm>
            <a:off x="3884612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87" name="Google Shape;887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88" name="Google Shape;88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1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1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2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2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2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3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3"/>
          <p:cNvSpPr txBox="1"/>
          <p:nvPr>
            <p:ph idx="1" type="body"/>
          </p:nvPr>
        </p:nvSpPr>
        <p:spPr>
          <a:xfrm>
            <a:off x="352425" y="1219200"/>
            <a:ext cx="8572500" cy="509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73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3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6"/>
          <p:cNvSpPr txBox="1"/>
          <p:nvPr>
            <p:ph type="title"/>
          </p:nvPr>
        </p:nvSpPr>
        <p:spPr>
          <a:xfrm rot="5400000">
            <a:off x="4832350" y="2154238"/>
            <a:ext cx="6164263" cy="2160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6"/>
          <p:cNvSpPr txBox="1"/>
          <p:nvPr>
            <p:ph idx="1" type="body"/>
          </p:nvPr>
        </p:nvSpPr>
        <p:spPr>
          <a:xfrm rot="5400000">
            <a:off x="434975" y="69850"/>
            <a:ext cx="6164263" cy="632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6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6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7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7"/>
          <p:cNvSpPr txBox="1"/>
          <p:nvPr>
            <p:ph idx="1" type="body"/>
          </p:nvPr>
        </p:nvSpPr>
        <p:spPr>
          <a:xfrm rot="5400000">
            <a:off x="2089944" y="-518319"/>
            <a:ext cx="5097462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7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7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78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8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7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79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9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8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0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0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1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1"/>
          <p:cNvSpPr txBox="1"/>
          <p:nvPr>
            <p:ph idx="1" type="body"/>
          </p:nvPr>
        </p:nvSpPr>
        <p:spPr>
          <a:xfrm>
            <a:off x="352425" y="1219200"/>
            <a:ext cx="4210050" cy="509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1"/>
          <p:cNvSpPr txBox="1"/>
          <p:nvPr>
            <p:ph idx="2" type="body"/>
          </p:nvPr>
        </p:nvSpPr>
        <p:spPr>
          <a:xfrm>
            <a:off x="4714875" y="1219200"/>
            <a:ext cx="4210050" cy="509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1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1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82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2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3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83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3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5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5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4"/>
          <p:cNvSpPr txBox="1"/>
          <p:nvPr>
            <p:ph type="title"/>
          </p:nvPr>
        </p:nvSpPr>
        <p:spPr>
          <a:xfrm rot="5400000">
            <a:off x="4741069" y="2378869"/>
            <a:ext cx="5478463" cy="1939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4"/>
          <p:cNvSpPr txBox="1"/>
          <p:nvPr>
            <p:ph idx="1" type="body"/>
          </p:nvPr>
        </p:nvSpPr>
        <p:spPr>
          <a:xfrm rot="5400000">
            <a:off x="782638" y="512763"/>
            <a:ext cx="5478463" cy="567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4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4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5"/>
          <p:cNvSpPr txBox="1"/>
          <p:nvPr>
            <p:ph type="title"/>
          </p:nvPr>
        </p:nvSpPr>
        <p:spPr>
          <a:xfrm>
            <a:off x="685800" y="609600"/>
            <a:ext cx="7764462" cy="67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5"/>
          <p:cNvSpPr txBox="1"/>
          <p:nvPr>
            <p:ph idx="1" type="body"/>
          </p:nvPr>
        </p:nvSpPr>
        <p:spPr>
          <a:xfrm rot="5400000">
            <a:off x="2247900" y="-114300"/>
            <a:ext cx="4640262" cy="776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85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5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8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86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6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p8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87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7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8"/>
          <p:cNvSpPr txBox="1"/>
          <p:nvPr>
            <p:ph type="title"/>
          </p:nvPr>
        </p:nvSpPr>
        <p:spPr>
          <a:xfrm>
            <a:off x="685800" y="609600"/>
            <a:ext cx="7764462" cy="67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8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8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8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8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8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89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9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0"/>
          <p:cNvSpPr txBox="1"/>
          <p:nvPr>
            <p:ph type="title"/>
          </p:nvPr>
        </p:nvSpPr>
        <p:spPr>
          <a:xfrm>
            <a:off x="685800" y="609600"/>
            <a:ext cx="7764462" cy="67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0"/>
          <p:cNvSpPr txBox="1"/>
          <p:nvPr>
            <p:ph idx="1" type="body"/>
          </p:nvPr>
        </p:nvSpPr>
        <p:spPr>
          <a:xfrm>
            <a:off x="685800" y="1447800"/>
            <a:ext cx="3805238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0"/>
          <p:cNvSpPr txBox="1"/>
          <p:nvPr>
            <p:ph idx="2" type="body"/>
          </p:nvPr>
        </p:nvSpPr>
        <p:spPr>
          <a:xfrm>
            <a:off x="4643438" y="1447800"/>
            <a:ext cx="3806825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90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0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9" name="Google Shape;129;p91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1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2"/>
          <p:cNvSpPr txBox="1"/>
          <p:nvPr>
            <p:ph type="title"/>
          </p:nvPr>
        </p:nvSpPr>
        <p:spPr>
          <a:xfrm>
            <a:off x="685800" y="609600"/>
            <a:ext cx="7764462" cy="67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2"/>
          <p:cNvSpPr txBox="1"/>
          <p:nvPr>
            <p:ph idx="1" type="body"/>
          </p:nvPr>
        </p:nvSpPr>
        <p:spPr>
          <a:xfrm>
            <a:off x="685800" y="1447800"/>
            <a:ext cx="7764462" cy="464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92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92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9" name="Google Shape;139;p93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93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5"/>
          <p:cNvSpPr txBox="1"/>
          <p:nvPr>
            <p:ph type="title"/>
          </p:nvPr>
        </p:nvSpPr>
        <p:spPr>
          <a:xfrm rot="5400000">
            <a:off x="4729957" y="2169319"/>
            <a:ext cx="5843587" cy="205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95"/>
          <p:cNvSpPr txBox="1"/>
          <p:nvPr>
            <p:ph idx="1" type="body"/>
          </p:nvPr>
        </p:nvSpPr>
        <p:spPr>
          <a:xfrm rot="5400000">
            <a:off x="542926" y="188913"/>
            <a:ext cx="5843587" cy="601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95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95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6"/>
          <p:cNvSpPr txBox="1"/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6"/>
          <p:cNvSpPr txBox="1"/>
          <p:nvPr>
            <p:ph idx="1" type="body"/>
          </p:nvPr>
        </p:nvSpPr>
        <p:spPr>
          <a:xfrm rot="5400000">
            <a:off x="2309018" y="-251618"/>
            <a:ext cx="4518025" cy="822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96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6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97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97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97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97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98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6" name="Google Shape;166;p98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7" name="Google Shape;167;p98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98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9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99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0"/>
          <p:cNvSpPr txBox="1"/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00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00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0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10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10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1" name="Google Shape;181;p10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101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01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2"/>
          <p:cNvSpPr txBox="1"/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02"/>
          <p:cNvSpPr txBox="1"/>
          <p:nvPr>
            <p:ph idx="1" type="body"/>
          </p:nvPr>
        </p:nvSpPr>
        <p:spPr>
          <a:xfrm>
            <a:off x="457200" y="1600200"/>
            <a:ext cx="4033838" cy="451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02"/>
          <p:cNvSpPr txBox="1"/>
          <p:nvPr>
            <p:ph idx="2" type="body"/>
          </p:nvPr>
        </p:nvSpPr>
        <p:spPr>
          <a:xfrm>
            <a:off x="4643438" y="1600200"/>
            <a:ext cx="4035425" cy="451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102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02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3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03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3" name="Google Shape;193;p103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03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4"/>
          <p:cNvSpPr txBox="1"/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04"/>
          <p:cNvSpPr txBox="1"/>
          <p:nvPr>
            <p:ph idx="1" type="body"/>
          </p:nvPr>
        </p:nvSpPr>
        <p:spPr>
          <a:xfrm>
            <a:off x="457200" y="1600200"/>
            <a:ext cx="8221662" cy="451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04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04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0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3" name="Google Shape;203;p105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05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0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70"/>
          <p:cNvSpPr txBox="1"/>
          <p:nvPr>
            <p:ph idx="1" type="body"/>
          </p:nvPr>
        </p:nvSpPr>
        <p:spPr>
          <a:xfrm>
            <a:off x="352425" y="1219200"/>
            <a:ext cx="8572500" cy="509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5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5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70"/>
          <p:cNvSpPr txBox="1"/>
          <p:nvPr>
            <p:ph idx="10" type="dt"/>
          </p:nvPr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70"/>
          <p:cNvSpPr txBox="1"/>
          <p:nvPr>
            <p:ph idx="12" type="sldNum"/>
          </p:nvPr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  <a:defRPr b="0" i="0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4"/>
          <p:cNvSpPr txBox="1"/>
          <p:nvPr>
            <p:ph type="title"/>
          </p:nvPr>
        </p:nvSpPr>
        <p:spPr>
          <a:xfrm>
            <a:off x="685800" y="609600"/>
            <a:ext cx="7764462" cy="67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9" name="Google Shape;79;p74"/>
          <p:cNvSpPr txBox="1"/>
          <p:nvPr>
            <p:ph idx="1" type="body"/>
          </p:nvPr>
        </p:nvSpPr>
        <p:spPr>
          <a:xfrm>
            <a:off x="685800" y="1447800"/>
            <a:ext cx="7764462" cy="464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0" name="Google Shape;80;p74"/>
          <p:cNvSpPr txBox="1"/>
          <p:nvPr>
            <p:ph idx="10" type="dt"/>
          </p:nvPr>
        </p:nvSpPr>
        <p:spPr>
          <a:xfrm>
            <a:off x="6858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7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4"/>
          <p:cNvSpPr txBox="1"/>
          <p:nvPr>
            <p:ph idx="12" type="sldNum"/>
          </p:nvPr>
        </p:nvSpPr>
        <p:spPr>
          <a:xfrm>
            <a:off x="6553200" y="6248400"/>
            <a:ext cx="1897062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4"/>
          <p:cNvSpPr txBox="1"/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94"/>
          <p:cNvSpPr txBox="1"/>
          <p:nvPr>
            <p:ph idx="1" type="body"/>
          </p:nvPr>
        </p:nvSpPr>
        <p:spPr>
          <a:xfrm>
            <a:off x="457200" y="1600200"/>
            <a:ext cx="8221662" cy="451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94"/>
          <p:cNvSpPr txBox="1"/>
          <p:nvPr>
            <p:ph idx="10" type="dt"/>
          </p:nvPr>
        </p:nvSpPr>
        <p:spPr>
          <a:xfrm>
            <a:off x="457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94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4"/>
          <p:cNvSpPr txBox="1"/>
          <p:nvPr>
            <p:ph idx="12" type="sldNum"/>
          </p:nvPr>
        </p:nvSpPr>
        <p:spPr>
          <a:xfrm>
            <a:off x="6553200" y="6245225"/>
            <a:ext cx="2125662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2" name="Google Shape;212;p1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Data Types (ADTs)</a:t>
            </a:r>
            <a:endParaRPr/>
          </a:p>
        </p:txBody>
      </p:sp>
      <p:sp>
        <p:nvSpPr>
          <p:cNvPr id="213" name="Google Shape;213;p1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abstract data type (ADT) is an abstraction of a data structure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ADT specifies: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stored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on the data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conditions associated with operations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1" name="Google Shape;221;p2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Stack ADT</a:t>
            </a:r>
            <a:endParaRPr/>
          </a:p>
        </p:txBody>
      </p:sp>
      <p:pic>
        <p:nvPicPr>
          <p:cNvPr id="222" name="Google Shape;2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939800"/>
            <a:ext cx="42926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"/>
          <p:cNvSpPr/>
          <p:nvPr/>
        </p:nvSpPr>
        <p:spPr>
          <a:xfrm>
            <a:off x="3019425" y="911225"/>
            <a:ext cx="544512" cy="1222375"/>
          </a:xfrm>
          <a:custGeom>
            <a:rect b="b" l="l" r="r" t="t"/>
            <a:pathLst>
              <a:path extrusionOk="0" h="1080" w="540">
                <a:moveTo>
                  <a:pt x="0" y="0"/>
                </a:moveTo>
                <a:cubicBezTo>
                  <a:pt x="135" y="90"/>
                  <a:pt x="270" y="180"/>
                  <a:pt x="360" y="360"/>
                </a:cubicBezTo>
                <a:cubicBezTo>
                  <a:pt x="450" y="540"/>
                  <a:pt x="510" y="960"/>
                  <a:pt x="540" y="1080"/>
                </a:cubicBezTo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5803900" y="911225"/>
            <a:ext cx="423862" cy="1222375"/>
          </a:xfrm>
          <a:custGeom>
            <a:rect b="b" l="l" r="r" t="t"/>
            <a:pathLst>
              <a:path extrusionOk="0" h="1080" w="420">
                <a:moveTo>
                  <a:pt x="60" y="1080"/>
                </a:moveTo>
                <a:cubicBezTo>
                  <a:pt x="30" y="810"/>
                  <a:pt x="0" y="540"/>
                  <a:pt x="60" y="360"/>
                </a:cubicBezTo>
                <a:cubicBezTo>
                  <a:pt x="120" y="180"/>
                  <a:pt x="270" y="90"/>
                  <a:pt x="420" y="0"/>
                </a:cubicBezTo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2305050" y="987425"/>
            <a:ext cx="9144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endParaRPr/>
          </a:p>
        </p:txBody>
      </p:sp>
      <p:sp>
        <p:nvSpPr>
          <p:cNvPr id="226" name="Google Shape;226;p2"/>
          <p:cNvSpPr txBox="1"/>
          <p:nvPr/>
        </p:nvSpPr>
        <p:spPr>
          <a:xfrm>
            <a:off x="6049962" y="1095375"/>
            <a:ext cx="9842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endParaRPr/>
          </a:p>
        </p:txBody>
      </p:sp>
      <p:sp>
        <p:nvSpPr>
          <p:cNvPr id="227" name="Google Shape;227;p2"/>
          <p:cNvSpPr txBox="1"/>
          <p:nvPr/>
        </p:nvSpPr>
        <p:spPr>
          <a:xfrm>
            <a:off x="6500812" y="1733550"/>
            <a:ext cx="112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/>
          </a:p>
        </p:txBody>
      </p:sp>
      <p:cxnSp>
        <p:nvCxnSpPr>
          <p:cNvPr id="228" name="Google Shape;228;p2"/>
          <p:cNvCxnSpPr/>
          <p:nvPr/>
        </p:nvCxnSpPr>
        <p:spPr>
          <a:xfrm flipH="1">
            <a:off x="6034087" y="1989137"/>
            <a:ext cx="5080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6" name="Google Shape;236;p3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Stack ADT</a:t>
            </a:r>
            <a:endParaRPr/>
          </a:p>
        </p:txBody>
      </p:sp>
      <p:sp>
        <p:nvSpPr>
          <p:cNvPr id="237" name="Google Shape;237;p3"/>
          <p:cNvSpPr txBox="1"/>
          <p:nvPr/>
        </p:nvSpPr>
        <p:spPr>
          <a:xfrm>
            <a:off x="352425" y="1371600"/>
            <a:ext cx="6048375" cy="347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Stack ADT stores arbitrary objects.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Insertions and deletions follow the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last-in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first-out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(LIFO) scheme.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The last item placed on the stack will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be the first item removed.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(similar to a stack of dishes)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663" y="1676400"/>
            <a:ext cx="227171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"/>
          <p:cNvSpPr txBox="1"/>
          <p:nvPr/>
        </p:nvSpPr>
        <p:spPr>
          <a:xfrm>
            <a:off x="6330950" y="4724400"/>
            <a:ext cx="193516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of Dishes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7" name="Google Shape;247;p4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 Stack Operations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352425" y="1219200"/>
            <a:ext cx="393858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empty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Destroy a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whether a stack is empty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new item --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 item that was added most recently  --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the item that was added most recently</a:t>
            </a:r>
            <a:endParaRPr/>
          </a:p>
        </p:txBody>
      </p:sp>
      <p:cxnSp>
        <p:nvCxnSpPr>
          <p:cNvPr id="249" name="Google Shape;249;p4"/>
          <p:cNvCxnSpPr/>
          <p:nvPr/>
        </p:nvCxnSpPr>
        <p:spPr>
          <a:xfrm>
            <a:off x="5133975" y="2135187"/>
            <a:ext cx="1587" cy="34655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0" name="Google Shape;250;p4"/>
          <p:cNvCxnSpPr/>
          <p:nvPr/>
        </p:nvCxnSpPr>
        <p:spPr>
          <a:xfrm>
            <a:off x="5133975" y="5600700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1" name="Google Shape;251;p4"/>
          <p:cNvCxnSpPr/>
          <p:nvPr/>
        </p:nvCxnSpPr>
        <p:spPr>
          <a:xfrm flipH="1" rot="10800000">
            <a:off x="7132637" y="2127250"/>
            <a:ext cx="1587" cy="34813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2" name="Google Shape;252;p4"/>
          <p:cNvCxnSpPr/>
          <p:nvPr/>
        </p:nvCxnSpPr>
        <p:spPr>
          <a:xfrm>
            <a:off x="5133975" y="4784725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3" name="Google Shape;253;p4"/>
          <p:cNvCxnSpPr/>
          <p:nvPr/>
        </p:nvCxnSpPr>
        <p:spPr>
          <a:xfrm>
            <a:off x="5133975" y="3970337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4" name="Google Shape;254;p4"/>
          <p:cNvCxnSpPr/>
          <p:nvPr/>
        </p:nvCxnSpPr>
        <p:spPr>
          <a:xfrm>
            <a:off x="5133975" y="3154362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5" name="Google Shape;255;p4"/>
          <p:cNvCxnSpPr/>
          <p:nvPr/>
        </p:nvCxnSpPr>
        <p:spPr>
          <a:xfrm>
            <a:off x="5133975" y="5192712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6" name="Google Shape;256;p4"/>
          <p:cNvCxnSpPr/>
          <p:nvPr/>
        </p:nvCxnSpPr>
        <p:spPr>
          <a:xfrm>
            <a:off x="5133975" y="4378325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7" name="Google Shape;257;p4"/>
          <p:cNvCxnSpPr/>
          <p:nvPr/>
        </p:nvCxnSpPr>
        <p:spPr>
          <a:xfrm>
            <a:off x="5133975" y="3562350"/>
            <a:ext cx="19986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8" name="Google Shape;258;p4"/>
          <p:cNvSpPr/>
          <p:nvPr/>
        </p:nvSpPr>
        <p:spPr>
          <a:xfrm>
            <a:off x="5497512" y="1524000"/>
            <a:ext cx="544512" cy="1222375"/>
          </a:xfrm>
          <a:custGeom>
            <a:rect b="b" l="l" r="r" t="t"/>
            <a:pathLst>
              <a:path extrusionOk="0" h="1080" w="540">
                <a:moveTo>
                  <a:pt x="0" y="0"/>
                </a:moveTo>
                <a:cubicBezTo>
                  <a:pt x="135" y="90"/>
                  <a:pt x="270" y="180"/>
                  <a:pt x="360" y="360"/>
                </a:cubicBezTo>
                <a:cubicBezTo>
                  <a:pt x="450" y="540"/>
                  <a:pt x="510" y="960"/>
                  <a:pt x="540" y="1080"/>
                </a:cubicBezTo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6223000" y="1524000"/>
            <a:ext cx="423862" cy="1222375"/>
          </a:xfrm>
          <a:custGeom>
            <a:rect b="b" l="l" r="r" t="t"/>
            <a:pathLst>
              <a:path extrusionOk="0" h="1080" w="420">
                <a:moveTo>
                  <a:pt x="60" y="1080"/>
                </a:moveTo>
                <a:cubicBezTo>
                  <a:pt x="30" y="810"/>
                  <a:pt x="0" y="540"/>
                  <a:pt x="60" y="360"/>
                </a:cubicBezTo>
                <a:cubicBezTo>
                  <a:pt x="120" y="180"/>
                  <a:pt x="270" y="90"/>
                  <a:pt x="420" y="0"/>
                </a:cubicBezTo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4783137" y="1600200"/>
            <a:ext cx="9144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endParaRPr/>
          </a:p>
        </p:txBody>
      </p:sp>
      <p:sp>
        <p:nvSpPr>
          <p:cNvPr id="261" name="Google Shape;261;p4"/>
          <p:cNvSpPr txBox="1"/>
          <p:nvPr/>
        </p:nvSpPr>
        <p:spPr>
          <a:xfrm>
            <a:off x="6542087" y="1600200"/>
            <a:ext cx="9842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endParaRPr/>
          </a:p>
        </p:txBody>
      </p:sp>
      <p:sp>
        <p:nvSpPr>
          <p:cNvPr id="262" name="Google Shape;262;p4"/>
          <p:cNvSpPr txBox="1"/>
          <p:nvPr/>
        </p:nvSpPr>
        <p:spPr>
          <a:xfrm>
            <a:off x="4852987" y="5715000"/>
            <a:ext cx="27432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endParaRPr/>
          </a:p>
        </p:txBody>
      </p:sp>
      <p:sp>
        <p:nvSpPr>
          <p:cNvPr id="263" name="Google Shape;263;p4"/>
          <p:cNvSpPr txBox="1"/>
          <p:nvPr/>
        </p:nvSpPr>
        <p:spPr>
          <a:xfrm>
            <a:off x="7667625" y="3124200"/>
            <a:ext cx="112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/>
          </a:p>
        </p:txBody>
      </p:sp>
      <p:cxnSp>
        <p:nvCxnSpPr>
          <p:cNvPr id="264" name="Google Shape;264;p4"/>
          <p:cNvCxnSpPr/>
          <p:nvPr/>
        </p:nvCxnSpPr>
        <p:spPr>
          <a:xfrm flipH="1">
            <a:off x="7096125" y="3352800"/>
            <a:ext cx="5080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 Stack Operations(cont.)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an empty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~Stack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destroys a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():boolean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determines whether a stack is empty or not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 newItem:StackItemType)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newItem to the top of a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throw StackException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(out stackTop:StackItemType)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the top of a stack (ie. removes the item that was added most recently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(out  stackTop:StackItemType)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the top of stack into stackTop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 of the ADT Stack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ADT stack can be implemented using 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linked list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ADT list (linked list of the previous lecture)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three implementations use a 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StackException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to handle  possible exceptions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2193925" y="4664075"/>
            <a:ext cx="514508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StackException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StackException(const string&amp; err) : error(err) {}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string error;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 of the ADT Stack (cont.)</a:t>
            </a:r>
            <a:endParaRPr/>
          </a:p>
        </p:txBody>
      </p:sp>
      <p:pic>
        <p:nvPicPr>
          <p:cNvPr id="292" name="Google Shape;2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7456488" cy="47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609600" y="1752600"/>
            <a:ext cx="3048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609600" y="2286000"/>
            <a:ext cx="3048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609600" y="2819400"/>
            <a:ext cx="3048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3375025" y="5951537"/>
            <a:ext cx="25606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(pointer-based)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6115050" y="3495675"/>
            <a:ext cx="25606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(reuse existing List.h)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of the ADT Stack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352425" y="1219200"/>
            <a:ext cx="8580437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data fields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of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type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StackItemType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index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Compiler-generated destructor, copy constructor, and assignment operator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3" y="4191000"/>
            <a:ext cx="7173912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5" name="Google Shape;315;p9"/>
          <p:cNvSpPr txBox="1"/>
          <p:nvPr/>
        </p:nvSpPr>
        <p:spPr>
          <a:xfrm>
            <a:off x="352425" y="152400"/>
            <a:ext cx="86502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–Header File</a:t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304800" y="762000"/>
            <a:ext cx="8610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"StackException.h"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int MAX_STACK = </a:t>
            </a:r>
            <a:r>
              <a:rPr b="0" i="1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maximum-size-of-stack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Stack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  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default constructor; copy constructor and destructor are supplied by the compiler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// stack operations: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bool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const;	              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Determines whether a stack is empty.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T&amp; newItem);		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Adds an item to the top of a stack.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		</a:t>
            </a:r>
            <a:r>
              <a:rPr b="0" i="0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Removes the top of a stack.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stackTop);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const;   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Retrieves top of stack.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1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 items[MAX_STACK];  	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array of stack items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top;         		</a:t>
            </a:r>
            <a:r>
              <a:rPr b="0" i="1" lang="en-US" sz="1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index to top of stack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280987" y="990600"/>
            <a:ext cx="858202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9262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Stack&lt;T&gt;::Stack():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(-1) {}  	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default constructor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const {	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return top &lt; 0;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280987" y="990600"/>
            <a:ext cx="858202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9262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T&amp; newItem) {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(top &gt;= MAX_STACK-1)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full on push");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 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items[++top] = newItem;</a:t>
            </a:r>
            <a:endParaRPr/>
          </a:p>
          <a:p>
            <a:pPr indent="-449262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– pop</a:t>
            </a:r>
            <a:endParaRPr/>
          </a:p>
        </p:txBody>
      </p:sp>
      <p:sp>
        <p:nvSpPr>
          <p:cNvPr id="343" name="Google Shape;343;p12"/>
          <p:cNvSpPr txBox="1"/>
          <p:nvPr/>
        </p:nvSpPr>
        <p:spPr>
          <a:xfrm>
            <a:off x="304800" y="914400"/>
            <a:ext cx="85820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pop");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--top;    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stack is not empty; pop top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– pop</a:t>
            </a:r>
            <a:endParaRPr/>
          </a:p>
        </p:txBody>
      </p:sp>
      <p:sp>
        <p:nvSpPr>
          <p:cNvPr id="352" name="Google Shape;352;p13"/>
          <p:cNvSpPr txBox="1"/>
          <p:nvPr/>
        </p:nvSpPr>
        <p:spPr>
          <a:xfrm>
            <a:off x="304800" y="914400"/>
            <a:ext cx="85820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pop");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stack is not empty; retrieve top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stackTop = items[top--];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 – getTop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211137" y="1219200"/>
            <a:ext cx="89328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const 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getTop");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stackTop = items[top];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Array-Based Implementation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211137" y="1219200"/>
            <a:ext cx="89328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the array based implementation is similar the disadvantages of arrays</a:t>
            </a:r>
            <a:endParaRPr/>
          </a:p>
          <a:p>
            <a:pPr indent="-336550" lvl="0" marL="336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Furthermore, it forces all stack objects to have MAX_STACK elements</a:t>
            </a:r>
            <a:endParaRPr/>
          </a:p>
          <a:p>
            <a:pPr indent="-336550" lvl="0" marL="336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fix this limitation by using a pointer instead of an array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479425" y="3419475"/>
            <a:ext cx="5099050" cy="294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Stack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 size) : items(new T [size]) { };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... // other parts not shown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T* items;  	  </a:t>
            </a:r>
            <a:r>
              <a:rPr b="0" i="1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pointer to the stack elements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top;                   </a:t>
            </a:r>
            <a:r>
              <a:rPr b="0" i="1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index to top of stack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5943600" y="3932237"/>
            <a:ext cx="2651125" cy="146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“Need to implement copy constructor, destructor and assignment operator in this case”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of the ADT Stack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352425" y="1219200"/>
            <a:ext cx="59563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when the stack needs to grow and shrink dynamically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similar to linked lists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reference to the head of a linked list of items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copy constructor, assignment operator, and destructor must be supplied</a:t>
            </a:r>
            <a:endParaRPr/>
          </a:p>
        </p:txBody>
      </p:sp>
      <p:pic>
        <p:nvPicPr>
          <p:cNvPr id="382" name="Google Shape;3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1788" y="1066800"/>
            <a:ext cx="1022350" cy="51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0" name="Google Shape;390;p17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Header File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Object&gt;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StackNode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StackNode(const Object&amp; e = Object(), StackNode* n = NULL)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: element(e), next(n) {}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Object item;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StackNode* next;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9" name="Google Shape;399;p18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Header File</a:t>
            </a:r>
            <a:endParaRPr/>
          </a:p>
        </p:txBody>
      </p:sp>
      <p:sp>
        <p:nvSpPr>
          <p:cNvPr id="400" name="Google Shape;400;p18"/>
          <p:cNvSpPr txBox="1"/>
          <p:nvPr/>
        </p:nvSpPr>
        <p:spPr>
          <a:xfrm>
            <a:off x="152400" y="990600"/>
            <a:ext cx="8991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"StackException.h"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Stack{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Stack();                     					</a:t>
            </a:r>
            <a:r>
              <a:rPr b="0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default constructor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Stack(const Stack&amp; rhs);  				</a:t>
            </a:r>
            <a:r>
              <a:rPr b="0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copy constructor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~Stack();                    					</a:t>
            </a:r>
            <a:r>
              <a:rPr b="0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destructor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Stack&amp;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operator=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Stack&amp; rhs);  	</a:t>
            </a:r>
            <a:r>
              <a:rPr b="0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assignment operator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bool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const;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T&amp; newItem);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const;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StackNode&lt;T&gt; *topPtr;                </a:t>
            </a:r>
            <a:r>
              <a:rPr b="0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pointer to the first node in the stack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8" name="Google Shape;408;p19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constructor and isEmpty</a:t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152400" y="1382712"/>
            <a:ext cx="8991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: topPtr(NULL) {}  	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default constructor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const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return topPtr == NULL;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push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T&amp; newItem)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create a new node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StackNode *newPtr = new StackNode;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newPtr-&gt;item = newItem;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insert the data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newPtr-&gt;next = topPtr;    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link this node to the stack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topPtr = newPtr;              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update the stack top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pic>
        <p:nvPicPr>
          <p:cNvPr id="419" name="Google Shape;4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1725" y="1066800"/>
            <a:ext cx="1022350" cy="51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7" name="Google Shape;427;p21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pop</a:t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pop");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 {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StackNode&lt;T&gt; *tmp = topPtr;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topPtr = topPtr-&gt;next; </a:t>
            </a:r>
            <a:r>
              <a:rPr b="0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update the stack top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delete tmp;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topAndPop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 topAndPop");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 {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stackTop = topPtr-&gt;item;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StackNode&lt;T&gt; *tmp = topPtr;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topPtr = topPtr-&gt;next; </a:t>
            </a:r>
            <a:r>
              <a:rPr b="0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update the stack top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delete tmp;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getTop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228600" y="12192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Stack&lt;T&gt;::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const 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(isEmpty())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throw StackException("StackException: stack empty on getTop");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stackTop = topPtr-&gt;item;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4" name="Google Shape;454;p24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</a:t>
            </a:r>
            <a:b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destructor</a:t>
            </a:r>
            <a:endParaRPr/>
          </a:p>
        </p:txBody>
      </p:sp>
      <p:sp>
        <p:nvSpPr>
          <p:cNvPr id="455" name="Google Shape;455;p24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Stack&lt;T&gt;::~Stack()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1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pop until stack is empty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while (!isEmpty())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pop();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3" name="Google Shape;463;p25"/>
          <p:cNvSpPr txBox="1"/>
          <p:nvPr/>
        </p:nvSpPr>
        <p:spPr>
          <a:xfrm>
            <a:off x="352425" y="-1905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assignment</a:t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182562" y="549275"/>
            <a:ext cx="8991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Stack&lt;T&gt;&amp; Stack&lt;T&gt;::</a:t>
            </a:r>
            <a:r>
              <a:rPr b="0" i="0" lang="en-US" sz="16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operator=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Stack&amp; rhs)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(this != &amp;rhs)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 (!rhs.topPtr)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topPtr = NULL;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else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topPtr = new StackNode&lt;T&gt;;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topPtr-&gt;item = rhs.topPtr-&gt;item;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StackNode&lt;T&gt;* q = rhs.topPtr-&gt;next;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StackNode&lt;T&gt;* p = topPtr;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while (q)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p-&gt;next = new StackNode&lt;T&gt;;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p-&gt;next-&gt;item = q-&gt;item;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p = p-&gt;next;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q = q-&gt;next;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p-&gt;next = NULL;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*this;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Pointer-Based Implementation – copy constructor</a:t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152400" y="1706562"/>
            <a:ext cx="8991600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Stack&lt;T&gt;::Stack(const Stack&amp; rhs)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*this = rhs; </a:t>
            </a:r>
            <a:r>
              <a:rPr b="0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reuse assignment operator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the Stack Class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228600" y="12192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Stack&lt;int&gt; s;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 (int i = 0; i &lt; 10; i++)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s.push(i);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Stack&lt;int&gt; s2 = s; </a:t>
            </a:r>
            <a:r>
              <a:rPr b="0" i="0" lang="en-US" sz="16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test copy constructor (also tests assignment)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std::cout &lt;&lt; "Printing s:" &lt;&lt; std::endl;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while (!s.isEmpty()) {  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int value;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s.topAndPop(value);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std::cout &lt;&lt; value &lt;&lt; std::endl;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  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the Stack Class</a:t>
            </a:r>
            <a:endParaRPr/>
          </a:p>
        </p:txBody>
      </p:sp>
      <p:sp>
        <p:nvSpPr>
          <p:cNvPr id="491" name="Google Shape;491;p28"/>
          <p:cNvSpPr txBox="1"/>
          <p:nvPr/>
        </p:nvSpPr>
        <p:spPr>
          <a:xfrm>
            <a:off x="228600" y="12192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std::cout &lt;&lt; "Printing s2:" &lt;&lt; std::endl;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while (!s2.isEmpty())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int value;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s2.topAndPop(value);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std::cout &lt;&lt; value &lt;&lt; std::endl;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0;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9" name="Google Shape;499;p29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Implementation That Uses the ADT List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152400" y="990600"/>
            <a:ext cx="8991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"StackException.h"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"List.h"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&lt;class T&gt;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Stack{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bool </a:t>
            </a:r>
            <a:r>
              <a:rPr b="1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const;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 T&amp; newItem);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void </a:t>
            </a:r>
            <a:r>
              <a:rPr b="1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(T&amp; stackTop) const;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1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List&lt;T&gt; list;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0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8" name="Google Shape;508;p30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Implementation That Uses the ADT List</a:t>
            </a:r>
            <a:endParaRPr/>
          </a:p>
        </p:txBody>
      </p:sp>
      <p:sp>
        <p:nvSpPr>
          <p:cNvPr id="509" name="Google Shape;509;p30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need to implement constructor, copy constructor, destructor, and assignment operator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functions will be called when needed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isEmpty():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return list.isEmpty()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push(x):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list.insert(x, list.zeroth())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pop():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list.remove(list.first()-&gt;element)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topAndPop(&amp;x)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getTop(&amp;x)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similar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7" name="Google Shape;517;p31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Implementations</a:t>
            </a:r>
            <a:endParaRPr/>
          </a:p>
        </p:txBody>
      </p:sp>
      <p:sp>
        <p:nvSpPr>
          <p:cNvPr id="518" name="Google Shape;518;p31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based: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size (cannot grow and shrink dynamically)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single pointer: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need to perform realloc calls when the currently allocated size is exceeded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//Recall the line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 size) : items(new T [size]) { }; 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push and pop operations can be very fast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customized linked-list: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can match perfectly to the contained data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and pop can be a bit slower than above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previously defined linked-list: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Reuses existing implementation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coding effort but may be a bit less efficient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6" name="Google Shape;526;p32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Stack Application -- </a:t>
            </a:r>
            <a:b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Undo sequence in a text editor</a:t>
            </a:r>
            <a:endParaRPr/>
          </a:p>
        </p:txBody>
      </p:sp>
      <p:sp>
        <p:nvSpPr>
          <p:cNvPr id="527" name="Google Shape;527;p32"/>
          <p:cNvSpPr txBox="1"/>
          <p:nvPr/>
        </p:nvSpPr>
        <p:spPr>
          <a:xfrm>
            <a:off x="352425" y="1219200"/>
            <a:ext cx="8650287" cy="535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abcd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fg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abf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Reads an input line. Enter a character or a backspace character (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readAndCorrect(out aStack:Stack)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?????????????????????????????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3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5" name="Google Shape;535;p33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Stack Application -- </a:t>
            </a:r>
            <a:b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Undo sequence in a text editor</a:t>
            </a:r>
            <a:endParaRPr/>
          </a:p>
        </p:txBody>
      </p:sp>
      <p:sp>
        <p:nvSpPr>
          <p:cNvPr id="536" name="Google Shape;536;p33"/>
          <p:cNvSpPr txBox="1"/>
          <p:nvPr/>
        </p:nvSpPr>
        <p:spPr>
          <a:xfrm>
            <a:off x="352425" y="1219200"/>
            <a:ext cx="8650287" cy="535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abcd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fg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abf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Reads an input line. Enter a character or a backspace character (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readAndCorrect(out aStack:Stack)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aStack.createStack()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read newChar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(newChar is not end-of-line symbol)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(newChar is not backspace character)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aStack.push(newChar)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(!aStack.isEmpty())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aStack.pop()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read newChar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4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4" name="Google Shape;544;p34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Stack Application -- Display Backward</a:t>
            </a:r>
            <a:endParaRPr/>
          </a:p>
        </p:txBody>
      </p:sp>
      <p:sp>
        <p:nvSpPr>
          <p:cNvPr id="545" name="Google Shape;545;p34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the input line in reversed order by writing the contents of   stack aStack.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displayBackward(in aStack:Stack) {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?????????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5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5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3" name="Google Shape;553;p35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Stack Application -- Display Backward</a:t>
            </a:r>
            <a:endParaRPr/>
          </a:p>
        </p:txBody>
      </p:sp>
      <p:sp>
        <p:nvSpPr>
          <p:cNvPr id="554" name="Google Shape;554;p35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the input line in reversed order by writing the contents of   stack aStack.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displayBackward(in aStack:Stack) {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(!aStack.isEmpty())) {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aStack.pop(newChar)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print newChar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6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6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2" name="Google Shape;562;p36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for Balanced Braces</a:t>
            </a:r>
            <a:endParaRPr/>
          </a:p>
        </p:txBody>
      </p:sp>
      <p:sp>
        <p:nvSpPr>
          <p:cNvPr id="563" name="Google Shape;563;p36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stack can be used to verify whether a program contains balanced braces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of balanced braces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abc{defg{ijk}{l{mn}}op}qr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of unbalanced braces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abc{def}}{ghij{kl}m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for balanced braces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 we encounter a “}”, it matches an already encountered “{”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reach the end of the string, we have matched each “{”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7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1" name="Google Shape;571;p37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for Balanced Braces -- Traces</a:t>
            </a:r>
            <a:endParaRPr/>
          </a:p>
        </p:txBody>
      </p:sp>
      <p:pic>
        <p:nvPicPr>
          <p:cNvPr id="572" name="Google Shape;5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25" y="1219200"/>
            <a:ext cx="8018463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8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0" name="Google Shape;580;p38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for Balanced Braces -- Algorithm</a:t>
            </a:r>
            <a:endParaRPr/>
          </a:p>
        </p:txBody>
      </p:sp>
      <p:sp>
        <p:nvSpPr>
          <p:cNvPr id="581" name="Google Shape;581;p38"/>
          <p:cNvSpPr txBox="1"/>
          <p:nvPr/>
        </p:nvSpPr>
        <p:spPr>
          <a:xfrm>
            <a:off x="280987" y="990600"/>
            <a:ext cx="8582025" cy="576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aStack.createStack();	  balancedSoFar = true;	   i=0;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(balancedSoFar and i &lt; length of aString)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 = character at position i in aString;	i++;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(ch is ‘{‘)	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push an open brace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aStack.push(‘{‘);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(ch is ‘}’)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close brace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(!aStack.isEmpty())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aStack.pop();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pop a matching open brace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no matching open brace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balancedSoFar = false;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ignore all characters other than braces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(balancedSoFar and aStack.isEmpty())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aString has balanced braces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aString does not have balanced braces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9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9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9" name="Google Shape;589;p39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Recognizing Strings in a Language </a:t>
            </a:r>
            <a:endParaRPr/>
          </a:p>
        </p:txBody>
      </p:sp>
      <p:sp>
        <p:nvSpPr>
          <p:cNvPr id="590" name="Google Shape;590;p39"/>
          <p:cNvSpPr txBox="1"/>
          <p:nvPr/>
        </p:nvSpPr>
        <p:spPr>
          <a:xfrm>
            <a:off x="152400" y="1219200"/>
            <a:ext cx="8991600" cy="515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{w$w’ : w is a (possible empty) string of  characters other than $, 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w’ = reverse(w) }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abc$cba, a$a, $, abc$abc, a$b, a$  are in or out the language 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0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8" name="Google Shape;598;p40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Recognizing Strings in a Language </a:t>
            </a:r>
            <a:endParaRPr/>
          </a:p>
        </p:txBody>
      </p:sp>
      <p:sp>
        <p:nvSpPr>
          <p:cNvPr id="599" name="Google Shape;599;p40"/>
          <p:cNvSpPr txBox="1"/>
          <p:nvPr/>
        </p:nvSpPr>
        <p:spPr>
          <a:xfrm>
            <a:off x="152400" y="1219200"/>
            <a:ext cx="8991600" cy="515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{w$w’ : w is a (possible empty) string of  characters other than $, 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w’ = reverse(w) }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abc$cba, a$a, $   are in the language L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abc$abc, a$b, a$ are not in the language L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Deciding whether a given string in the language L or not.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using a stack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7" name="Google Shape;607;p41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Recognizing Strings in a Language </a:t>
            </a:r>
            <a:endParaRPr/>
          </a:p>
        </p:txBody>
      </p:sp>
      <p:sp>
        <p:nvSpPr>
          <p:cNvPr id="608" name="Google Shape;608;p41"/>
          <p:cNvSpPr txBox="1"/>
          <p:nvPr/>
        </p:nvSpPr>
        <p:spPr>
          <a:xfrm>
            <a:off x="152400" y="1219200"/>
            <a:ext cx="8991600" cy="515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{w$w’ : w is a (possible empty) string of  characters other than $, 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w’ = reverse(w) }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abc$cba, a$a, $   are in the language L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abc$abc, a$b, a$ are not in the language L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Deciding whether a given string in the language L or not.</a:t>
            </a:r>
            <a:endParaRPr/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using a stack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Traverse the first half of the string, pushing each char onto a stack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you reach the $, for each character in the second half of the string, match a popped character off the stack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6" name="Google Shape;616;p42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Recognizing Strings in a Language -- Algorithm</a:t>
            </a:r>
            <a:endParaRPr/>
          </a:p>
        </p:txBody>
      </p:sp>
      <p:sp>
        <p:nvSpPr>
          <p:cNvPr id="617" name="Google Shape;617;p42"/>
          <p:cNvSpPr txBox="1"/>
          <p:nvPr/>
        </p:nvSpPr>
        <p:spPr>
          <a:xfrm>
            <a:off x="280987" y="914400"/>
            <a:ext cx="8658225" cy="57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aStack.createStack();    i=0;   ch = character at position i in aString;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(ch is not ‘$’) {  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push the characters before $ (w) onto the stack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aStack.push(ch);   i++;   ch = character at position i in aString;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  inLanguage = true;   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skip $; assume string in language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(inLanguage and i &lt;length of aString)     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match the reverse of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(aStack.isEmpty())  inLanguage = false;  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first part shorter than second part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aStack.pop(stackTop);    ch = character at position i in aString;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if (stackTop equals to ch)  i++;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characters match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else inLanguage = false;			</a:t>
            </a:r>
            <a:r>
              <a:rPr b="0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characters do not match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(inLanguage and aStack.isEmpty())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aString is in language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aString is not in language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3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3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25" name="Google Shape;625;p43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Algebraic Expressions</a:t>
            </a:r>
            <a:endParaRPr/>
          </a:p>
        </p:txBody>
      </p:sp>
      <p:sp>
        <p:nvSpPr>
          <p:cNvPr id="626" name="Google Shape;626;p43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ADT stack is used to solve a problem, the use of the ADT’s operations should not depend on its implementation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an infix expression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b/w operands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infix expression to postfix form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postfix expression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operands; similarly we have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operands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 Expression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Expression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Expression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+ 2 * 3				</a:t>
            </a:r>
            <a:endParaRPr b="0" i="0" sz="1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* 2 + 3				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* ( 2 + 3 ) - 4	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4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4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34" name="Google Shape;634;p44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Algebraic Expressions</a:t>
            </a:r>
            <a:endParaRPr/>
          </a:p>
        </p:txBody>
      </p:sp>
      <p:sp>
        <p:nvSpPr>
          <p:cNvPr id="635" name="Google Shape;635;p44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ADT stack is used to solve a problem, the use of the ADT’s operations should not depend on its implementation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an infix expression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b/w operands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infix expression to postfix form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postfix expression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operands; similarly we have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 operator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operands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 Expression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Expression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Expression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+ 2 * 3				5 2 3 * +			+ 5 * 2 3 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//not same as +*235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* 2 + 3				5 2 * 3 +			+ * 5 2 3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 * ( 2 + 3 ) - 4		5 2 3 + * 4 -		- * 5 + 2 3 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5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43" name="Google Shape;643;p45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Algebraic Expressions</a:t>
            </a:r>
            <a:endParaRPr/>
          </a:p>
        </p:txBody>
      </p:sp>
      <p:sp>
        <p:nvSpPr>
          <p:cNvPr id="644" name="Google Shape;644;p45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 notation is easy to read for humans, whereas pre-/postfix notation is easier to parse for a machine. The big advantage in pre-/postfix notation is that there never arise any questions like operator precedence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Or, to put it in more general terms: it is possible to restore the original (parse) tree from a pre-/postfix expression without any additional knowledge, but the same isn't true for infix expressions</a:t>
            </a:r>
            <a:endParaRPr/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consider the infix expression 1 # 2 $ 3. Now, we don't know what those operators mean, so there are two possible corresponding postfix expressions: 1 2 # 3 $ and 1 2 3 $ #. Without knowing the rules governing the use of these operators, the infix expression is essentially worthless.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6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6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52" name="Google Shape;652;p46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Postfix Expressions</a:t>
            </a:r>
            <a:endParaRPr/>
          </a:p>
        </p:txBody>
      </p:sp>
      <p:sp>
        <p:nvSpPr>
          <p:cNvPr id="653" name="Google Shape;653;p46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operand is entered, the calculator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Pushes it onto a stack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operator is entered, the calculator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it to the top two operands of the stack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Pops the operands from the stack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Pushes the result of the operation on the stack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7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1" name="Google Shape;661;p47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Postfix Expressions – 2 3 4 + *</a:t>
            </a:r>
            <a:endParaRPr/>
          </a:p>
        </p:txBody>
      </p:sp>
      <p:pic>
        <p:nvPicPr>
          <p:cNvPr id="662" name="Google Shape;6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1066800"/>
            <a:ext cx="7878763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8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8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0" name="Google Shape;670;p48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Infix Expressions to Postfix Expressions</a:t>
            </a:r>
            <a:endParaRPr/>
          </a:p>
        </p:txBody>
      </p:sp>
      <p:sp>
        <p:nvSpPr>
          <p:cNvPr id="671" name="Google Shape;671;p48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infix expression can be evaluated by first being converted into an equivalent postfix expression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Facts about converting from infix to postfix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Operands always stay in the same order with respect to one another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operator will move only “to the right” with respect to the operands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parentheses are removed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9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9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9" name="Google Shape;679;p49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Infix Expressions to Postfix Expressions</a:t>
            </a:r>
            <a:endParaRPr/>
          </a:p>
        </p:txBody>
      </p:sp>
      <p:pic>
        <p:nvPicPr>
          <p:cNvPr id="680" name="Google Shape;68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6699250" cy="4310063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9"/>
          <p:cNvSpPr txBox="1"/>
          <p:nvPr/>
        </p:nvSpPr>
        <p:spPr>
          <a:xfrm>
            <a:off x="561975" y="5791200"/>
            <a:ext cx="7754937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 - (b + c * d)/ e 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b="0" i="1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 b c d * + e / -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0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0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89" name="Google Shape;689;p50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Infix Expr. to Postfix Expr. -- Algorithm</a:t>
            </a:r>
            <a:endParaRPr/>
          </a:p>
        </p:txBody>
      </p:sp>
      <p:sp>
        <p:nvSpPr>
          <p:cNvPr id="690" name="Google Shape;690;p50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(each character ch in the infix expression)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(ch)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operand:  	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append operand to end of postfixExpr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postfixExpr=postfixExpr+ch;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‘(‘:		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save ‘(‘ on stack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aStack.push(ch);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‘)’:		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pop stack until matching ‘(‘, and remove ‘(‘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(top of stack is not ‘(‘) {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postfixExpr=postfixExpr+(top of stack);   aStack.pop(); 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}</a:t>
            </a:r>
            <a:endParaRPr/>
          </a:p>
          <a:p>
            <a:pPr indent="-334962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aStack.pop();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   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1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352425" y="76200"/>
            <a:ext cx="86502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Infix Expr. to Postfix Expr. -- Algorithm</a:t>
            </a:r>
            <a:endParaRPr/>
          </a:p>
        </p:txBody>
      </p:sp>
      <p:sp>
        <p:nvSpPr>
          <p:cNvPr id="699" name="Google Shape;699;p51"/>
          <p:cNvSpPr txBox="1"/>
          <p:nvPr/>
        </p:nvSpPr>
        <p:spPr>
          <a:xfrm>
            <a:off x="352425" y="1219200"/>
            <a:ext cx="8580437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operator:</a:t>
            </a:r>
            <a:endParaRPr b="0" i="1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aStack.push();   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		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save new operator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}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end of switch and for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append the operators in the stack to postfixExpr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(!isStack.isEmpty())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postfixExpr=postfixExpr+(top of stack);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    aStack(pop); 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2"/>
          <p:cNvSpPr txBox="1"/>
          <p:nvPr/>
        </p:nvSpPr>
        <p:spPr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2"/>
          <p:cNvSpPr txBox="1"/>
          <p:nvPr/>
        </p:nvSpPr>
        <p:spPr>
          <a:xfrm>
            <a:off x="7034212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07" name="Google Shape;707;p52"/>
          <p:cNvSpPr txBox="1"/>
          <p:nvPr/>
        </p:nvSpPr>
        <p:spPr>
          <a:xfrm>
            <a:off x="352425" y="152400"/>
            <a:ext cx="8650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Relationship Between Stacks and Recursion</a:t>
            </a:r>
            <a:endParaRPr/>
          </a:p>
        </p:txBody>
      </p:sp>
      <p:sp>
        <p:nvSpPr>
          <p:cNvPr id="708" name="Google Shape;708;p52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strong relationship exists between recursion and stacks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stacks are used by compilers to implement recursive methods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execution, each recursive call generates an activation   record that is pushed onto a stack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That's why we can get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if a function makes makes too many recursive calls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Stacks can be used to implement a nonrecursive version of a    recursive algorithm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3"/>
          <p:cNvSpPr txBox="1"/>
          <p:nvPr/>
        </p:nvSpPr>
        <p:spPr>
          <a:xfrm>
            <a:off x="7034212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4" name="Google Shape;714;p53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 Run-time Stack</a:t>
            </a:r>
            <a:endParaRPr/>
          </a:p>
        </p:txBody>
      </p:sp>
      <p:sp>
        <p:nvSpPr>
          <p:cNvPr id="715" name="Google Shape;715;p53"/>
          <p:cNvSpPr txBox="1"/>
          <p:nvPr/>
        </p:nvSpPr>
        <p:spPr>
          <a:xfrm>
            <a:off x="492125" y="1295400"/>
            <a:ext cx="4149725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C++ run-time system keeps track of the chain of active functions with a stack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function is called, the run-time system pushes on the stack a frame containing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variables and return value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function returns, its frame is popped from the stack and control is passed to the method on top of the stack</a:t>
            </a:r>
            <a:endParaRPr/>
          </a:p>
        </p:txBody>
      </p:sp>
      <p:sp>
        <p:nvSpPr>
          <p:cNvPr id="716" name="Google Shape;716;p53"/>
          <p:cNvSpPr txBox="1"/>
          <p:nvPr/>
        </p:nvSpPr>
        <p:spPr>
          <a:xfrm>
            <a:off x="4924425" y="1371600"/>
            <a:ext cx="1757362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int i = 5;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foo(i);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foo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(int j) {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int k;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k = j+1;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bar(k);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bar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(int m) {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b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</p:txBody>
      </p:sp>
      <p:grpSp>
        <p:nvGrpSpPr>
          <p:cNvPr id="717" name="Google Shape;717;p53"/>
          <p:cNvGrpSpPr/>
          <p:nvPr/>
        </p:nvGrpSpPr>
        <p:grpSpPr>
          <a:xfrm>
            <a:off x="7034212" y="1066800"/>
            <a:ext cx="1547812" cy="4495800"/>
            <a:chOff x="4608" y="960"/>
            <a:chExt cx="1056" cy="2832"/>
          </a:xfrm>
        </p:grpSpPr>
        <p:grpSp>
          <p:nvGrpSpPr>
            <p:cNvPr id="718" name="Google Shape;718;p53"/>
            <p:cNvGrpSpPr/>
            <p:nvPr/>
          </p:nvGrpSpPr>
          <p:grpSpPr>
            <a:xfrm>
              <a:off x="4608" y="960"/>
              <a:ext cx="1056" cy="2832"/>
              <a:chOff x="4512" y="864"/>
              <a:chExt cx="912" cy="3024"/>
            </a:xfrm>
          </p:grpSpPr>
          <p:sp>
            <p:nvSpPr>
              <p:cNvPr id="719" name="Google Shape;719;p53"/>
              <p:cNvSpPr txBox="1"/>
              <p:nvPr/>
            </p:nvSpPr>
            <p:spPr>
              <a:xfrm>
                <a:off x="4512" y="864"/>
                <a:ext cx="912" cy="302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20" name="Google Shape;720;p53"/>
              <p:cNvCxnSpPr/>
              <p:nvPr/>
            </p:nvCxnSpPr>
            <p:spPr>
              <a:xfrm>
                <a:off x="4512" y="864"/>
                <a:ext cx="0" cy="302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721" name="Google Shape;721;p53"/>
              <p:cNvCxnSpPr/>
              <p:nvPr/>
            </p:nvCxnSpPr>
            <p:spPr>
              <a:xfrm>
                <a:off x="5424" y="864"/>
                <a:ext cx="0" cy="302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722" name="Google Shape;722;p53"/>
              <p:cNvCxnSpPr/>
              <p:nvPr/>
            </p:nvCxnSpPr>
            <p:spPr>
              <a:xfrm>
                <a:off x="4512" y="3876"/>
                <a:ext cx="912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723" name="Google Shape;723;p53"/>
            <p:cNvSpPr txBox="1"/>
            <p:nvPr/>
          </p:nvSpPr>
          <p:spPr>
            <a:xfrm>
              <a:off x="4752" y="2976"/>
              <a:ext cx="720" cy="6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main</a:t>
              </a:r>
              <a:b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</a:b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 i = 5</a:t>
              </a:r>
              <a:endParaRPr/>
            </a:p>
          </p:txBody>
        </p:sp>
        <p:sp>
          <p:nvSpPr>
            <p:cNvPr id="724" name="Google Shape;724;p53"/>
            <p:cNvSpPr txBox="1"/>
            <p:nvPr/>
          </p:nvSpPr>
          <p:spPr>
            <a:xfrm>
              <a:off x="4752" y="2016"/>
              <a:ext cx="720" cy="91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foo</a:t>
              </a:r>
              <a:b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</a:b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 j = 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 k = 6</a:t>
              </a:r>
              <a:endParaRPr/>
            </a:p>
          </p:txBody>
        </p:sp>
        <p:sp>
          <p:nvSpPr>
            <p:cNvPr id="725" name="Google Shape;725;p53"/>
            <p:cNvSpPr txBox="1"/>
            <p:nvPr/>
          </p:nvSpPr>
          <p:spPr>
            <a:xfrm>
              <a:off x="4752" y="1296"/>
              <a:ext cx="720" cy="6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bar</a:t>
              </a:r>
              <a:b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</a:b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 m = 6</a:t>
              </a:r>
              <a:endParaRPr/>
            </a:p>
          </p:txBody>
        </p:sp>
      </p:grpSp>
      <p:sp>
        <p:nvSpPr>
          <p:cNvPr id="726" name="Google Shape;726;p53"/>
          <p:cNvSpPr txBox="1"/>
          <p:nvPr/>
        </p:nvSpPr>
        <p:spPr>
          <a:xfrm>
            <a:off x="6753225" y="5486400"/>
            <a:ext cx="1878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Run-time Stack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4"/>
          <p:cNvSpPr txBox="1"/>
          <p:nvPr/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32" name="Google Shape;732;p5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3" name="Google Shape;733;p54"/>
          <p:cNvSpPr txBox="1"/>
          <p:nvPr>
            <p:ph type="title"/>
          </p:nvPr>
        </p:nvSpPr>
        <p:spPr>
          <a:xfrm>
            <a:off x="352425" y="152400"/>
            <a:ext cx="864235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Factorial function</a:t>
            </a:r>
            <a:endParaRPr/>
          </a:p>
        </p:txBody>
      </p:sp>
      <p:sp>
        <p:nvSpPr>
          <p:cNvPr id="734" name="Google Shape;734;p54"/>
          <p:cNvSpPr txBox="1"/>
          <p:nvPr>
            <p:ph idx="1" type="body"/>
          </p:nvPr>
        </p:nvSpPr>
        <p:spPr>
          <a:xfrm>
            <a:off x="352425" y="1219200"/>
            <a:ext cx="8572500" cy="509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fact(int n)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if (n ==0) 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return (1);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else 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(n * fact(n-1));</a:t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5"/>
          <p:cNvSpPr txBox="1"/>
          <p:nvPr/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40" name="Google Shape;740;p5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41" name="Google Shape;741;p55"/>
          <p:cNvSpPr txBox="1"/>
          <p:nvPr>
            <p:ph type="title"/>
          </p:nvPr>
        </p:nvSpPr>
        <p:spPr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Tracing the call </a:t>
            </a: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 (3)</a:t>
            </a:r>
            <a:endParaRPr/>
          </a:p>
        </p:txBody>
      </p:sp>
      <p:graphicFrame>
        <p:nvGraphicFramePr>
          <p:cNvPr id="742" name="Google Shape;742;p55"/>
          <p:cNvGraphicFramePr/>
          <p:nvPr/>
        </p:nvGraphicFramePr>
        <p:xfrm>
          <a:off x="5334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828800"/>
              </a:tblGrid>
              <a:tr h="7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original call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43" name="Google Shape;743;p55"/>
          <p:cNvGraphicFramePr/>
          <p:nvPr/>
        </p:nvGraphicFramePr>
        <p:xfrm>
          <a:off x="25146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905000"/>
              </a:tblGrid>
              <a:tr h="6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(2*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fact(1)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1</a:t>
                      </a:r>
                      <a:r>
                        <a:rPr b="0" baseline="3000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call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44" name="Google Shape;744;p55"/>
          <p:cNvGraphicFramePr/>
          <p:nvPr/>
        </p:nvGraphicFramePr>
        <p:xfrm>
          <a:off x="45720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828800"/>
              </a:tblGrid>
              <a:tr h="6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(1*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fact(0)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(2*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fact(1)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2</a:t>
                      </a:r>
                      <a:r>
                        <a:rPr b="0" baseline="3000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call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45" name="Google Shape;745;p55"/>
          <p:cNvGraphicFramePr/>
          <p:nvPr/>
        </p:nvGraphicFramePr>
        <p:xfrm>
          <a:off x="67056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905000"/>
              </a:tblGrid>
              <a:tr h="6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true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(1)</a:t>
                      </a:r>
                      <a:endParaRPr/>
                    </a:p>
                  </a:txBody>
                  <a:tcPr marT="45700" marB="45700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(1*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fact(0)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00" marB="45700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(2*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fact(1)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00" marB="45700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00" marB="45700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3rd call</a:t>
                      </a:r>
                      <a:endParaRPr/>
                    </a:p>
                  </a:txBody>
                  <a:tcPr marT="45700" marB="45700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6"/>
          <p:cNvSpPr txBox="1"/>
          <p:nvPr/>
        </p:nvSpPr>
        <p:spPr>
          <a:xfrm>
            <a:off x="352425" y="6477000"/>
            <a:ext cx="1897062" cy="22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51" name="Google Shape;751;p5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2" name="Google Shape;752;p56"/>
          <p:cNvSpPr txBox="1"/>
          <p:nvPr>
            <p:ph type="title"/>
          </p:nvPr>
        </p:nvSpPr>
        <p:spPr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Tracing the call </a:t>
            </a: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 (3)</a:t>
            </a:r>
            <a:endParaRPr/>
          </a:p>
        </p:txBody>
      </p:sp>
      <p:graphicFrame>
        <p:nvGraphicFramePr>
          <p:cNvPr id="753" name="Google Shape;753;p56"/>
          <p:cNvGraphicFramePr/>
          <p:nvPr/>
        </p:nvGraphicFramePr>
        <p:xfrm>
          <a:off x="47244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828800"/>
              </a:tblGrid>
              <a:tr h="7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 </a:t>
                      </a:r>
                      <a:r>
                        <a:rPr b="1" i="0" lang="en-US" sz="1800" u="non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return from 1st call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54" name="Google Shape;754;p56"/>
          <p:cNvGraphicFramePr/>
          <p:nvPr/>
        </p:nvGraphicFramePr>
        <p:xfrm>
          <a:off x="2743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9050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(2* </a:t>
                      </a:r>
                      <a:r>
                        <a:rPr b="1" i="0" lang="en-US" sz="1800" u="non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return from 2nd call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55" name="Google Shape;755;p56"/>
          <p:cNvGraphicFramePr/>
          <p:nvPr/>
        </p:nvGraphicFramePr>
        <p:xfrm>
          <a:off x="6858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9050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(1* </a:t>
                      </a:r>
                      <a:r>
                        <a:rPr b="1" i="0" lang="en-US" sz="1800" u="non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(2*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fact(1)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= 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(N==0) false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(3*</a:t>
                      </a: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fact(2)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return from 3rd call </a:t>
                      </a:r>
                      <a:endParaRPr/>
                    </a:p>
                  </a:txBody>
                  <a:tcPr marT="45725" marB="45725" marR="91450" marL="91450"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756" name="Google Shape;756;p56"/>
          <p:cNvGraphicFramePr/>
          <p:nvPr/>
        </p:nvGraphicFramePr>
        <p:xfrm>
          <a:off x="67818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{F6C6C2A0-DACD-47AC-85C7-1F37AFD40226}</a:tableStyleId>
              </a:tblPr>
              <a:tblGrid>
                <a:gridCol w="1828800"/>
              </a:tblGrid>
              <a:tr h="7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</a:t>
                      </a:r>
                      <a:r>
                        <a:rPr b="1" i="0" lang="en-US" sz="2400" u="non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7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5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4" name="Google Shape;764;p57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Reversing a string</a:t>
            </a:r>
            <a:endParaRPr/>
          </a:p>
        </p:txBody>
      </p:sp>
      <p:sp>
        <p:nvSpPr>
          <p:cNvPr id="765" name="Google Shape;765;p57"/>
          <p:cNvSpPr txBox="1"/>
          <p:nvPr/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printReverse(const char* str)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????????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8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3" name="Google Shape;773;p58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Reversing a string</a:t>
            </a:r>
            <a:endParaRPr/>
          </a:p>
        </p:txBody>
      </p:sp>
      <p:sp>
        <p:nvSpPr>
          <p:cNvPr id="774" name="Google Shape;774;p58"/>
          <p:cNvSpPr txBox="1"/>
          <p:nvPr/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printReverse(const char* str)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 (*str)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printReverse(str + 1)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cout &lt;&lt; *str &lt;&lt; endl;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9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2" name="Google Shape;782;p59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Reversing a string</a:t>
            </a:r>
            <a:endParaRPr/>
          </a:p>
        </p:txBody>
      </p:sp>
      <p:sp>
        <p:nvSpPr>
          <p:cNvPr id="783" name="Google Shape;783;p59"/>
          <p:cNvSpPr txBox="1"/>
          <p:nvPr/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printReverseStack(const char* str)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Stack&lt;char&gt; s;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str[i] != ’\0’; ++i)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s.</a:t>
            </a:r>
            <a:r>
              <a:rPr b="1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(str[i]);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while(!s.isEmpty()) {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char c;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s.</a:t>
            </a:r>
            <a:r>
              <a:rPr b="1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topAndPop</a:t>
            </a: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(c);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cout &lt;&lt; c;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-334962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0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0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91" name="Google Shape;791;p60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Maze Solving</a:t>
            </a:r>
            <a:endParaRPr/>
          </a:p>
        </p:txBody>
      </p:sp>
      <p:sp>
        <p:nvSpPr>
          <p:cNvPr id="792" name="Google Shape;792;p60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path on the maze represented by 2D array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3" name="Google Shape;79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700212"/>
            <a:ext cx="661035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1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1" name="Google Shape;801;p61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Maze Solving</a:t>
            </a:r>
            <a:endParaRPr/>
          </a:p>
        </p:txBody>
      </p:sp>
      <p:sp>
        <p:nvSpPr>
          <p:cNvPr id="802" name="Google Shape;802;p61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path on the maze represented by 2D array</a:t>
            </a:r>
            <a:endParaRPr/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the traced points into a stack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3" name="Google Shape;80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1862" y="1801812"/>
            <a:ext cx="4881562" cy="19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4370387"/>
            <a:ext cx="2998787" cy="23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2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6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2" name="Google Shape;812;p62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Maze Solving</a:t>
            </a:r>
            <a:endParaRPr/>
          </a:p>
        </p:txBody>
      </p:sp>
      <p:sp>
        <p:nvSpPr>
          <p:cNvPr id="813" name="Google Shape;813;p62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path on the maze represented by 2D array</a:t>
            </a:r>
            <a:endParaRPr/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forward if possible. If not, pop until a new direction move is possible.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4" name="Google Shape;81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1862" y="1801812"/>
            <a:ext cx="4881562" cy="19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4370387"/>
            <a:ext cx="2998787" cy="23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3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3" name="Google Shape;823;p63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Integer to Binary</a:t>
            </a:r>
            <a:endParaRPr/>
          </a:p>
        </p:txBody>
      </p:sp>
      <p:sp>
        <p:nvSpPr>
          <p:cNvPr id="824" name="Google Shape;824;p63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to integer is easy; how about the reverse?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232 in binary?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4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2" name="Google Shape;832;p64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Integer to Binary</a:t>
            </a:r>
            <a:endParaRPr/>
          </a:p>
        </p:txBody>
      </p:sp>
      <p:sp>
        <p:nvSpPr>
          <p:cNvPr id="833" name="Google Shape;833;p64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to integer is easy; how about the reverse?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232 in binary?</a:t>
            </a:r>
            <a:endParaRPr/>
          </a:p>
        </p:txBody>
      </p:sp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492375"/>
            <a:ext cx="635317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5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2" name="Google Shape;842;p65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Integer to Binary</a:t>
            </a:r>
            <a:endParaRPr/>
          </a:p>
        </p:txBody>
      </p:sp>
      <p:sp>
        <p:nvSpPr>
          <p:cNvPr id="843" name="Google Shape;843;p65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to integer is easy; how about the reverse?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232 in binary?</a:t>
            </a:r>
            <a:endParaRPr/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92375"/>
            <a:ext cx="763905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6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Integer to Binary</a:t>
            </a:r>
            <a:endParaRPr/>
          </a:p>
        </p:txBody>
      </p:sp>
      <p:sp>
        <p:nvSpPr>
          <p:cNvPr id="853" name="Google Shape;853;p66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to integer is easy; how about the reverse?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232 in binary?</a:t>
            </a:r>
            <a:endParaRPr/>
          </a:p>
        </p:txBody>
      </p:sp>
      <p:pic>
        <p:nvPicPr>
          <p:cNvPr id="854" name="Google Shape;85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737" y="1697037"/>
            <a:ext cx="3889375" cy="16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2112" y="3517900"/>
            <a:ext cx="616267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7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6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3" name="Google Shape;863;p67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 Stack O(1)</a:t>
            </a:r>
            <a:endParaRPr/>
          </a:p>
        </p:txBody>
      </p:sp>
      <p:sp>
        <p:nvSpPr>
          <p:cNvPr id="864" name="Google Shape;864;p67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Min, top, pop, push in O(1)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Maintaining a global Minimum variable fails; why? Hint: pops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second Min stack </a:t>
            </a:r>
            <a:endParaRPr/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use a Minimum variable on each 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5" name="Google Shape;86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737" y="2133600"/>
            <a:ext cx="2984500" cy="100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0737" y="3929062"/>
            <a:ext cx="2159000" cy="71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2450" y="3929062"/>
            <a:ext cx="922337" cy="12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7"/>
          <p:cNvSpPr txBox="1"/>
          <p:nvPr/>
        </p:nvSpPr>
        <p:spPr>
          <a:xfrm>
            <a:off x="6980224" y="5616425"/>
            <a:ext cx="8356500" cy="4464000"/>
          </a:xfrm>
          <a:prstGeom prst="rect">
            <a:avLst/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8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6" name="Google Shape;876;p68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Sort a Stack </a:t>
            </a:r>
            <a:endParaRPr/>
          </a:p>
        </p:txBody>
      </p:sp>
      <p:sp>
        <p:nvSpPr>
          <p:cNvPr id="877" name="Google Shape;877;p68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no more than one additional stack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 top to temp; check before moving temp to 2</a:t>
            </a:r>
            <a:r>
              <a:rPr b="0" baseline="30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stack</a:t>
            </a:r>
            <a:endParaRPr/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1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 is not smaller than 1; so pop 1 to 1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stack, put 3 and, put 1 back into 2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stack</a:t>
            </a:r>
            <a:endParaRPr/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4" marL="2057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Finally: </a:t>
            </a:r>
            <a:endParaRPr/>
          </a:p>
        </p:txBody>
      </p:sp>
      <p:pic>
        <p:nvPicPr>
          <p:cNvPr id="878" name="Google Shape;87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276475"/>
            <a:ext cx="952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7175" y="3559175"/>
            <a:ext cx="901700" cy="11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087" y="3559175"/>
            <a:ext cx="787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5150" y="5446712"/>
            <a:ext cx="762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9112" y="5446712"/>
            <a:ext cx="8255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3800" y="5453062"/>
            <a:ext cx="8128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68"/>
          <p:cNvSpPr txBox="1"/>
          <p:nvPr/>
        </p:nvSpPr>
        <p:spPr>
          <a:xfrm>
            <a:off x="611187" y="2133600"/>
            <a:ext cx="8356600" cy="4464050"/>
          </a:xfrm>
          <a:prstGeom prst="rect">
            <a:avLst/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9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6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2" name="Google Shape;892;p69"/>
          <p:cNvSpPr txBox="1"/>
          <p:nvPr/>
        </p:nvSpPr>
        <p:spPr>
          <a:xfrm>
            <a:off x="685800" y="609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Smart max difference</a:t>
            </a:r>
            <a:endParaRPr/>
          </a:p>
        </p:txBody>
      </p:sp>
      <p:sp>
        <p:nvSpPr>
          <p:cNvPr id="893" name="Google Shape;893;p69"/>
          <p:cNvSpPr txBox="1"/>
          <p:nvPr/>
        </p:nvSpPr>
        <p:spPr>
          <a:xfrm>
            <a:off x="352425" y="1219200"/>
            <a:ext cx="858043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difference b/w two elements of a stack in O(n) time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element can only be compared with the ones below it</a:t>
            </a:r>
            <a:endParaRPr/>
          </a:p>
        </p:txBody>
      </p:sp>
      <p:sp>
        <p:nvSpPr>
          <p:cNvPr id="894" name="Google Shape;894;p69"/>
          <p:cNvSpPr txBox="1"/>
          <p:nvPr/>
        </p:nvSpPr>
        <p:spPr>
          <a:xfrm>
            <a:off x="352425" y="2565400"/>
            <a:ext cx="2490787" cy="313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10</a:t>
            </a:r>
            <a:endParaRPr/>
          </a:p>
        </p:txBody>
      </p:sp>
      <p:sp>
        <p:nvSpPr>
          <p:cNvPr id="895" name="Google Shape;895;p69"/>
          <p:cNvSpPr txBox="1"/>
          <p:nvPr/>
        </p:nvSpPr>
        <p:spPr>
          <a:xfrm>
            <a:off x="1331912" y="2633662"/>
            <a:ext cx="7416800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max = maxDiff = -INF;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(! S.isEmpty())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S.topAndPop(v);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if (v &gt; max) max = v;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else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maxDiff = (max-v &gt; maxDiff ? max-v : maxDiff);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return maxDiff;</a:t>
            </a:r>
            <a:endParaRPr/>
          </a:p>
        </p:txBody>
      </p:sp>
      <p:sp>
        <p:nvSpPr>
          <p:cNvPr id="896" name="Google Shape;896;p69"/>
          <p:cNvSpPr txBox="1"/>
          <p:nvPr/>
        </p:nvSpPr>
        <p:spPr>
          <a:xfrm>
            <a:off x="1331912" y="2493962"/>
            <a:ext cx="7343775" cy="4248150"/>
          </a:xfrm>
          <a:prstGeom prst="rect">
            <a:avLst/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2007-11-08T09:30:44Z</dcterms:created>
  <dc:creator>NIHAN</dc:creator>
</cp:coreProperties>
</file>