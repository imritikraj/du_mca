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9144000"/>
  <p:embeddedFontLst>
    <p:embeddedFont>
      <p:font typeface="Arim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Arimo-bold.fntdata"/><Relationship Id="rId12" Type="http://schemas.openxmlformats.org/officeDocument/2006/relationships/slide" Target="slides/slide8.xml"/><Relationship Id="rId34" Type="http://schemas.openxmlformats.org/officeDocument/2006/relationships/font" Target="fonts/Arimo-regular.fntdata"/><Relationship Id="rId15" Type="http://schemas.openxmlformats.org/officeDocument/2006/relationships/slide" Target="slides/slide11.xml"/><Relationship Id="rId37" Type="http://schemas.openxmlformats.org/officeDocument/2006/relationships/font" Target="fonts/Arimo-boldItalic.fntdata"/><Relationship Id="rId14" Type="http://schemas.openxmlformats.org/officeDocument/2006/relationships/slide" Target="slides/slide10.xml"/><Relationship Id="rId36" Type="http://schemas.openxmlformats.org/officeDocument/2006/relationships/font" Target="fonts/Arimo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6B7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6B7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0"/>
              <a:buFont typeface="Calibri"/>
              <a:buNone/>
              <a:defRPr sz="8000">
                <a:solidFill>
                  <a:srgbClr val="FEFEF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6B7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0"/>
              <a:buFont typeface="Calibri"/>
              <a:buNone/>
              <a:defRPr b="0" sz="8000">
                <a:solidFill>
                  <a:srgbClr val="FEFEF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8" name="Google Shape;48;p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1097278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rgbClr val="DEE0B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rgbClr val="DEE0B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rgbClr val="6B7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78" name="Google Shape;78;p10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6B7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3F3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B7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1D293"/>
              </a:buClr>
              <a:buSzPts val="7200"/>
              <a:buFont typeface="Calibri"/>
              <a:buNone/>
            </a:pPr>
            <a:r>
              <a:rPr b="1" lang="en-IN" sz="7200">
                <a:solidFill>
                  <a:srgbClr val="F1D293"/>
                </a:solidFill>
              </a:rPr>
              <a:t>D</a:t>
            </a:r>
            <a:r>
              <a:rPr b="1" lang="en-IN" sz="7200"/>
              <a:t>ocument </a:t>
            </a:r>
            <a:r>
              <a:rPr b="1" lang="en-IN" sz="7200">
                <a:solidFill>
                  <a:srgbClr val="F1D293"/>
                </a:solidFill>
              </a:rPr>
              <a:t>O</a:t>
            </a:r>
            <a:r>
              <a:rPr b="1" lang="en-IN" sz="7200"/>
              <a:t>bject </a:t>
            </a:r>
            <a:r>
              <a:rPr b="1" lang="en-IN" sz="7200">
                <a:solidFill>
                  <a:srgbClr val="F1D293"/>
                </a:solidFill>
              </a:rPr>
              <a:t>M</a:t>
            </a:r>
            <a:r>
              <a:rPr b="1" lang="en-IN" sz="7200"/>
              <a:t>odel</a:t>
            </a:r>
            <a:endParaRPr b="1" sz="7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/>
        </p:nvSpPr>
        <p:spPr>
          <a:xfrm>
            <a:off x="510988" y="1143000"/>
            <a:ext cx="61318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are me going to look at?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64776" y="2110316"/>
            <a:ext cx="6965577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is DOM and why do we need it?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does a DOM looks like?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is it made?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it is used?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 in modern frameworks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Modern DOM tools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jQuery vs Modern Approach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Why is DOM required?</a:t>
            </a:r>
            <a:endParaRPr sz="3600">
              <a:solidFill>
                <a:srgbClr val="FEFE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963705" y="1304364"/>
            <a:ext cx="4159624" cy="4572000"/>
          </a:xfrm>
          <a:prstGeom prst="roundRect">
            <a:avLst>
              <a:gd fmla="val 4059" name="adj"/>
            </a:avLst>
          </a:prstGeom>
          <a:solidFill>
            <a:schemeClr val="accent1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ML - Wikipedia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5621" y="1848318"/>
            <a:ext cx="1715060" cy="1715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SS Best Practices and Tips from CSS experts | Toptal®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1868" y="3724835"/>
            <a:ext cx="2142566" cy="214256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19311931" y="1277378"/>
            <a:ext cx="4159624" cy="4572000"/>
          </a:xfrm>
          <a:prstGeom prst="roundRect">
            <a:avLst>
              <a:gd fmla="val 4059" name="adj"/>
            </a:avLst>
          </a:prstGeom>
          <a:solidFill>
            <a:schemeClr val="accent1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ML/CSS/JavaScript Snippets - Visual Studio Marketplace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896318" y="2591828"/>
            <a:ext cx="299085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33143" y="1304364"/>
            <a:ext cx="5495152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HTML was designed simply to structure and display documents.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was no way for a programming language to interact with page.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you wanted to change you had to request a brand new HTML page from the server.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was slow and limited the user experience.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3224103" y="1304364"/>
            <a:ext cx="549515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DOM solved this problem by creating a </a:t>
            </a: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live, programmable model</a:t>
            </a: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of the HTML document in the browser's memory. It represents the page as a logical tree of objects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12430" y="8367252"/>
            <a:ext cx="54951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Wait, can only JS can do DOM manipulation?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No but all the DOM manipulations are either done 	</a:t>
            </a: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JS</a:t>
            </a: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though JS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Why is DOM required?</a:t>
            </a:r>
            <a:endParaRPr sz="3600">
              <a:solidFill>
                <a:srgbClr val="FEFE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-11247968" y="1304364"/>
            <a:ext cx="4159624" cy="4572000"/>
          </a:xfrm>
          <a:prstGeom prst="roundRect">
            <a:avLst>
              <a:gd fmla="val 4059" name="adj"/>
            </a:avLst>
          </a:prstGeom>
          <a:solidFill>
            <a:schemeClr val="accent1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ML - Wikipedia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036052" y="1848318"/>
            <a:ext cx="1715060" cy="1715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SS Best Practices and Tips from CSS experts | Toptal®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249805" y="3724835"/>
            <a:ext cx="2142566" cy="214256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7100258" y="1277378"/>
            <a:ext cx="4159624" cy="4572000"/>
          </a:xfrm>
          <a:prstGeom prst="roundRect">
            <a:avLst>
              <a:gd fmla="val 4059" name="adj"/>
            </a:avLst>
          </a:prstGeom>
          <a:solidFill>
            <a:schemeClr val="accent1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ML/CSS/JavaScript Snippets - Visual Studio Marketplace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4645" y="2591828"/>
            <a:ext cx="299085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-6478530" y="1304364"/>
            <a:ext cx="5495152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HTML was designed simply to structure and display documents.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was no way for a programming language to interact with page.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you wanted to change you had to request a brand new HTML page from the server.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was slow and limited the user experience.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1012430" y="1304364"/>
            <a:ext cx="549515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DOM solved this problem by creating a </a:t>
            </a: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live, programmable model</a:t>
            </a: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of the HTML document in the browser's memory. It represents the page as a logical tree of objects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12430" y="8367252"/>
            <a:ext cx="54951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Wait, can only JS can do DOM manipulation?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No but all the DOM manipulations are either done 	</a:t>
            </a: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JS</a:t>
            </a: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though JS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Why is DOM required?</a:t>
            </a:r>
            <a:endParaRPr sz="3600">
              <a:solidFill>
                <a:srgbClr val="FEFE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-11247968" y="1304364"/>
            <a:ext cx="4159624" cy="4572000"/>
          </a:xfrm>
          <a:prstGeom prst="roundRect">
            <a:avLst>
              <a:gd fmla="val 4059" name="adj"/>
            </a:avLst>
          </a:prstGeom>
          <a:solidFill>
            <a:schemeClr val="accent1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ML - Wikipedia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036052" y="1848318"/>
            <a:ext cx="1715060" cy="1715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SS Best Practices and Tips from CSS experts | Toptal®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249805" y="3724835"/>
            <a:ext cx="2142566" cy="214256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/>
          <p:nvPr/>
        </p:nvSpPr>
        <p:spPr>
          <a:xfrm>
            <a:off x="7100258" y="1277378"/>
            <a:ext cx="4159624" cy="4572000"/>
          </a:xfrm>
          <a:prstGeom prst="roundRect">
            <a:avLst>
              <a:gd fmla="val 4059" name="adj"/>
            </a:avLst>
          </a:prstGeom>
          <a:solidFill>
            <a:schemeClr val="accent1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ML/CSS/JavaScript Snippets - Visual Studio Marketplace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4645" y="2591828"/>
            <a:ext cx="299085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-6478530" y="1304364"/>
            <a:ext cx="5495152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HTML was designed simply to structure and display documents.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was no way for a programming language to interact with page.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you wanted to change you had to request a brand new HTML page from the server.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was slow and limited the user experience.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1012430" y="1304364"/>
            <a:ext cx="549515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DOM solved this problem by creating a </a:t>
            </a: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live, programmable model</a:t>
            </a: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of the HTML document in the browser's memory. It represents the page as a logical tree of objects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12430" y="4798141"/>
            <a:ext cx="54951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Wait, can only JS can do DOM manipulation?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No but all the DOM manipulations are either done 	</a:t>
            </a: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JS</a:t>
            </a: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though JS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idx="4294967295" type="title"/>
          </p:nvPr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/>
              <a:t>What is DOM?</a:t>
            </a:r>
            <a:endParaRPr sz="3600"/>
          </a:p>
        </p:txBody>
      </p:sp>
      <p:sp>
        <p:nvSpPr>
          <p:cNvPr id="151" name="Google Shape;151;p18"/>
          <p:cNvSpPr txBox="1"/>
          <p:nvPr/>
        </p:nvSpPr>
        <p:spPr>
          <a:xfrm>
            <a:off x="963705" y="1344706"/>
            <a:ext cx="1023769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>
                <a:solidFill>
                  <a:srgbClr val="EEF0FF"/>
                </a:solidFill>
                <a:latin typeface="Arial"/>
                <a:ea typeface="Arial"/>
                <a:cs typeface="Arial"/>
                <a:sym typeface="Arial"/>
              </a:rPr>
              <a:t>a programming interface, or an API, that represents the structure of an HTML or XML document as a tree of objects, allowing scripts and programs to dynamically access, update, and manipulate the content, structure, and style of the document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1088571" y="7600043"/>
            <a:ext cx="840377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DOM is NOT the source HTML - it's a live representation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Browser creates DOM when loading a page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JavaScript can read and modify the DOM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Changes to DOM immediately reflect in the browser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idx="4294967295" type="title"/>
          </p:nvPr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/>
              <a:t>What is DOM?</a:t>
            </a:r>
            <a:endParaRPr sz="3600"/>
          </a:p>
        </p:txBody>
      </p:sp>
      <p:sp>
        <p:nvSpPr>
          <p:cNvPr id="158" name="Google Shape;158;p19"/>
          <p:cNvSpPr txBox="1"/>
          <p:nvPr/>
        </p:nvSpPr>
        <p:spPr>
          <a:xfrm>
            <a:off x="963705" y="1344706"/>
            <a:ext cx="1023769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>
                <a:solidFill>
                  <a:srgbClr val="EEF0FF"/>
                </a:solidFill>
                <a:latin typeface="Arial"/>
                <a:ea typeface="Arial"/>
                <a:cs typeface="Arial"/>
                <a:sym typeface="Arial"/>
              </a:rPr>
              <a:t>a programming interface, or an API, that represents the structure of an HTML or XML document as a tree of objects, allowing scripts and programs to dynamically access, update, and manipulate the content, structure, and style of the document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1088571" y="3618593"/>
            <a:ext cx="840377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DOM is NOT the source HTML - it's a live representation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Browser creates DOM when loading a page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JavaScript can read and modify the DOM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Changes to DOM immediately reflect in the browser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What does a DOM looks like?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12855818" y="1385047"/>
            <a:ext cx="3778624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└── html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├── head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│   ├── title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│   └── meta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└── body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├── header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└── h1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├── 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├── 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└── div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    ├── span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    └── button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└── footer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963705" y="7083238"/>
            <a:ext cx="100584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 is a Tree like structure of the page which helps the programming language parse it</a:t>
            </a:r>
            <a:b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Tree Characteristics: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Each HTML element becomes a node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Hierarchical parent-child relationships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content also becomes nodes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Attributes are properties of element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169894" y="1290918"/>
            <a:ext cx="4755778" cy="4814047"/>
          </a:xfrm>
          <a:prstGeom prst="roundRect">
            <a:avLst>
              <a:gd fmla="val 3943" name="adj"/>
            </a:avLst>
          </a:prstGeom>
          <a:solidFill>
            <a:schemeClr val="accent1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358153" y="1479176"/>
            <a:ext cx="4410635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&lt;title&gt;MyPage&lt;/title&gt;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&lt;meta name="description" content="this is a example site" 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&lt;header&gt;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&lt;h1&gt;Heading&lt;/h1&gt;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&lt;/header&gt;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&lt;main&gt;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&lt;p&gt;paragraph&lt;/p&gt;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&lt;div&gt;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&lt;span&gt;some text&lt;/span&gt;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&lt;button&gt;click me&lt;/button&gt;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&lt;/div&gt;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&lt;/main&gt;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&lt;footer&gt;Footer&lt;/footer&gt;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What does a DOM looks like?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7078481" y="1385047"/>
            <a:ext cx="3778624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└── html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├── head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│   ├── title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│   └── meta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└── body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├── header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└── h1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├── 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├── 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└── div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    ├── span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    └── button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└── footer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963705" y="7083238"/>
            <a:ext cx="100584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 is a Tree like structure of the page which helps the programming language parse it</a:t>
            </a:r>
            <a:b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Tree Characteristics: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Each HTML element becomes a node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Hierarchical parent-child relationships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content also becomes nodes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Attributes are properties of element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1169894" y="1290918"/>
            <a:ext cx="4755778" cy="4814047"/>
          </a:xfrm>
          <a:prstGeom prst="roundRect">
            <a:avLst>
              <a:gd fmla="val 3943" name="adj"/>
            </a:avLst>
          </a:prstGeom>
          <a:solidFill>
            <a:schemeClr val="accent1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1358153" y="1479176"/>
            <a:ext cx="4410635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&lt;title&gt;MyPage&lt;/title&gt;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&lt;meta name="description" content="this is a example site" 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&lt;header&gt;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&lt;h1&gt;Heading&lt;/h1&gt;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&lt;/header&gt;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&lt;main&gt;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&lt;p&gt;paragraph&lt;/p&gt;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&lt;div&gt;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&lt;span&gt;some text&lt;/span&gt;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&lt;button&gt;click me&lt;/button&gt;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&lt;/div&gt;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&lt;/main&gt;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&lt;footer&gt;Footer&lt;/footer&gt;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What does a DOM looks like?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12855818" y="1385047"/>
            <a:ext cx="3778624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└── html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├── head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│   ├── title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│   └── meta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└── body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├── header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└── h1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├── 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├── 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└── div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    ├── span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│       └── button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└── footer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963705" y="1486013"/>
            <a:ext cx="100584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 is a Tree like structure of the page which helps the programming language parse it</a:t>
            </a:r>
            <a:b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Tree Characteristics: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Each HTML element becomes a node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Hierarchical parent-child relationships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content also becomes nodes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Attributes are properties of element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-5840491" y="1290918"/>
            <a:ext cx="4755778" cy="4814047"/>
          </a:xfrm>
          <a:prstGeom prst="roundRect">
            <a:avLst>
              <a:gd fmla="val 3943" name="adj"/>
            </a:avLst>
          </a:prstGeom>
          <a:solidFill>
            <a:schemeClr val="accent1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-5652232" y="1479176"/>
            <a:ext cx="4410635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&lt;title&gt;MyPage&lt;/title&gt;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&lt;meta name="description" content="this is a example site" /&gt;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&lt;header&gt;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&lt;h1&gt;Heading&lt;/h1&gt;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&lt;/header&gt;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&lt;main&gt;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&lt;p&gt;paragraph&lt;/p&gt;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&lt;div&gt;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&lt;span&gt;some text&lt;/span&gt;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&lt;button&gt;click me&lt;/button&gt;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&lt;/div&gt;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&lt;/main&gt;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&lt;footer&gt;Footer&lt;/footer&gt;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is it made?</a:t>
            </a:r>
            <a:endParaRPr/>
          </a:p>
        </p:txBody>
      </p:sp>
      <p:pic>
        <p:nvPicPr>
          <p:cNvPr id="192" name="Google Shape;1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914" y="1748185"/>
            <a:ext cx="11350171" cy="336163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 txBox="1"/>
          <p:nvPr/>
        </p:nvSpPr>
        <p:spPr>
          <a:xfrm>
            <a:off x="1129552" y="7442848"/>
            <a:ext cx="10327341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browser reads the raw HTML file (e.g., </a:t>
            </a:r>
            <a:r>
              <a:rPr i="0" lang="en-IN" sz="2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index.html</a:t>
            </a:r>
            <a:r>
              <a:rPr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converts the characters into tokens (like </a:t>
            </a:r>
            <a:r>
              <a:rPr i="0" lang="en-IN" sz="2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&lt;html&gt;</a:t>
            </a:r>
            <a:r>
              <a:rPr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n-IN" sz="2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&lt;head&gt;</a:t>
            </a:r>
            <a:r>
              <a:rPr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n-IN" sz="2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&lt;body&gt;</a:t>
            </a:r>
            <a:r>
              <a:rPr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These tokens are transformed into nodes.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Finally, these nodes are linked together in a parent-child tree structure called the DOM Tree.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1134467" y="12747348"/>
            <a:ext cx="10327341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Element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HTML tags: &lt;div&gt;, &lt;p&gt;, &lt;span&gt;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Most common type for manipulation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Text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Text content inside elements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Whitespace also creates text nodes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Attribute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Element attributes: id, class, src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Accessed as properties, not separate nodes in modern DOM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Other Node Types: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Comment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Document fragments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is it made?</a:t>
            </a:r>
            <a:endParaRPr/>
          </a:p>
        </p:txBody>
      </p:sp>
      <p:pic>
        <p:nvPicPr>
          <p:cNvPr id="200" name="Google Shape;2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914" y="-4033181"/>
            <a:ext cx="11350171" cy="336163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4"/>
          <p:cNvSpPr txBox="1"/>
          <p:nvPr/>
        </p:nvSpPr>
        <p:spPr>
          <a:xfrm>
            <a:off x="1129552" y="1661482"/>
            <a:ext cx="10327341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browser reads the raw HTML file (e.g., </a:t>
            </a:r>
            <a:r>
              <a:rPr i="0" lang="en-IN" sz="2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index.html</a:t>
            </a:r>
            <a:r>
              <a:rPr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converts the characters into tokens (like </a:t>
            </a:r>
            <a:r>
              <a:rPr i="0" lang="en-IN" sz="2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&lt;html&gt;</a:t>
            </a:r>
            <a:r>
              <a:rPr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n-IN" sz="2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&lt;head&gt;</a:t>
            </a:r>
            <a:r>
              <a:rPr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n-IN" sz="2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&lt;body&gt;</a:t>
            </a:r>
            <a:r>
              <a:rPr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These tokens are transformed into nodes.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Finally, these nodes are linked together in a parent-child tree structure called the DOM Tree.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1134467" y="6965982"/>
            <a:ext cx="10327341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Element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HTML tags: &lt;div&gt;, &lt;p&gt;, &lt;span&gt;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Most common type for manipulation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Text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Text content inside elements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Whitespace also creates text nodes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Attribute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Element attributes: id, class, src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Accessed as properties, not separate nodes in modern DOM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Other Node Types: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Comment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Document fragments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is it made?</a:t>
            </a:r>
            <a:endParaRPr/>
          </a:p>
        </p:txBody>
      </p:sp>
      <p:pic>
        <p:nvPicPr>
          <p:cNvPr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914" y="-9637579"/>
            <a:ext cx="11350171" cy="336163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5"/>
          <p:cNvSpPr txBox="1"/>
          <p:nvPr/>
        </p:nvSpPr>
        <p:spPr>
          <a:xfrm>
            <a:off x="1129552" y="-3942916"/>
            <a:ext cx="10327341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browser reads the raw HTML file (e.g., </a:t>
            </a:r>
            <a:r>
              <a:rPr i="0" lang="en-IN" sz="2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index.html</a:t>
            </a:r>
            <a:r>
              <a:rPr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converts the characters into tokens (like </a:t>
            </a:r>
            <a:r>
              <a:rPr i="0" lang="en-IN" sz="2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&lt;html&gt;</a:t>
            </a:r>
            <a:r>
              <a:rPr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n-IN" sz="2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&lt;head&gt;</a:t>
            </a:r>
            <a:r>
              <a:rPr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n-IN" sz="2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&lt;body&gt;</a:t>
            </a:r>
            <a:r>
              <a:rPr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These tokens are transformed into nodes.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i="0" lang="en-I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Finally, these nodes are linked together in a parent-child tree structure called the DOM Tree.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1134467" y="1361584"/>
            <a:ext cx="10327341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Element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HTML tags: &lt;div&gt;, &lt;p&gt;, &lt;span&gt;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Most common type for manipulation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Text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Text content inside elements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Whitespace also creates text nodes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Attribute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Element attributes: id, class, src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Accessed as properties, not separate nodes in modern DOM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Other Node Types: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Comment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Document fragments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/>
          <p:nvPr/>
        </p:nvSpPr>
        <p:spPr>
          <a:xfrm>
            <a:off x="2770094" y="2433918"/>
            <a:ext cx="6696635" cy="2438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it is used?</a:t>
            </a:r>
            <a:endParaRPr/>
          </a:p>
        </p:txBody>
      </p:sp>
      <p:sp>
        <p:nvSpPr>
          <p:cNvPr id="217" name="Google Shape;217;p26"/>
          <p:cNvSpPr txBox="1"/>
          <p:nvPr/>
        </p:nvSpPr>
        <p:spPr>
          <a:xfrm>
            <a:off x="1102659" y="1317625"/>
            <a:ext cx="10058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can think of interacting with the DOM like managing data in a database. </a:t>
            </a:r>
            <a:endParaRPr/>
          </a:p>
        </p:txBody>
      </p:sp>
      <p:pic>
        <p:nvPicPr>
          <p:cNvPr descr="Learn What is CRUD? | CRUD" id="218" name="Google Shape;2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5271" y="2303929"/>
            <a:ext cx="7191375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it is used?</a:t>
            </a:r>
            <a:endParaRPr/>
          </a:p>
        </p:txBody>
      </p:sp>
      <p:sp>
        <p:nvSpPr>
          <p:cNvPr id="224" name="Google Shape;224;p27"/>
          <p:cNvSpPr txBox="1"/>
          <p:nvPr/>
        </p:nvSpPr>
        <p:spPr>
          <a:xfrm>
            <a:off x="1089212" y="1277471"/>
            <a:ext cx="100584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Create: Adding New Elements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This involves creating a brand-new element from scratch and placing it on 	the page.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 the element: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document.createElement('tagName’). 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creates an element in memory, but it's not yet on the page.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content/attributes: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Set properties like .textContent, .className, or .id.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Append to the DOM: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a parent element on the page and use .append() or .appendChild() to attach your new element.</a:t>
            </a:r>
            <a:endParaRPr/>
          </a:p>
        </p:txBody>
      </p:sp>
      <p:sp>
        <p:nvSpPr>
          <p:cNvPr id="225" name="Google Shape;225;p27"/>
          <p:cNvSpPr/>
          <p:nvPr/>
        </p:nvSpPr>
        <p:spPr>
          <a:xfrm>
            <a:off x="15118960" y="1277471"/>
            <a:ext cx="8928847" cy="4787246"/>
          </a:xfrm>
          <a:prstGeom prst="roundRect">
            <a:avLst>
              <a:gd fmla="val 6555" name="adj"/>
            </a:avLst>
          </a:prstGeom>
          <a:solidFill>
            <a:schemeClr val="accent1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15361006" y="2016134"/>
            <a:ext cx="844475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userList = document.querySelector('#user-list');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newListItem = document.createElement('li');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newListItem.textContent = 'Charlie';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newListItem.className = 'user';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userList.append(newListItem);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it is used?</a:t>
            </a:r>
            <a:endParaRPr/>
          </a:p>
        </p:txBody>
      </p:sp>
      <p:sp>
        <p:nvSpPr>
          <p:cNvPr id="232" name="Google Shape;232;p28"/>
          <p:cNvSpPr txBox="1"/>
          <p:nvPr/>
        </p:nvSpPr>
        <p:spPr>
          <a:xfrm>
            <a:off x="-12294255" y="1277471"/>
            <a:ext cx="100584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Create: Adding New Elements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This involves creating a brand-new element from scratch and placing it on 	the page.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 the element: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document.createElement('tagName’). 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creates an element in memory, but it's not yet on the page.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content/attributes: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Set properties like .textContent, .className, or .id.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Append to the DOM: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a parent element on the page and use .append() or .appendChild() to attach your new element.</a:t>
            </a:r>
            <a:endParaRPr/>
          </a:p>
        </p:txBody>
      </p:sp>
      <p:sp>
        <p:nvSpPr>
          <p:cNvPr id="233" name="Google Shape;233;p28"/>
          <p:cNvSpPr/>
          <p:nvPr/>
        </p:nvSpPr>
        <p:spPr>
          <a:xfrm>
            <a:off x="1735493" y="1695450"/>
            <a:ext cx="8928847" cy="3676650"/>
          </a:xfrm>
          <a:prstGeom prst="roundRect">
            <a:avLst>
              <a:gd fmla="val 6555" name="adj"/>
            </a:avLst>
          </a:prstGeom>
          <a:solidFill>
            <a:srgbClr val="59675F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1977539" y="2016134"/>
            <a:ext cx="844475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 userList = document.querySelector('#user-list');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 newListItem = document.createElement('li');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newListItem.textContent = 'Charlie';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newListItem.className = 'user';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userList.append(newListItem);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it is used?</a:t>
            </a:r>
            <a:endParaRPr/>
          </a:p>
        </p:txBody>
      </p:sp>
      <p:sp>
        <p:nvSpPr>
          <p:cNvPr id="240" name="Google Shape;240;p29"/>
          <p:cNvSpPr txBox="1"/>
          <p:nvPr/>
        </p:nvSpPr>
        <p:spPr>
          <a:xfrm>
            <a:off x="963705" y="1949731"/>
            <a:ext cx="97760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But how did we select the parent?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963705" y="2514600"/>
            <a:ext cx="707315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 : selectors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963705" y="3079469"/>
            <a:ext cx="97760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are these selectors?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963705" y="3644338"/>
            <a:ext cx="895574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 : selectors are methods used in JavaScript to access and manipulate HTML elements within a web page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/>
          <p:nvPr/>
        </p:nvSpPr>
        <p:spPr>
          <a:xfrm>
            <a:off x="2042160" y="1882140"/>
            <a:ext cx="6553200" cy="381000"/>
          </a:xfrm>
          <a:prstGeom prst="roundRect">
            <a:avLst>
              <a:gd fmla="val 16667" name="adj"/>
            </a:avLst>
          </a:prstGeom>
          <a:solidFill>
            <a:srgbClr val="536158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2042160" y="2798441"/>
            <a:ext cx="7818120" cy="381000"/>
          </a:xfrm>
          <a:prstGeom prst="roundRect">
            <a:avLst>
              <a:gd fmla="val 16667" name="adj"/>
            </a:avLst>
          </a:prstGeom>
          <a:solidFill>
            <a:srgbClr val="536158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2042160" y="3714742"/>
            <a:ext cx="6301740" cy="381000"/>
          </a:xfrm>
          <a:prstGeom prst="roundRect">
            <a:avLst>
              <a:gd fmla="val 16667" name="adj"/>
            </a:avLst>
          </a:prstGeom>
          <a:solidFill>
            <a:srgbClr val="536158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2042160" y="4636809"/>
            <a:ext cx="6652260" cy="381000"/>
          </a:xfrm>
          <a:prstGeom prst="roundRect">
            <a:avLst>
              <a:gd fmla="val 16667" name="adj"/>
            </a:avLst>
          </a:prstGeom>
          <a:solidFill>
            <a:srgbClr val="536158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2042160" y="5553110"/>
            <a:ext cx="7559040" cy="381000"/>
          </a:xfrm>
          <a:prstGeom prst="roundRect">
            <a:avLst>
              <a:gd fmla="val 16667" name="adj"/>
            </a:avLst>
          </a:prstGeom>
          <a:solidFill>
            <a:srgbClr val="536158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1075765" y="1142907"/>
            <a:ext cx="9036423" cy="477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Selectors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AutoNum type="arabicPeriod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document.getElementById()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IN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myElement = document.getElementById('myUniqueId’);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15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AutoNum type="arabicPeriod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document.getElementsByClassName()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IN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let elementsByClass = document.getElementsByClassName('myClass’);</a:t>
            </a:r>
            <a:endParaRPr/>
          </a:p>
          <a:p>
            <a:pPr indent="-215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AutoNum type="arabicPeriod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document.getElementsByTagName()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let paragraphs = document.getElementsByTagName('p’);</a:t>
            </a:r>
            <a:endParaRPr/>
          </a:p>
          <a:p>
            <a:pPr indent="-215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AutoNum type="arabicPeriod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document.querySelector()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IN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let firstDiv = document.querySelector('div.container’);</a:t>
            </a:r>
            <a:endParaRPr/>
          </a:p>
          <a:p>
            <a:pPr indent="-215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AutoNum type="arabicPeriod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document.querySelectorAll()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IN" sz="16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let allButtons = document.querySelectorAll('button.action-btn');</a:t>
            </a:r>
            <a:endParaRPr b="0" i="0" sz="20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it is used?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/>
          <p:nvPr/>
        </p:nvSpPr>
        <p:spPr>
          <a:xfrm>
            <a:off x="963705" y="1739992"/>
            <a:ext cx="8928100" cy="4296561"/>
          </a:xfrm>
          <a:prstGeom prst="roundRect">
            <a:avLst>
              <a:gd fmla="val 5667" name="adj"/>
            </a:avLst>
          </a:prstGeom>
          <a:solidFill>
            <a:srgbClr val="59675F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1"/>
          <p:cNvSpPr txBox="1"/>
          <p:nvPr/>
        </p:nvSpPr>
        <p:spPr>
          <a:xfrm>
            <a:off x="1075765" y="1142907"/>
            <a:ext cx="994634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Some more Selectors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element.parentNode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element.children	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element.childNodes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element.firstChild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element.lastChild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element.firstElementChild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element.lastElementChild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element.nextSibling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element.previousSibling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element.nextElementSibling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element.previousElementSibling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it is used?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/>
          <p:nvPr/>
        </p:nvSpPr>
        <p:spPr>
          <a:xfrm>
            <a:off x="1473200" y="1841500"/>
            <a:ext cx="8051800" cy="876300"/>
          </a:xfrm>
          <a:prstGeom prst="roundRect">
            <a:avLst>
              <a:gd fmla="val 16667" name="adj"/>
            </a:avLst>
          </a:prstGeom>
          <a:solidFill>
            <a:srgbClr val="59675F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2"/>
          <p:cNvSpPr/>
          <p:nvPr/>
        </p:nvSpPr>
        <p:spPr>
          <a:xfrm>
            <a:off x="1473200" y="3129799"/>
            <a:ext cx="8686800" cy="828675"/>
          </a:xfrm>
          <a:prstGeom prst="roundRect">
            <a:avLst>
              <a:gd fmla="val 16667" name="adj"/>
            </a:avLst>
          </a:prstGeom>
          <a:solidFill>
            <a:srgbClr val="59675F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2"/>
          <p:cNvSpPr/>
          <p:nvPr/>
        </p:nvSpPr>
        <p:spPr>
          <a:xfrm>
            <a:off x="1473200" y="4251587"/>
            <a:ext cx="7899400" cy="876300"/>
          </a:xfrm>
          <a:prstGeom prst="roundRect">
            <a:avLst>
              <a:gd fmla="val 16667" name="adj"/>
            </a:avLst>
          </a:prstGeom>
          <a:solidFill>
            <a:srgbClr val="59675F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1075765" y="1142907"/>
            <a:ext cx="9338235" cy="427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AutoNum type="arabicPeriod" startAt="2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Updation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Content: 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Change the text with .textContent or the inner HTML with .innerHTML.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Styling: 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Modify CSS directly with the .style property (e.g., element.style.color = 'blue’).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Attributes: 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Change attributes like class or src using .className or .setAttribute().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2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it is used?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"/>
          <p:cNvSpPr/>
          <p:nvPr/>
        </p:nvSpPr>
        <p:spPr>
          <a:xfrm>
            <a:off x="1485900" y="1866900"/>
            <a:ext cx="8496300" cy="990600"/>
          </a:xfrm>
          <a:prstGeom prst="roundRect">
            <a:avLst>
              <a:gd fmla="val 16667" name="adj"/>
            </a:avLst>
          </a:prstGeom>
          <a:solidFill>
            <a:srgbClr val="59675F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1485900" y="3009900"/>
            <a:ext cx="8496300" cy="901700"/>
          </a:xfrm>
          <a:prstGeom prst="roundRect">
            <a:avLst>
              <a:gd fmla="val 16667" name="adj"/>
            </a:avLst>
          </a:prstGeom>
          <a:solidFill>
            <a:srgbClr val="59675F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1075765" y="1142907"/>
            <a:ext cx="933823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	Deletion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element.remove():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The modern and simplest way to delete a node from the DOM.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element.removeChild();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To remove a specified child node from its parent node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3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it is used?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/>
        </p:nvSpPr>
        <p:spPr>
          <a:xfrm>
            <a:off x="1422400" y="3200400"/>
            <a:ext cx="8191500" cy="828675"/>
          </a:xfrm>
          <a:prstGeom prst="roundRect">
            <a:avLst>
              <a:gd fmla="val 16667" name="adj"/>
            </a:avLst>
          </a:prstGeom>
          <a:solidFill>
            <a:srgbClr val="59675F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1075765" y="1142907"/>
            <a:ext cx="1015253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	Event Listeners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An </a:t>
            </a: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 listener</a:t>
            </a: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is a JavaScript function that waits for a specific event to 	happen on a target element and then runs a block of code in response.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targetElement.addEventListener('eventName', functionToRun);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4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it is used?</a:t>
            </a:r>
            <a:endParaRPr/>
          </a:p>
        </p:txBody>
      </p:sp>
      <p:sp>
        <p:nvSpPr>
          <p:cNvPr id="286" name="Google Shape;286;p34"/>
          <p:cNvSpPr txBox="1"/>
          <p:nvPr/>
        </p:nvSpPr>
        <p:spPr>
          <a:xfrm>
            <a:off x="1075765" y="7785007"/>
            <a:ext cx="994634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'click'</a:t>
            </a: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The user clicks the element.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'mouseover'</a:t>
            </a: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The user's mouse pointer moves over the element.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'mouseout'</a:t>
            </a: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The mouse pointer moves off the element.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'keydown'</a:t>
            </a: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The user presses a key on the keyboard.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'submit'</a:t>
            </a: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A form is submitted.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/>
          <p:nvPr/>
        </p:nvSpPr>
        <p:spPr>
          <a:xfrm>
            <a:off x="1422400" y="-3200400"/>
            <a:ext cx="8191500" cy="828675"/>
          </a:xfrm>
          <a:prstGeom prst="roundRect">
            <a:avLst>
              <a:gd fmla="val 16667" name="adj"/>
            </a:avLst>
          </a:prstGeom>
          <a:solidFill>
            <a:srgbClr val="59675F"/>
          </a:solidFill>
          <a:ln cap="flat" cmpd="sng" w="15875">
            <a:solidFill>
              <a:srgbClr val="6B76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5"/>
          <p:cNvSpPr txBox="1"/>
          <p:nvPr/>
        </p:nvSpPr>
        <p:spPr>
          <a:xfrm>
            <a:off x="1075765" y="-5124543"/>
            <a:ext cx="1015253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	Event Listeners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An </a:t>
            </a: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 listener</a:t>
            </a: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is a JavaScript function that waits for a specific event to 	happen on a target element and then runs a block of code in response.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targetElement.addEventListener('eventName', functionToRun);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5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How it is used?</a:t>
            </a:r>
            <a:endParaRPr/>
          </a:p>
        </p:txBody>
      </p:sp>
      <p:sp>
        <p:nvSpPr>
          <p:cNvPr id="294" name="Google Shape;294;p35"/>
          <p:cNvSpPr txBox="1"/>
          <p:nvPr/>
        </p:nvSpPr>
        <p:spPr>
          <a:xfrm>
            <a:off x="1075765" y="1517557"/>
            <a:ext cx="994634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'click'</a:t>
            </a: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The user clicks the element.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'mouseover'</a:t>
            </a: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The user's mouse pointer moves over the element.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'mouseout'</a:t>
            </a: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The mouse pointer moves off the element.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'keydown'</a:t>
            </a: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The user presses a key on the keyboard.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'submit'</a:t>
            </a: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A form is submitted.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DOM in modern frameworks</a:t>
            </a:r>
            <a:endParaRPr/>
          </a:p>
        </p:txBody>
      </p:sp>
      <p:pic>
        <p:nvPicPr>
          <p:cNvPr id="300" name="Google Shape;3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5461" y="1273877"/>
            <a:ext cx="7501077" cy="4669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Modern DOM tools</a:t>
            </a:r>
            <a:endParaRPr/>
          </a:p>
        </p:txBody>
      </p:sp>
      <p:sp>
        <p:nvSpPr>
          <p:cNvPr id="306" name="Google Shape;306;p37"/>
          <p:cNvSpPr txBox="1"/>
          <p:nvPr/>
        </p:nvSpPr>
        <p:spPr>
          <a:xfrm>
            <a:off x="1035424" y="1358153"/>
            <a:ext cx="9991164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Components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 components without any library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Shadow DOM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scoped DOM subtree attached to an element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Why? Provides true encapsulation for markup, styles, and behavior.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Intersection Observer API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Lets you watch when an element enters or leaves the viewport (or a parent container).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Why? Avoids expensive scroll event listeners with manual getBoundingClientRect() 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7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7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7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8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Modern DOM tools</a:t>
            </a:r>
            <a:endParaRPr/>
          </a:p>
        </p:txBody>
      </p:sp>
      <p:sp>
        <p:nvSpPr>
          <p:cNvPr id="315" name="Google Shape;315;p38"/>
          <p:cNvSpPr txBox="1"/>
          <p:nvPr/>
        </p:nvSpPr>
        <p:spPr>
          <a:xfrm>
            <a:off x="1035424" y="1358153"/>
            <a:ext cx="999116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Mutation Observer API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Listens for changes in the DOM tree (child add/remove, attribute change, text change).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Why: Replaces inefficient DOM polling (setInterval checks).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Modern CSS (CSS Grid, Flexbox) reducing need for JS manipulation </a:t>
            </a:r>
            <a:endParaRPr/>
          </a:p>
        </p:txBody>
      </p:sp>
      <p:sp>
        <p:nvSpPr>
          <p:cNvPr id="316" name="Google Shape;316;p38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8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alibri"/>
              <a:buNone/>
            </a:pPr>
            <a:r>
              <a:rPr lang="en-IN" sz="4400"/>
              <a:t>jQuery vs Modern Approach</a:t>
            </a:r>
            <a:br>
              <a:rPr lang="en-IN" sz="4400"/>
            </a:br>
            <a:endParaRPr sz="4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/>
          <p:nvPr/>
        </p:nvSpPr>
        <p:spPr>
          <a:xfrm>
            <a:off x="963705" y="314232"/>
            <a:ext cx="10058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alibri"/>
              <a:buNone/>
            </a:pPr>
            <a:r>
              <a:rPr lang="en-IN" sz="36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/>
          </a:p>
        </p:txBody>
      </p:sp>
      <p:sp>
        <p:nvSpPr>
          <p:cNvPr id="329" name="Google Shape;329;p40"/>
          <p:cNvSpPr txBox="1"/>
          <p:nvPr/>
        </p:nvSpPr>
        <p:spPr>
          <a:xfrm>
            <a:off x="1035424" y="1358153"/>
            <a:ext cx="9991164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Minimize DOM Queries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 DOM element access count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Document Fragments for Multiple Insertions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Intermediate fragment usage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 Delegation for Dynamic Content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 listener on parent instead of every child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Avoid Layout Thrashing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Changes in less steps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Debounce Expensive Operations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Avoid heavy task on little change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Memory Management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Clean-up functions</a:t>
            </a:r>
            <a:endParaRPr/>
          </a:p>
        </p:txBody>
      </p:sp>
      <p:sp>
        <p:nvSpPr>
          <p:cNvPr id="330" name="Google Shape;330;p40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0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0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0"/>
              <a:buFont typeface="Calibri"/>
              <a:buNone/>
            </a:pPr>
            <a:r>
              <a:rPr lang="en-I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